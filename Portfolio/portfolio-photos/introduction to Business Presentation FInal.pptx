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60" r:id="rId2"/>
    <p:sldId id="261" r:id="rId3"/>
    <p:sldId id="263" r:id="rId4"/>
    <p:sldId id="264" r:id="rId5"/>
    <p:sldId id="266" r:id="rId6"/>
    <p:sldId id="267" r:id="rId7"/>
    <p:sldId id="268" r:id="rId8"/>
    <p:sldId id="256" r:id="rId9"/>
    <p:sldId id="259" r:id="rId10"/>
    <p:sldId id="269" r:id="rId11"/>
    <p:sldId id="257" r:id="rId12"/>
    <p:sldId id="270" r:id="rId13"/>
    <p:sldId id="271" r:id="rId14"/>
    <p:sldId id="272" r:id="rId15"/>
    <p:sldId id="273" r:id="rId16"/>
    <p:sldId id="274" r:id="rId17"/>
    <p:sldId id="275" r:id="rId18"/>
    <p:sldId id="276" r:id="rId19"/>
    <p:sldId id="279" r:id="rId20"/>
    <p:sldId id="292" r:id="rId21"/>
    <p:sldId id="281" r:id="rId22"/>
    <p:sldId id="283" r:id="rId23"/>
    <p:sldId id="286" r:id="rId24"/>
    <p:sldId id="287" r:id="rId25"/>
    <p:sldId id="288" r:id="rId26"/>
    <p:sldId id="289" r:id="rId27"/>
    <p:sldId id="290" r:id="rId28"/>
    <p:sldId id="291" r:id="rId29"/>
    <p:sldId id="26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1B3A5"/>
    <a:srgbClr val="A9D18E"/>
    <a:srgbClr val="F4B183"/>
    <a:srgbClr val="FF3300"/>
    <a:srgbClr val="F6786E"/>
    <a:srgbClr val="B4C7E7"/>
    <a:srgbClr val="A7BBBE"/>
    <a:srgbClr val="FF7C80"/>
    <a:srgbClr val="FF00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2092" autoAdjust="0"/>
  </p:normalViewPr>
  <p:slideViewPr>
    <p:cSldViewPr snapToGrid="0">
      <p:cViewPr>
        <p:scale>
          <a:sx n="43" d="100"/>
          <a:sy n="43" d="100"/>
        </p:scale>
        <p:origin x="1452" y="600"/>
      </p:cViewPr>
      <p:guideLst/>
    </p:cSldViewPr>
  </p:slideViewPr>
  <p:notesTextViewPr>
    <p:cViewPr>
      <p:scale>
        <a:sx n="1" d="1"/>
        <a:sy n="1" d="1"/>
      </p:scale>
      <p:origin x="0" y="0"/>
    </p:cViewPr>
  </p:notesText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5DD8DC-38C3-4360-A84F-031433812C80}" type="datetimeFigureOut">
              <a:rPr lang="en-US" smtClean="0"/>
              <a:t>6/26/2026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873B7C-6002-4F6A-B941-E5E20542AE39}" type="slidenum">
              <a:rPr lang="en-US" smtClean="0"/>
              <a:t>‹#›</a:t>
            </a:fld>
            <a:endParaRPr lang="en-US"/>
          </a:p>
        </p:txBody>
      </p:sp>
    </p:spTree>
    <p:extLst>
      <p:ext uri="{BB962C8B-B14F-4D97-AF65-F5344CB8AC3E}">
        <p14:creationId xmlns:p14="http://schemas.microsoft.com/office/powerpoint/2010/main" val="802956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873B7C-6002-4F6A-B941-E5E20542AE39}" type="slidenum">
              <a:rPr lang="en-US" smtClean="0"/>
              <a:t>8</a:t>
            </a:fld>
            <a:endParaRPr lang="en-US"/>
          </a:p>
        </p:txBody>
      </p:sp>
    </p:spTree>
    <p:extLst>
      <p:ext uri="{BB962C8B-B14F-4D97-AF65-F5344CB8AC3E}">
        <p14:creationId xmlns:p14="http://schemas.microsoft.com/office/powerpoint/2010/main" val="2611463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79037-5FAA-5310-DC51-FCD3B558EC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01ACC-BF71-8376-F5CD-91092FDB9E3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554E819-8EA1-99EB-BC66-AD74AC56F4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E25C18-6198-3795-BAB8-72D8D34D87F8}"/>
              </a:ext>
            </a:extLst>
          </p:cNvPr>
          <p:cNvSpPr>
            <a:spLocks noGrp="1"/>
          </p:cNvSpPr>
          <p:nvPr>
            <p:ph type="sldNum" sz="quarter" idx="5"/>
          </p:nvPr>
        </p:nvSpPr>
        <p:spPr/>
        <p:txBody>
          <a:bodyPr/>
          <a:lstStyle/>
          <a:p>
            <a:fld id="{CC873B7C-6002-4F6A-B941-E5E20542AE39}" type="slidenum">
              <a:rPr lang="en-US" smtClean="0"/>
              <a:t>9</a:t>
            </a:fld>
            <a:endParaRPr lang="en-US"/>
          </a:p>
        </p:txBody>
      </p:sp>
    </p:spTree>
    <p:extLst>
      <p:ext uri="{BB962C8B-B14F-4D97-AF65-F5344CB8AC3E}">
        <p14:creationId xmlns:p14="http://schemas.microsoft.com/office/powerpoint/2010/main" val="424492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C6B79-E200-8B4F-0D47-60A911C4B9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C19A8A-26AE-6113-86C7-18FB6755C5B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3243714-46FC-5882-2923-F4D62F6F7D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33E478-A68A-5260-EFD8-7B816717FE98}"/>
              </a:ext>
            </a:extLst>
          </p:cNvPr>
          <p:cNvSpPr>
            <a:spLocks noGrp="1"/>
          </p:cNvSpPr>
          <p:nvPr>
            <p:ph type="sldNum" sz="quarter" idx="5"/>
          </p:nvPr>
        </p:nvSpPr>
        <p:spPr/>
        <p:txBody>
          <a:bodyPr/>
          <a:lstStyle/>
          <a:p>
            <a:fld id="{CC873B7C-6002-4F6A-B941-E5E20542AE39}" type="slidenum">
              <a:rPr lang="en-US" smtClean="0"/>
              <a:t>11</a:t>
            </a:fld>
            <a:endParaRPr lang="en-US"/>
          </a:p>
        </p:txBody>
      </p:sp>
    </p:spTree>
    <p:extLst>
      <p:ext uri="{BB962C8B-B14F-4D97-AF65-F5344CB8AC3E}">
        <p14:creationId xmlns:p14="http://schemas.microsoft.com/office/powerpoint/2010/main" val="118880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61C7C-302A-DC08-EBB5-F3B589A1D9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5765EC-30AD-66C5-33CC-9576DC4B6FB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2E670C0-56A4-AE27-2C64-B9BF9FCFD2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919292-FAF6-28FE-13DF-4CF2B595B87A}"/>
              </a:ext>
            </a:extLst>
          </p:cNvPr>
          <p:cNvSpPr>
            <a:spLocks noGrp="1"/>
          </p:cNvSpPr>
          <p:nvPr>
            <p:ph type="sldNum" sz="quarter" idx="5"/>
          </p:nvPr>
        </p:nvSpPr>
        <p:spPr/>
        <p:txBody>
          <a:bodyPr/>
          <a:lstStyle/>
          <a:p>
            <a:fld id="{CC873B7C-6002-4F6A-B941-E5E20542AE39}" type="slidenum">
              <a:rPr lang="en-US" smtClean="0"/>
              <a:t>12</a:t>
            </a:fld>
            <a:endParaRPr lang="en-US"/>
          </a:p>
        </p:txBody>
      </p:sp>
    </p:spTree>
    <p:extLst>
      <p:ext uri="{BB962C8B-B14F-4D97-AF65-F5344CB8AC3E}">
        <p14:creationId xmlns:p14="http://schemas.microsoft.com/office/powerpoint/2010/main" val="154489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C8F03-71F3-2CA3-9E2F-2DAC846A96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DDA8B5-E2B4-F559-A6BD-A45C12E4763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14BD984-CAF5-0496-F113-0D8CB76729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338F7B-3C50-128B-E309-367A723F30B4}"/>
              </a:ext>
            </a:extLst>
          </p:cNvPr>
          <p:cNvSpPr>
            <a:spLocks noGrp="1"/>
          </p:cNvSpPr>
          <p:nvPr>
            <p:ph type="sldNum" sz="quarter" idx="5"/>
          </p:nvPr>
        </p:nvSpPr>
        <p:spPr/>
        <p:txBody>
          <a:bodyPr/>
          <a:lstStyle/>
          <a:p>
            <a:fld id="{CC873B7C-6002-4F6A-B941-E5E20542AE39}" type="slidenum">
              <a:rPr lang="en-US" smtClean="0"/>
              <a:t>13</a:t>
            </a:fld>
            <a:endParaRPr lang="en-US"/>
          </a:p>
        </p:txBody>
      </p:sp>
    </p:spTree>
    <p:extLst>
      <p:ext uri="{BB962C8B-B14F-4D97-AF65-F5344CB8AC3E}">
        <p14:creationId xmlns:p14="http://schemas.microsoft.com/office/powerpoint/2010/main" val="2109321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DEC20-30D7-9FAF-F0E4-03F3B23E1C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8F24C7-1E34-EBE7-E60F-0D3389B7C30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8AC8FD7-AAC9-0A9E-E96A-EA4719BF06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C51DDB-BFA3-870C-EDA1-914FF11D5E4A}"/>
              </a:ext>
            </a:extLst>
          </p:cNvPr>
          <p:cNvSpPr>
            <a:spLocks noGrp="1"/>
          </p:cNvSpPr>
          <p:nvPr>
            <p:ph type="sldNum" sz="quarter" idx="5"/>
          </p:nvPr>
        </p:nvSpPr>
        <p:spPr/>
        <p:txBody>
          <a:bodyPr/>
          <a:lstStyle/>
          <a:p>
            <a:fld id="{CC873B7C-6002-4F6A-B941-E5E20542AE39}" type="slidenum">
              <a:rPr lang="en-US" smtClean="0"/>
              <a:t>14</a:t>
            </a:fld>
            <a:endParaRPr lang="en-US"/>
          </a:p>
        </p:txBody>
      </p:sp>
    </p:spTree>
    <p:extLst>
      <p:ext uri="{BB962C8B-B14F-4D97-AF65-F5344CB8AC3E}">
        <p14:creationId xmlns:p14="http://schemas.microsoft.com/office/powerpoint/2010/main" val="2749301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29B77-E6D8-DE2D-1D6D-954D28E278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590D8F-AD14-F797-52EA-4B87E9AF49F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89A039B-C3C2-9994-0729-B9BE8F5902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2B3EAF-E044-BE8D-6304-927020E30276}"/>
              </a:ext>
            </a:extLst>
          </p:cNvPr>
          <p:cNvSpPr>
            <a:spLocks noGrp="1"/>
          </p:cNvSpPr>
          <p:nvPr>
            <p:ph type="sldNum" sz="quarter" idx="5"/>
          </p:nvPr>
        </p:nvSpPr>
        <p:spPr/>
        <p:txBody>
          <a:bodyPr/>
          <a:lstStyle/>
          <a:p>
            <a:fld id="{CC873B7C-6002-4F6A-B941-E5E20542AE39}" type="slidenum">
              <a:rPr lang="en-US" smtClean="0"/>
              <a:t>15</a:t>
            </a:fld>
            <a:endParaRPr lang="en-US"/>
          </a:p>
        </p:txBody>
      </p:sp>
    </p:spTree>
    <p:extLst>
      <p:ext uri="{BB962C8B-B14F-4D97-AF65-F5344CB8AC3E}">
        <p14:creationId xmlns:p14="http://schemas.microsoft.com/office/powerpoint/2010/main" val="3054662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3D58B-47D3-3C23-B298-3A863ECA95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7B5C96-DAD3-36A9-4B68-20A10DAC9ED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E570E28-F949-FF41-4770-202AEC7A7B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8B7D57-9E38-99AA-C083-CB90B9D48247}"/>
              </a:ext>
            </a:extLst>
          </p:cNvPr>
          <p:cNvSpPr>
            <a:spLocks noGrp="1"/>
          </p:cNvSpPr>
          <p:nvPr>
            <p:ph type="sldNum" sz="quarter" idx="5"/>
          </p:nvPr>
        </p:nvSpPr>
        <p:spPr/>
        <p:txBody>
          <a:bodyPr/>
          <a:lstStyle/>
          <a:p>
            <a:fld id="{CC873B7C-6002-4F6A-B941-E5E20542AE39}" type="slidenum">
              <a:rPr lang="en-US" smtClean="0"/>
              <a:t>16</a:t>
            </a:fld>
            <a:endParaRPr lang="en-US"/>
          </a:p>
        </p:txBody>
      </p:sp>
    </p:spTree>
    <p:extLst>
      <p:ext uri="{BB962C8B-B14F-4D97-AF65-F5344CB8AC3E}">
        <p14:creationId xmlns:p14="http://schemas.microsoft.com/office/powerpoint/2010/main" val="17354575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873B7C-6002-4F6A-B941-E5E20542AE39}" type="slidenum">
              <a:rPr lang="en-US" smtClean="0"/>
              <a:t>18</a:t>
            </a:fld>
            <a:endParaRPr lang="en-US"/>
          </a:p>
        </p:txBody>
      </p:sp>
    </p:spTree>
    <p:extLst>
      <p:ext uri="{BB962C8B-B14F-4D97-AF65-F5344CB8AC3E}">
        <p14:creationId xmlns:p14="http://schemas.microsoft.com/office/powerpoint/2010/main" val="656061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E44F4-7C25-985A-3DFC-C214245280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1CAD8-C657-3BCE-C011-5998BC968CF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FB40431-2BDA-C471-DD8F-4D7DF1E73D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7D0F71-D2A1-4618-3ED7-616FD6774BC8}"/>
              </a:ext>
            </a:extLst>
          </p:cNvPr>
          <p:cNvSpPr>
            <a:spLocks noGrp="1"/>
          </p:cNvSpPr>
          <p:nvPr>
            <p:ph type="sldNum" sz="quarter" idx="5"/>
          </p:nvPr>
        </p:nvSpPr>
        <p:spPr/>
        <p:txBody>
          <a:bodyPr/>
          <a:lstStyle/>
          <a:p>
            <a:fld id="{CC873B7C-6002-4F6A-B941-E5E20542AE39}" type="slidenum">
              <a:rPr lang="en-US" smtClean="0"/>
              <a:t>19</a:t>
            </a:fld>
            <a:endParaRPr lang="en-US"/>
          </a:p>
        </p:txBody>
      </p:sp>
    </p:spTree>
    <p:extLst>
      <p:ext uri="{BB962C8B-B14F-4D97-AF65-F5344CB8AC3E}">
        <p14:creationId xmlns:p14="http://schemas.microsoft.com/office/powerpoint/2010/main" val="917175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A1648-7C3D-271B-C164-2A1A24811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BF2B4-2037-8645-9108-E24CC5787BC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508D825-0D41-705A-4E0A-F66AC4C82A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1526EB-ED95-E6FF-D23C-2E3C88F38768}"/>
              </a:ext>
            </a:extLst>
          </p:cNvPr>
          <p:cNvSpPr>
            <a:spLocks noGrp="1"/>
          </p:cNvSpPr>
          <p:nvPr>
            <p:ph type="sldNum" sz="quarter" idx="5"/>
          </p:nvPr>
        </p:nvSpPr>
        <p:spPr/>
        <p:txBody>
          <a:bodyPr/>
          <a:lstStyle/>
          <a:p>
            <a:fld id="{CC873B7C-6002-4F6A-B941-E5E20542AE39}" type="slidenum">
              <a:rPr lang="en-US" smtClean="0"/>
              <a:t>20</a:t>
            </a:fld>
            <a:endParaRPr lang="en-US"/>
          </a:p>
        </p:txBody>
      </p:sp>
    </p:spTree>
    <p:extLst>
      <p:ext uri="{BB962C8B-B14F-4D97-AF65-F5344CB8AC3E}">
        <p14:creationId xmlns:p14="http://schemas.microsoft.com/office/powerpoint/2010/main" val="41156838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0616C-190F-9D8A-C2D3-535404BFEC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513667-ADB0-FF13-39F8-A6370AEDCE2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CB3BCB4-10D1-7C8A-28BC-7C9E131B38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1730BF-7AA9-C0C3-836F-FA7D06D467F7}"/>
              </a:ext>
            </a:extLst>
          </p:cNvPr>
          <p:cNvSpPr>
            <a:spLocks noGrp="1"/>
          </p:cNvSpPr>
          <p:nvPr>
            <p:ph type="sldNum" sz="quarter" idx="5"/>
          </p:nvPr>
        </p:nvSpPr>
        <p:spPr/>
        <p:txBody>
          <a:bodyPr/>
          <a:lstStyle/>
          <a:p>
            <a:fld id="{CC873B7C-6002-4F6A-B941-E5E20542AE39}" type="slidenum">
              <a:rPr lang="en-US" smtClean="0"/>
              <a:t>21</a:t>
            </a:fld>
            <a:endParaRPr lang="en-US"/>
          </a:p>
        </p:txBody>
      </p:sp>
    </p:spTree>
    <p:extLst>
      <p:ext uri="{BB962C8B-B14F-4D97-AF65-F5344CB8AC3E}">
        <p14:creationId xmlns:p14="http://schemas.microsoft.com/office/powerpoint/2010/main" val="41681388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"Responsible AI is the bridge between technological power and business ethics. It proves that AI isn't here to replace the human conscience, but to be guided by it. By implementing these five pillars, a business ensures that its future is not just automated, but sustainable and trustworthy.</a:t>
            </a:r>
          </a:p>
        </p:txBody>
      </p:sp>
      <p:sp>
        <p:nvSpPr>
          <p:cNvPr id="4" name="Slide Number Placeholder 3"/>
          <p:cNvSpPr>
            <a:spLocks noGrp="1"/>
          </p:cNvSpPr>
          <p:nvPr>
            <p:ph type="sldNum" sz="quarter" idx="5"/>
          </p:nvPr>
        </p:nvSpPr>
        <p:spPr/>
        <p:txBody>
          <a:bodyPr/>
          <a:lstStyle/>
          <a:p>
            <a:fld id="{CC873B7C-6002-4F6A-B941-E5E20542AE39}" type="slidenum">
              <a:rPr lang="en-US" smtClean="0"/>
              <a:t>23</a:t>
            </a:fld>
            <a:endParaRPr lang="en-US"/>
          </a:p>
        </p:txBody>
      </p:sp>
    </p:spTree>
    <p:extLst>
      <p:ext uri="{BB962C8B-B14F-4D97-AF65-F5344CB8AC3E}">
        <p14:creationId xmlns:p14="http://schemas.microsoft.com/office/powerpoint/2010/main" val="33753979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9E1DE-9848-210D-2A05-927C2CB72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95EF4-78E5-005D-8AE1-D39B7DCD762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27B9761-7730-5874-3289-A14972C02640}"/>
              </a:ext>
            </a:extLst>
          </p:cNvPr>
          <p:cNvSpPr>
            <a:spLocks noGrp="1"/>
          </p:cNvSpPr>
          <p:nvPr>
            <p:ph type="body" idx="1"/>
          </p:nvPr>
        </p:nvSpPr>
        <p:spPr/>
        <p:txBody>
          <a:bodyPr/>
          <a:lstStyle/>
          <a:p>
            <a:r>
              <a:rPr lang="en-US" dirty="0"/>
              <a:t>"Responsible AI is the bridge between technological power and business ethics. It proves that AI isn't here to replace the human conscience, but to be guided by it. By implementing these five pillars, a business ensures that its future is not just automated, but sustainable and trustworthy.</a:t>
            </a:r>
          </a:p>
        </p:txBody>
      </p:sp>
      <p:sp>
        <p:nvSpPr>
          <p:cNvPr id="4" name="Slide Number Placeholder 3">
            <a:extLst>
              <a:ext uri="{FF2B5EF4-FFF2-40B4-BE49-F238E27FC236}">
                <a16:creationId xmlns:a16="http://schemas.microsoft.com/office/drawing/2014/main" id="{112C7601-2087-6198-15B0-B9D87F7F51FA}"/>
              </a:ext>
            </a:extLst>
          </p:cNvPr>
          <p:cNvSpPr>
            <a:spLocks noGrp="1"/>
          </p:cNvSpPr>
          <p:nvPr>
            <p:ph type="sldNum" sz="quarter" idx="5"/>
          </p:nvPr>
        </p:nvSpPr>
        <p:spPr/>
        <p:txBody>
          <a:bodyPr/>
          <a:lstStyle/>
          <a:p>
            <a:fld id="{CC873B7C-6002-4F6A-B941-E5E20542AE39}" type="slidenum">
              <a:rPr lang="en-US" smtClean="0"/>
              <a:t>24</a:t>
            </a:fld>
            <a:endParaRPr lang="en-US"/>
          </a:p>
        </p:txBody>
      </p:sp>
    </p:spTree>
    <p:extLst>
      <p:ext uri="{BB962C8B-B14F-4D97-AF65-F5344CB8AC3E}">
        <p14:creationId xmlns:p14="http://schemas.microsoft.com/office/powerpoint/2010/main" val="19239812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4A9F2-789E-36B8-2120-258079C19B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A27056-1B4D-BDB5-9DC0-B14988ACC66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B11F77-7B20-1E9E-9A17-87CD3192C0A1}"/>
              </a:ext>
            </a:extLst>
          </p:cNvPr>
          <p:cNvSpPr>
            <a:spLocks noGrp="1"/>
          </p:cNvSpPr>
          <p:nvPr>
            <p:ph type="body" idx="1"/>
          </p:nvPr>
        </p:nvSpPr>
        <p:spPr/>
        <p:txBody>
          <a:bodyPr/>
          <a:lstStyle/>
          <a:p>
            <a:r>
              <a:rPr lang="en-US" dirty="0"/>
              <a:t>"Responsible AI is the bridge between technological power and business ethics. It proves that AI isn't here to replace the human conscience, but to be guided by it. By implementing these five pillars, a business ensures that its future is not just automated, but sustainable and trustworthy.</a:t>
            </a:r>
          </a:p>
        </p:txBody>
      </p:sp>
      <p:sp>
        <p:nvSpPr>
          <p:cNvPr id="4" name="Slide Number Placeholder 3">
            <a:extLst>
              <a:ext uri="{FF2B5EF4-FFF2-40B4-BE49-F238E27FC236}">
                <a16:creationId xmlns:a16="http://schemas.microsoft.com/office/drawing/2014/main" id="{67390956-6545-94E4-4A4E-7D69806E540D}"/>
              </a:ext>
            </a:extLst>
          </p:cNvPr>
          <p:cNvSpPr>
            <a:spLocks noGrp="1"/>
          </p:cNvSpPr>
          <p:nvPr>
            <p:ph type="sldNum" sz="quarter" idx="5"/>
          </p:nvPr>
        </p:nvSpPr>
        <p:spPr/>
        <p:txBody>
          <a:bodyPr/>
          <a:lstStyle/>
          <a:p>
            <a:fld id="{CC873B7C-6002-4F6A-B941-E5E20542AE39}" type="slidenum">
              <a:rPr lang="en-US" smtClean="0"/>
              <a:t>25</a:t>
            </a:fld>
            <a:endParaRPr lang="en-US"/>
          </a:p>
        </p:txBody>
      </p:sp>
    </p:spTree>
    <p:extLst>
      <p:ext uri="{BB962C8B-B14F-4D97-AF65-F5344CB8AC3E}">
        <p14:creationId xmlns:p14="http://schemas.microsoft.com/office/powerpoint/2010/main" val="1320933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7B6F3-F25C-97A9-90ED-8F686F3C48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DD0368-3476-78FB-F890-8879A0D49D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A525273-1BEE-1BB8-354A-81B304B9734D}"/>
              </a:ext>
            </a:extLst>
          </p:cNvPr>
          <p:cNvSpPr>
            <a:spLocks noGrp="1"/>
          </p:cNvSpPr>
          <p:nvPr>
            <p:ph type="dt" sz="half" idx="10"/>
          </p:nvPr>
        </p:nvSpPr>
        <p:spPr/>
        <p:txBody>
          <a:bodyPr/>
          <a:lstStyle/>
          <a:p>
            <a:fld id="{247EF31C-1E07-41B8-B746-BF9E95783CB0}" type="datetimeFigureOut">
              <a:rPr lang="en-US" smtClean="0"/>
              <a:t>6/26/2026</a:t>
            </a:fld>
            <a:endParaRPr lang="en-US"/>
          </a:p>
        </p:txBody>
      </p:sp>
      <p:sp>
        <p:nvSpPr>
          <p:cNvPr id="5" name="Footer Placeholder 4">
            <a:extLst>
              <a:ext uri="{FF2B5EF4-FFF2-40B4-BE49-F238E27FC236}">
                <a16:creationId xmlns:a16="http://schemas.microsoft.com/office/drawing/2014/main" id="{95626EE7-9101-C94E-04AC-2341F19883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6B60CF-926B-9F12-09AF-FCA63D9FEA23}"/>
              </a:ext>
            </a:extLst>
          </p:cNvPr>
          <p:cNvSpPr>
            <a:spLocks noGrp="1"/>
          </p:cNvSpPr>
          <p:nvPr>
            <p:ph type="sldNum" sz="quarter" idx="12"/>
          </p:nvPr>
        </p:nvSpPr>
        <p:spPr/>
        <p:txBody>
          <a:bodyPr/>
          <a:lstStyle/>
          <a:p>
            <a:fld id="{46033B00-133B-48F4-B6DC-CCBB1471645B}" type="slidenum">
              <a:rPr lang="en-US" smtClean="0"/>
              <a:t>‹#›</a:t>
            </a:fld>
            <a:endParaRPr lang="en-US"/>
          </a:p>
        </p:txBody>
      </p:sp>
    </p:spTree>
    <p:extLst>
      <p:ext uri="{BB962C8B-B14F-4D97-AF65-F5344CB8AC3E}">
        <p14:creationId xmlns:p14="http://schemas.microsoft.com/office/powerpoint/2010/main" val="2114081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98321-2CC3-64A2-A079-4A986E580D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BF3F7D-ABFA-E502-2AED-A249FE0B07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145646-C4B2-D001-19DE-0948608817D5}"/>
              </a:ext>
            </a:extLst>
          </p:cNvPr>
          <p:cNvSpPr>
            <a:spLocks noGrp="1"/>
          </p:cNvSpPr>
          <p:nvPr>
            <p:ph type="dt" sz="half" idx="10"/>
          </p:nvPr>
        </p:nvSpPr>
        <p:spPr/>
        <p:txBody>
          <a:bodyPr/>
          <a:lstStyle/>
          <a:p>
            <a:fld id="{247EF31C-1E07-41B8-B746-BF9E95783CB0}" type="datetimeFigureOut">
              <a:rPr lang="en-US" smtClean="0"/>
              <a:t>6/26/2026</a:t>
            </a:fld>
            <a:endParaRPr lang="en-US"/>
          </a:p>
        </p:txBody>
      </p:sp>
      <p:sp>
        <p:nvSpPr>
          <p:cNvPr id="5" name="Footer Placeholder 4">
            <a:extLst>
              <a:ext uri="{FF2B5EF4-FFF2-40B4-BE49-F238E27FC236}">
                <a16:creationId xmlns:a16="http://schemas.microsoft.com/office/drawing/2014/main" id="{52DAF44A-6B33-E7C5-629D-3248AE18A3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2BB57D-E338-40B4-0760-215E8AF1D200}"/>
              </a:ext>
            </a:extLst>
          </p:cNvPr>
          <p:cNvSpPr>
            <a:spLocks noGrp="1"/>
          </p:cNvSpPr>
          <p:nvPr>
            <p:ph type="sldNum" sz="quarter" idx="12"/>
          </p:nvPr>
        </p:nvSpPr>
        <p:spPr/>
        <p:txBody>
          <a:bodyPr/>
          <a:lstStyle/>
          <a:p>
            <a:fld id="{46033B00-133B-48F4-B6DC-CCBB1471645B}" type="slidenum">
              <a:rPr lang="en-US" smtClean="0"/>
              <a:t>‹#›</a:t>
            </a:fld>
            <a:endParaRPr lang="en-US"/>
          </a:p>
        </p:txBody>
      </p:sp>
    </p:spTree>
    <p:extLst>
      <p:ext uri="{BB962C8B-B14F-4D97-AF65-F5344CB8AC3E}">
        <p14:creationId xmlns:p14="http://schemas.microsoft.com/office/powerpoint/2010/main" val="1248035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206C7-1314-47F3-1788-D4AD76F95F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7F3738-8F0B-099A-6B2F-78897ACFDC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A33CA1-40DB-9DE5-356E-785739644AB4}"/>
              </a:ext>
            </a:extLst>
          </p:cNvPr>
          <p:cNvSpPr>
            <a:spLocks noGrp="1"/>
          </p:cNvSpPr>
          <p:nvPr>
            <p:ph type="dt" sz="half" idx="10"/>
          </p:nvPr>
        </p:nvSpPr>
        <p:spPr/>
        <p:txBody>
          <a:bodyPr/>
          <a:lstStyle/>
          <a:p>
            <a:fld id="{247EF31C-1E07-41B8-B746-BF9E95783CB0}" type="datetimeFigureOut">
              <a:rPr lang="en-US" smtClean="0"/>
              <a:t>6/26/2026</a:t>
            </a:fld>
            <a:endParaRPr lang="en-US"/>
          </a:p>
        </p:txBody>
      </p:sp>
      <p:sp>
        <p:nvSpPr>
          <p:cNvPr id="5" name="Footer Placeholder 4">
            <a:extLst>
              <a:ext uri="{FF2B5EF4-FFF2-40B4-BE49-F238E27FC236}">
                <a16:creationId xmlns:a16="http://schemas.microsoft.com/office/drawing/2014/main" id="{542DE74E-FE22-6FE1-9347-E3A0E8D7A8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25E9F1-625D-143C-6071-CBB187D6B925}"/>
              </a:ext>
            </a:extLst>
          </p:cNvPr>
          <p:cNvSpPr>
            <a:spLocks noGrp="1"/>
          </p:cNvSpPr>
          <p:nvPr>
            <p:ph type="sldNum" sz="quarter" idx="12"/>
          </p:nvPr>
        </p:nvSpPr>
        <p:spPr/>
        <p:txBody>
          <a:bodyPr/>
          <a:lstStyle/>
          <a:p>
            <a:fld id="{46033B00-133B-48F4-B6DC-CCBB1471645B}" type="slidenum">
              <a:rPr lang="en-US" smtClean="0"/>
              <a:t>‹#›</a:t>
            </a:fld>
            <a:endParaRPr lang="en-US"/>
          </a:p>
        </p:txBody>
      </p:sp>
    </p:spTree>
    <p:extLst>
      <p:ext uri="{BB962C8B-B14F-4D97-AF65-F5344CB8AC3E}">
        <p14:creationId xmlns:p14="http://schemas.microsoft.com/office/powerpoint/2010/main" val="119534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65FB1-0514-2243-977C-B1AF44C8FF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3E5753-15AE-B30D-41C0-55AA4DB5BA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615F7CD-A3B4-2EE6-C8C2-B4AED206D7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90CA91-CDBF-A92B-80EB-1027B0BA9194}"/>
              </a:ext>
            </a:extLst>
          </p:cNvPr>
          <p:cNvSpPr>
            <a:spLocks noGrp="1"/>
          </p:cNvSpPr>
          <p:nvPr>
            <p:ph type="dt" sz="half" idx="10"/>
          </p:nvPr>
        </p:nvSpPr>
        <p:spPr/>
        <p:txBody>
          <a:bodyPr/>
          <a:lstStyle/>
          <a:p>
            <a:fld id="{247EF31C-1E07-41B8-B746-BF9E95783CB0}" type="datetimeFigureOut">
              <a:rPr lang="en-US" smtClean="0"/>
              <a:t>6/26/2026</a:t>
            </a:fld>
            <a:endParaRPr lang="en-US"/>
          </a:p>
        </p:txBody>
      </p:sp>
      <p:sp>
        <p:nvSpPr>
          <p:cNvPr id="6" name="Footer Placeholder 5">
            <a:extLst>
              <a:ext uri="{FF2B5EF4-FFF2-40B4-BE49-F238E27FC236}">
                <a16:creationId xmlns:a16="http://schemas.microsoft.com/office/drawing/2014/main" id="{A31E4C8F-400B-4525-43FE-4867B9114F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B923BD-2ED1-1CBD-B54C-E162C4DE7497}"/>
              </a:ext>
            </a:extLst>
          </p:cNvPr>
          <p:cNvSpPr>
            <a:spLocks noGrp="1"/>
          </p:cNvSpPr>
          <p:nvPr>
            <p:ph type="sldNum" sz="quarter" idx="12"/>
          </p:nvPr>
        </p:nvSpPr>
        <p:spPr/>
        <p:txBody>
          <a:bodyPr/>
          <a:lstStyle/>
          <a:p>
            <a:fld id="{46033B00-133B-48F4-B6DC-CCBB1471645B}" type="slidenum">
              <a:rPr lang="en-US" smtClean="0"/>
              <a:t>‹#›</a:t>
            </a:fld>
            <a:endParaRPr lang="en-US"/>
          </a:p>
        </p:txBody>
      </p:sp>
    </p:spTree>
    <p:extLst>
      <p:ext uri="{BB962C8B-B14F-4D97-AF65-F5344CB8AC3E}">
        <p14:creationId xmlns:p14="http://schemas.microsoft.com/office/powerpoint/2010/main" val="2608182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3C6B7-FF16-D034-FFB4-DA8F2479A7C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1BA78B-5C15-9826-CAB7-E41E939C9F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569426-7D21-2518-5831-DBB16B6822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100115-F900-0AC5-D96A-CD0ED90495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9A17AD-1D3F-FC70-30F7-101760BC6F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7F45C5-9B38-D4FF-3C81-1D23278B7C21}"/>
              </a:ext>
            </a:extLst>
          </p:cNvPr>
          <p:cNvSpPr>
            <a:spLocks noGrp="1"/>
          </p:cNvSpPr>
          <p:nvPr>
            <p:ph type="dt" sz="half" idx="10"/>
          </p:nvPr>
        </p:nvSpPr>
        <p:spPr/>
        <p:txBody>
          <a:bodyPr/>
          <a:lstStyle/>
          <a:p>
            <a:fld id="{247EF31C-1E07-41B8-B746-BF9E95783CB0}" type="datetimeFigureOut">
              <a:rPr lang="en-US" smtClean="0"/>
              <a:t>6/26/2026</a:t>
            </a:fld>
            <a:endParaRPr lang="en-US"/>
          </a:p>
        </p:txBody>
      </p:sp>
      <p:sp>
        <p:nvSpPr>
          <p:cNvPr id="8" name="Footer Placeholder 7">
            <a:extLst>
              <a:ext uri="{FF2B5EF4-FFF2-40B4-BE49-F238E27FC236}">
                <a16:creationId xmlns:a16="http://schemas.microsoft.com/office/drawing/2014/main" id="{A91E001C-1290-F7FB-4C2E-4E67D62A62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540952-86F1-0431-682C-5D33E1727D06}"/>
              </a:ext>
            </a:extLst>
          </p:cNvPr>
          <p:cNvSpPr>
            <a:spLocks noGrp="1"/>
          </p:cNvSpPr>
          <p:nvPr>
            <p:ph type="sldNum" sz="quarter" idx="12"/>
          </p:nvPr>
        </p:nvSpPr>
        <p:spPr/>
        <p:txBody>
          <a:bodyPr/>
          <a:lstStyle/>
          <a:p>
            <a:fld id="{46033B00-133B-48F4-B6DC-CCBB1471645B}" type="slidenum">
              <a:rPr lang="en-US" smtClean="0"/>
              <a:t>‹#›</a:t>
            </a:fld>
            <a:endParaRPr lang="en-US"/>
          </a:p>
        </p:txBody>
      </p:sp>
    </p:spTree>
    <p:extLst>
      <p:ext uri="{BB962C8B-B14F-4D97-AF65-F5344CB8AC3E}">
        <p14:creationId xmlns:p14="http://schemas.microsoft.com/office/powerpoint/2010/main" val="2948793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B950D-A928-3C7C-900F-0311051426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335B15-1E63-C756-9422-528C7C3B0473}"/>
              </a:ext>
            </a:extLst>
          </p:cNvPr>
          <p:cNvSpPr>
            <a:spLocks noGrp="1"/>
          </p:cNvSpPr>
          <p:nvPr>
            <p:ph type="dt" sz="half" idx="10"/>
          </p:nvPr>
        </p:nvSpPr>
        <p:spPr/>
        <p:txBody>
          <a:bodyPr/>
          <a:lstStyle/>
          <a:p>
            <a:fld id="{247EF31C-1E07-41B8-B746-BF9E95783CB0}" type="datetimeFigureOut">
              <a:rPr lang="en-US" smtClean="0"/>
              <a:t>6/26/2026</a:t>
            </a:fld>
            <a:endParaRPr lang="en-US"/>
          </a:p>
        </p:txBody>
      </p:sp>
      <p:sp>
        <p:nvSpPr>
          <p:cNvPr id="4" name="Footer Placeholder 3">
            <a:extLst>
              <a:ext uri="{FF2B5EF4-FFF2-40B4-BE49-F238E27FC236}">
                <a16:creationId xmlns:a16="http://schemas.microsoft.com/office/drawing/2014/main" id="{56C68651-6EEE-C924-5572-1FF884BB02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CB52435-6998-0D88-07A1-D1D73E5BD21D}"/>
              </a:ext>
            </a:extLst>
          </p:cNvPr>
          <p:cNvSpPr>
            <a:spLocks noGrp="1"/>
          </p:cNvSpPr>
          <p:nvPr>
            <p:ph type="sldNum" sz="quarter" idx="12"/>
          </p:nvPr>
        </p:nvSpPr>
        <p:spPr/>
        <p:txBody>
          <a:bodyPr/>
          <a:lstStyle/>
          <a:p>
            <a:fld id="{46033B00-133B-48F4-B6DC-CCBB1471645B}" type="slidenum">
              <a:rPr lang="en-US" smtClean="0"/>
              <a:t>‹#›</a:t>
            </a:fld>
            <a:endParaRPr lang="en-US"/>
          </a:p>
        </p:txBody>
      </p:sp>
    </p:spTree>
    <p:extLst>
      <p:ext uri="{BB962C8B-B14F-4D97-AF65-F5344CB8AC3E}">
        <p14:creationId xmlns:p14="http://schemas.microsoft.com/office/powerpoint/2010/main" val="1047157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70312F-10D4-8B44-C0E5-37447A8D588F}"/>
              </a:ext>
            </a:extLst>
          </p:cNvPr>
          <p:cNvSpPr>
            <a:spLocks noGrp="1"/>
          </p:cNvSpPr>
          <p:nvPr>
            <p:ph type="dt" sz="half" idx="10"/>
          </p:nvPr>
        </p:nvSpPr>
        <p:spPr/>
        <p:txBody>
          <a:bodyPr/>
          <a:lstStyle/>
          <a:p>
            <a:fld id="{247EF31C-1E07-41B8-B746-BF9E95783CB0}" type="datetimeFigureOut">
              <a:rPr lang="en-US" smtClean="0"/>
              <a:t>6/26/2026</a:t>
            </a:fld>
            <a:endParaRPr lang="en-US"/>
          </a:p>
        </p:txBody>
      </p:sp>
      <p:sp>
        <p:nvSpPr>
          <p:cNvPr id="3" name="Footer Placeholder 2">
            <a:extLst>
              <a:ext uri="{FF2B5EF4-FFF2-40B4-BE49-F238E27FC236}">
                <a16:creationId xmlns:a16="http://schemas.microsoft.com/office/drawing/2014/main" id="{28AF22EF-0203-E16E-7316-B741073491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35DC04-8BB4-A95C-9E54-556D4E7A37B0}"/>
              </a:ext>
            </a:extLst>
          </p:cNvPr>
          <p:cNvSpPr>
            <a:spLocks noGrp="1"/>
          </p:cNvSpPr>
          <p:nvPr>
            <p:ph type="sldNum" sz="quarter" idx="12"/>
          </p:nvPr>
        </p:nvSpPr>
        <p:spPr/>
        <p:txBody>
          <a:bodyPr/>
          <a:lstStyle/>
          <a:p>
            <a:fld id="{46033B00-133B-48F4-B6DC-CCBB1471645B}" type="slidenum">
              <a:rPr lang="en-US" smtClean="0"/>
              <a:t>‹#›</a:t>
            </a:fld>
            <a:endParaRPr lang="en-US"/>
          </a:p>
        </p:txBody>
      </p:sp>
    </p:spTree>
    <p:extLst>
      <p:ext uri="{BB962C8B-B14F-4D97-AF65-F5344CB8AC3E}">
        <p14:creationId xmlns:p14="http://schemas.microsoft.com/office/powerpoint/2010/main" val="4270064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2D788-BC81-5F88-65FE-95547F148A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5829B9E-0C11-99F5-4DC3-7ED90FA54C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5D4296E-E4FB-8AE3-C91E-91FD9A7D2A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74E161-6A3C-F791-D2BE-1D283643DC35}"/>
              </a:ext>
            </a:extLst>
          </p:cNvPr>
          <p:cNvSpPr>
            <a:spLocks noGrp="1"/>
          </p:cNvSpPr>
          <p:nvPr>
            <p:ph type="dt" sz="half" idx="10"/>
          </p:nvPr>
        </p:nvSpPr>
        <p:spPr/>
        <p:txBody>
          <a:bodyPr/>
          <a:lstStyle/>
          <a:p>
            <a:fld id="{247EF31C-1E07-41B8-B746-BF9E95783CB0}" type="datetimeFigureOut">
              <a:rPr lang="en-US" smtClean="0"/>
              <a:t>6/26/2026</a:t>
            </a:fld>
            <a:endParaRPr lang="en-US"/>
          </a:p>
        </p:txBody>
      </p:sp>
      <p:sp>
        <p:nvSpPr>
          <p:cNvPr id="6" name="Footer Placeholder 5">
            <a:extLst>
              <a:ext uri="{FF2B5EF4-FFF2-40B4-BE49-F238E27FC236}">
                <a16:creationId xmlns:a16="http://schemas.microsoft.com/office/drawing/2014/main" id="{146C8CFC-98C3-0F01-A085-9F0961DC9D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09EEE0-10C8-BC58-51D0-9BB0E45E6C9F}"/>
              </a:ext>
            </a:extLst>
          </p:cNvPr>
          <p:cNvSpPr>
            <a:spLocks noGrp="1"/>
          </p:cNvSpPr>
          <p:nvPr>
            <p:ph type="sldNum" sz="quarter" idx="12"/>
          </p:nvPr>
        </p:nvSpPr>
        <p:spPr/>
        <p:txBody>
          <a:bodyPr/>
          <a:lstStyle/>
          <a:p>
            <a:fld id="{46033B00-133B-48F4-B6DC-CCBB1471645B}" type="slidenum">
              <a:rPr lang="en-US" smtClean="0"/>
              <a:t>‹#›</a:t>
            </a:fld>
            <a:endParaRPr lang="en-US"/>
          </a:p>
        </p:txBody>
      </p:sp>
    </p:spTree>
    <p:extLst>
      <p:ext uri="{BB962C8B-B14F-4D97-AF65-F5344CB8AC3E}">
        <p14:creationId xmlns:p14="http://schemas.microsoft.com/office/powerpoint/2010/main" val="1524917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B5D89-8B29-75F9-FF7D-5063DCCD5A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E48BD99-0AD1-443E-F64B-ECDCEB1F00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1FAF2D-B240-8E30-9198-3C0031674C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AC896C-7FB2-18D1-1386-1578AAC4FA90}"/>
              </a:ext>
            </a:extLst>
          </p:cNvPr>
          <p:cNvSpPr>
            <a:spLocks noGrp="1"/>
          </p:cNvSpPr>
          <p:nvPr>
            <p:ph type="dt" sz="half" idx="10"/>
          </p:nvPr>
        </p:nvSpPr>
        <p:spPr/>
        <p:txBody>
          <a:bodyPr/>
          <a:lstStyle/>
          <a:p>
            <a:fld id="{247EF31C-1E07-41B8-B746-BF9E95783CB0}" type="datetimeFigureOut">
              <a:rPr lang="en-US" smtClean="0"/>
              <a:t>6/26/2026</a:t>
            </a:fld>
            <a:endParaRPr lang="en-US"/>
          </a:p>
        </p:txBody>
      </p:sp>
      <p:sp>
        <p:nvSpPr>
          <p:cNvPr id="6" name="Footer Placeholder 5">
            <a:extLst>
              <a:ext uri="{FF2B5EF4-FFF2-40B4-BE49-F238E27FC236}">
                <a16:creationId xmlns:a16="http://schemas.microsoft.com/office/drawing/2014/main" id="{4D478629-5055-8BDD-6B07-6394E9A875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098421-89C7-10B4-29DB-457CD1467897}"/>
              </a:ext>
            </a:extLst>
          </p:cNvPr>
          <p:cNvSpPr>
            <a:spLocks noGrp="1"/>
          </p:cNvSpPr>
          <p:nvPr>
            <p:ph type="sldNum" sz="quarter" idx="12"/>
          </p:nvPr>
        </p:nvSpPr>
        <p:spPr/>
        <p:txBody>
          <a:bodyPr/>
          <a:lstStyle/>
          <a:p>
            <a:fld id="{46033B00-133B-48F4-B6DC-CCBB1471645B}" type="slidenum">
              <a:rPr lang="en-US" smtClean="0"/>
              <a:t>‹#›</a:t>
            </a:fld>
            <a:endParaRPr lang="en-US"/>
          </a:p>
        </p:txBody>
      </p:sp>
    </p:spTree>
    <p:extLst>
      <p:ext uri="{BB962C8B-B14F-4D97-AF65-F5344CB8AC3E}">
        <p14:creationId xmlns:p14="http://schemas.microsoft.com/office/powerpoint/2010/main" val="3540362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E7236-0A20-B7CD-8650-ADECB2C9035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C1C8E5B-0498-8FBA-1F8B-FE45A862BE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16EF3A-8A17-F139-173B-E80EE2A69C47}"/>
              </a:ext>
            </a:extLst>
          </p:cNvPr>
          <p:cNvSpPr>
            <a:spLocks noGrp="1"/>
          </p:cNvSpPr>
          <p:nvPr>
            <p:ph type="dt" sz="half" idx="10"/>
          </p:nvPr>
        </p:nvSpPr>
        <p:spPr/>
        <p:txBody>
          <a:bodyPr/>
          <a:lstStyle/>
          <a:p>
            <a:fld id="{247EF31C-1E07-41B8-B746-BF9E95783CB0}" type="datetimeFigureOut">
              <a:rPr lang="en-US" smtClean="0"/>
              <a:t>6/26/2026</a:t>
            </a:fld>
            <a:endParaRPr lang="en-US"/>
          </a:p>
        </p:txBody>
      </p:sp>
      <p:sp>
        <p:nvSpPr>
          <p:cNvPr id="5" name="Footer Placeholder 4">
            <a:extLst>
              <a:ext uri="{FF2B5EF4-FFF2-40B4-BE49-F238E27FC236}">
                <a16:creationId xmlns:a16="http://schemas.microsoft.com/office/drawing/2014/main" id="{13FBDA78-09F2-9548-B006-3046C6AAE9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18BF0F-35AC-6375-CAFE-8C8B04F63CFA}"/>
              </a:ext>
            </a:extLst>
          </p:cNvPr>
          <p:cNvSpPr>
            <a:spLocks noGrp="1"/>
          </p:cNvSpPr>
          <p:nvPr>
            <p:ph type="sldNum" sz="quarter" idx="12"/>
          </p:nvPr>
        </p:nvSpPr>
        <p:spPr/>
        <p:txBody>
          <a:bodyPr/>
          <a:lstStyle/>
          <a:p>
            <a:fld id="{46033B00-133B-48F4-B6DC-CCBB1471645B}" type="slidenum">
              <a:rPr lang="en-US" smtClean="0"/>
              <a:t>‹#›</a:t>
            </a:fld>
            <a:endParaRPr lang="en-US"/>
          </a:p>
        </p:txBody>
      </p:sp>
    </p:spTree>
    <p:extLst>
      <p:ext uri="{BB962C8B-B14F-4D97-AF65-F5344CB8AC3E}">
        <p14:creationId xmlns:p14="http://schemas.microsoft.com/office/powerpoint/2010/main" val="3676442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876569-0A75-65B7-2EFF-79C46782B7F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72BDE4-D168-003A-AF87-F4B27FF682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FC8020-59D3-DE78-4350-021CB30D6792}"/>
              </a:ext>
            </a:extLst>
          </p:cNvPr>
          <p:cNvSpPr>
            <a:spLocks noGrp="1"/>
          </p:cNvSpPr>
          <p:nvPr>
            <p:ph type="dt" sz="half" idx="10"/>
          </p:nvPr>
        </p:nvSpPr>
        <p:spPr/>
        <p:txBody>
          <a:bodyPr/>
          <a:lstStyle/>
          <a:p>
            <a:fld id="{247EF31C-1E07-41B8-B746-BF9E95783CB0}" type="datetimeFigureOut">
              <a:rPr lang="en-US" smtClean="0"/>
              <a:t>6/26/2026</a:t>
            </a:fld>
            <a:endParaRPr lang="en-US"/>
          </a:p>
        </p:txBody>
      </p:sp>
      <p:sp>
        <p:nvSpPr>
          <p:cNvPr id="5" name="Footer Placeholder 4">
            <a:extLst>
              <a:ext uri="{FF2B5EF4-FFF2-40B4-BE49-F238E27FC236}">
                <a16:creationId xmlns:a16="http://schemas.microsoft.com/office/drawing/2014/main" id="{5C254B36-56FC-93FD-E9DF-EA4602676D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6F1EA6-F376-E727-8190-3CBF67913FDC}"/>
              </a:ext>
            </a:extLst>
          </p:cNvPr>
          <p:cNvSpPr>
            <a:spLocks noGrp="1"/>
          </p:cNvSpPr>
          <p:nvPr>
            <p:ph type="sldNum" sz="quarter" idx="12"/>
          </p:nvPr>
        </p:nvSpPr>
        <p:spPr/>
        <p:txBody>
          <a:bodyPr/>
          <a:lstStyle/>
          <a:p>
            <a:fld id="{46033B00-133B-48F4-B6DC-CCBB1471645B}" type="slidenum">
              <a:rPr lang="en-US" smtClean="0"/>
              <a:t>‹#›</a:t>
            </a:fld>
            <a:endParaRPr lang="en-US"/>
          </a:p>
        </p:txBody>
      </p:sp>
    </p:spTree>
    <p:extLst>
      <p:ext uri="{BB962C8B-B14F-4D97-AF65-F5344CB8AC3E}">
        <p14:creationId xmlns:p14="http://schemas.microsoft.com/office/powerpoint/2010/main" val="1194633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4DE072-46F8-4BA6-B16B-AEDD131FDA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A1B023-F135-573B-A279-33E8C9F626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A6C51C-6562-9733-FADA-AD023D4990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EF31C-1E07-41B8-B746-BF9E95783CB0}" type="datetimeFigureOut">
              <a:rPr lang="en-US" smtClean="0"/>
              <a:t>6/26/2026</a:t>
            </a:fld>
            <a:endParaRPr lang="en-US"/>
          </a:p>
        </p:txBody>
      </p:sp>
      <p:sp>
        <p:nvSpPr>
          <p:cNvPr id="5" name="Footer Placeholder 4">
            <a:extLst>
              <a:ext uri="{FF2B5EF4-FFF2-40B4-BE49-F238E27FC236}">
                <a16:creationId xmlns:a16="http://schemas.microsoft.com/office/drawing/2014/main" id="{8D92B3EF-6F79-0B7C-A274-DA952C3BC4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77E3955-A15A-E66A-C5F7-4326BA7C0F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033B00-133B-48F4-B6DC-CCBB1471645B}" type="slidenum">
              <a:rPr lang="en-US" smtClean="0"/>
              <a:t>‹#›</a:t>
            </a:fld>
            <a:endParaRPr lang="en-US"/>
          </a:p>
        </p:txBody>
      </p:sp>
    </p:spTree>
    <p:extLst>
      <p:ext uri="{BB962C8B-B14F-4D97-AF65-F5344CB8AC3E}">
        <p14:creationId xmlns:p14="http://schemas.microsoft.com/office/powerpoint/2010/main" val="1578247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slide" Target="slide9.xml"/><Relationship Id="rId3" Type="http://schemas.openxmlformats.org/officeDocument/2006/relationships/image" Target="../media/image2.svg"/><Relationship Id="rId7" Type="http://schemas.openxmlformats.org/officeDocument/2006/relationships/slide" Target="slide8.xml"/><Relationship Id="rId12" Type="http://schemas.openxmlformats.org/officeDocument/2006/relationships/slide" Target="slide12.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 Target="slide16.xml"/><Relationship Id="rId11" Type="http://schemas.openxmlformats.org/officeDocument/2006/relationships/slide" Target="slide11.xml"/><Relationship Id="rId5" Type="http://schemas.openxmlformats.org/officeDocument/2006/relationships/slide" Target="slide15.xml"/><Relationship Id="rId15" Type="http://schemas.openxmlformats.org/officeDocument/2006/relationships/hyperlink" Target="https://postindustria.com/what-are-common-misconceptions-about-ai-machine-learning/" TargetMode="External"/><Relationship Id="rId10" Type="http://schemas.openxmlformats.org/officeDocument/2006/relationships/slide" Target="slide14.xml"/><Relationship Id="rId4" Type="http://schemas.openxmlformats.org/officeDocument/2006/relationships/image" Target="../media/image4.jpeg"/><Relationship Id="rId9" Type="http://schemas.openxmlformats.org/officeDocument/2006/relationships/slide" Target="slide13.xml"/><Relationship Id="rId14" Type="http://schemas.openxmlformats.org/officeDocument/2006/relationships/slide" Target="slide10.xml"/></Relationships>
</file>

<file path=ppt/slides/_rels/slide8.xml.rels><?xml version="1.0" encoding="UTF-8" standalone="yes"?>
<Relationships xmlns="http://schemas.openxmlformats.org/package/2006/relationships"><Relationship Id="rId8" Type="http://schemas.openxmlformats.org/officeDocument/2006/relationships/slide" Target="slide14.xml"/><Relationship Id="rId13" Type="http://schemas.openxmlformats.org/officeDocument/2006/relationships/image" Target="../media/image5.png"/><Relationship Id="rId3" Type="http://schemas.openxmlformats.org/officeDocument/2006/relationships/slide" Target="slide15.xml"/><Relationship Id="rId7" Type="http://schemas.openxmlformats.org/officeDocument/2006/relationships/slide" Target="slide13.xml"/><Relationship Id="rId12" Type="http://schemas.openxmlformats.org/officeDocument/2006/relationships/slide" Target="slide10.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slide" Target="slide17.xml"/><Relationship Id="rId11" Type="http://schemas.openxmlformats.org/officeDocument/2006/relationships/slide" Target="slide9.xml"/><Relationship Id="rId5" Type="http://schemas.openxmlformats.org/officeDocument/2006/relationships/slide" Target="slide8.xml"/><Relationship Id="rId10" Type="http://schemas.openxmlformats.org/officeDocument/2006/relationships/slide" Target="slide12.xml"/><Relationship Id="rId4" Type="http://schemas.openxmlformats.org/officeDocument/2006/relationships/slide" Target="slide16.xml"/><Relationship Id="rId9" Type="http://schemas.openxmlformats.org/officeDocument/2006/relationships/slide" Target="slide11.xml"/></Relationships>
</file>

<file path=ppt/slides/_rels/slide9.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slide" Target="slide9.xml"/><Relationship Id="rId3" Type="http://schemas.openxmlformats.org/officeDocument/2006/relationships/hyperlink" Target="https://medium.com/@sandrew022000/not-everything-is-an-llm-8-ai-model-types-you-should-know-in-2025-6cc01cd6dbaf" TargetMode="External"/><Relationship Id="rId7" Type="http://schemas.openxmlformats.org/officeDocument/2006/relationships/slide" Target="slide8.xml"/><Relationship Id="rId12" Type="http://schemas.openxmlformats.org/officeDocument/2006/relationships/slide" Target="slide12.xml"/><Relationship Id="rId17" Type="http://schemas.openxmlformats.org/officeDocument/2006/relationships/image" Target="../media/image3.png"/><Relationship Id="rId2" Type="http://schemas.openxmlformats.org/officeDocument/2006/relationships/notesSlide" Target="../notesSlides/notesSlide2.xml"/><Relationship Id="rId16" Type="http://schemas.openxmlformats.org/officeDocument/2006/relationships/image" Target="../media/image7.jpeg"/><Relationship Id="rId1" Type="http://schemas.openxmlformats.org/officeDocument/2006/relationships/slideLayout" Target="../slideLayouts/slideLayout1.xml"/><Relationship Id="rId6" Type="http://schemas.openxmlformats.org/officeDocument/2006/relationships/slide" Target="slide16.xml"/><Relationship Id="rId11" Type="http://schemas.openxmlformats.org/officeDocument/2006/relationships/slide" Target="slide11.xml"/><Relationship Id="rId5" Type="http://schemas.openxmlformats.org/officeDocument/2006/relationships/slide" Target="slide15.xml"/><Relationship Id="rId15" Type="http://schemas.openxmlformats.org/officeDocument/2006/relationships/image" Target="../media/image6.jpeg"/><Relationship Id="rId10" Type="http://schemas.openxmlformats.org/officeDocument/2006/relationships/slide" Target="slide14.xml"/><Relationship Id="rId4" Type="http://schemas.openxmlformats.org/officeDocument/2006/relationships/hyperlink" Target="https://www.microsoft.com/en-us/ai/ai-101/generative-ai-vs-other-types-of-ai#Other-AI-types" TargetMode="External"/><Relationship Id="rId9" Type="http://schemas.openxmlformats.org/officeDocument/2006/relationships/slide" Target="slide13.xml"/><Relationship Id="rId14" Type="http://schemas.openxmlformats.org/officeDocument/2006/relationships/slide" Target="slide10.xml"/></Relationships>
</file>

<file path=ppt/slides/_rels/slide10.xml.rels><?xml version="1.0" encoding="UTF-8" standalone="yes"?>
<Relationships xmlns="http://schemas.openxmlformats.org/package/2006/relationships"><Relationship Id="rId8" Type="http://schemas.openxmlformats.org/officeDocument/2006/relationships/slide" Target="slide13.xml"/><Relationship Id="rId13" Type="http://schemas.openxmlformats.org/officeDocument/2006/relationships/slide" Target="slide10.xml"/><Relationship Id="rId3" Type="http://schemas.openxmlformats.org/officeDocument/2006/relationships/hyperlink" Target="https://www.microsoft.com/en-us/ai/ai-101/generative-ai-vs-other-types-of-ai#Other-AI-types" TargetMode="External"/><Relationship Id="rId7" Type="http://schemas.openxmlformats.org/officeDocument/2006/relationships/slide" Target="slide17.xml"/><Relationship Id="rId12" Type="http://schemas.openxmlformats.org/officeDocument/2006/relationships/slide" Target="slide9.xml"/><Relationship Id="rId2" Type="http://schemas.openxmlformats.org/officeDocument/2006/relationships/hyperlink" Target="https://medium.com/@sandrew022000/not-everything-is-an-llm-8-ai-model-types-you-should-know-in-2025-6cc01cd6dbaf" TargetMode="External"/><Relationship Id="rId16"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slide" Target="slide8.xml"/><Relationship Id="rId11" Type="http://schemas.openxmlformats.org/officeDocument/2006/relationships/slide" Target="slide12.xml"/><Relationship Id="rId5" Type="http://schemas.openxmlformats.org/officeDocument/2006/relationships/slide" Target="slide16.xml"/><Relationship Id="rId15" Type="http://schemas.openxmlformats.org/officeDocument/2006/relationships/image" Target="../media/image7.jpeg"/><Relationship Id="rId10" Type="http://schemas.openxmlformats.org/officeDocument/2006/relationships/slide" Target="slide11.xml"/><Relationship Id="rId4" Type="http://schemas.openxmlformats.org/officeDocument/2006/relationships/slide" Target="slide15.xml"/><Relationship Id="rId9" Type="http://schemas.openxmlformats.org/officeDocument/2006/relationships/slide" Target="slide14.xml"/><Relationship Id="rId14" Type="http://schemas.openxmlformats.org/officeDocument/2006/relationships/image" Target="../media/image6.jpeg"/></Relationships>
</file>

<file path=ppt/slides/_rels/slide11.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slide" Target="slide11.xml"/><Relationship Id="rId3" Type="http://schemas.openxmlformats.org/officeDocument/2006/relationships/image" Target="../media/image8.png"/><Relationship Id="rId7" Type="http://schemas.openxmlformats.org/officeDocument/2006/relationships/slide" Target="slide8.xml"/><Relationship Id="rId12" Type="http://schemas.openxmlformats.org/officeDocument/2006/relationships/slide" Target="slide10.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slide" Target="slide16.xml"/><Relationship Id="rId11" Type="http://schemas.openxmlformats.org/officeDocument/2006/relationships/slide" Target="slide9.xml"/><Relationship Id="rId5" Type="http://schemas.openxmlformats.org/officeDocument/2006/relationships/slide" Target="slide15.xml"/><Relationship Id="rId10" Type="http://schemas.openxmlformats.org/officeDocument/2006/relationships/slide" Target="slide14.xml"/><Relationship Id="rId4" Type="http://schemas.openxmlformats.org/officeDocument/2006/relationships/hyperlink" Target="https://www.library.hbs.edu/working-knowledge/enhance-or-eliminate-how-ai-will-likely-change-these-jobs" TargetMode="External"/><Relationship Id="rId9" Type="http://schemas.openxmlformats.org/officeDocument/2006/relationships/slide" Target="slide13.xml"/><Relationship Id="rId14" Type="http://schemas.openxmlformats.org/officeDocument/2006/relationships/slide" Target="slide12.xml"/></Relationships>
</file>

<file path=ppt/slides/_rels/slide12.xml.rels><?xml version="1.0" encoding="UTF-8" standalone="yes"?>
<Relationships xmlns="http://schemas.openxmlformats.org/package/2006/relationships"><Relationship Id="rId8" Type="http://schemas.openxmlformats.org/officeDocument/2006/relationships/slide" Target="slide14.xml"/><Relationship Id="rId13" Type="http://schemas.openxmlformats.org/officeDocument/2006/relationships/hyperlink" Target="https://www.library.hbs.edu/working-knowledge/enhance-or-eliminate-how-ai-will-likely-change-these-jobs" TargetMode="External"/><Relationship Id="rId3" Type="http://schemas.openxmlformats.org/officeDocument/2006/relationships/slide" Target="slide15.xml"/><Relationship Id="rId7" Type="http://schemas.openxmlformats.org/officeDocument/2006/relationships/slide" Target="slide13.xml"/><Relationship Id="rId12" Type="http://schemas.openxmlformats.org/officeDocument/2006/relationships/slide" Target="slide12.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slide" Target="slide17.xml"/><Relationship Id="rId11" Type="http://schemas.openxmlformats.org/officeDocument/2006/relationships/slide" Target="slide11.xml"/><Relationship Id="rId5" Type="http://schemas.openxmlformats.org/officeDocument/2006/relationships/slide" Target="slide8.xml"/><Relationship Id="rId10" Type="http://schemas.openxmlformats.org/officeDocument/2006/relationships/slide" Target="slide10.xml"/><Relationship Id="rId4" Type="http://schemas.openxmlformats.org/officeDocument/2006/relationships/slide" Target="slide16.xml"/><Relationship Id="rId9" Type="http://schemas.openxmlformats.org/officeDocument/2006/relationships/slide" Target="slide9.xml"/><Relationship Id="rId14" Type="http://schemas.openxmlformats.org/officeDocument/2006/relationships/image" Target="../media/image8.png"/></Relationships>
</file>

<file path=ppt/slides/_rels/slide13.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slide" Target="slide13.xml"/><Relationship Id="rId3" Type="http://schemas.openxmlformats.org/officeDocument/2006/relationships/hyperlink" Target="https://cacm.acm.org/research/as-good-as-a-coin-toss-human-detection-of-ai-generated-content/" TargetMode="External"/><Relationship Id="rId7" Type="http://schemas.openxmlformats.org/officeDocument/2006/relationships/slide" Target="slide8.xml"/><Relationship Id="rId12" Type="http://schemas.openxmlformats.org/officeDocument/2006/relationships/slide" Target="slide10.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slide" Target="slide16.xml"/><Relationship Id="rId11" Type="http://schemas.openxmlformats.org/officeDocument/2006/relationships/slide" Target="slide9.xml"/><Relationship Id="rId5" Type="http://schemas.openxmlformats.org/officeDocument/2006/relationships/slide" Target="slide15.xml"/><Relationship Id="rId15" Type="http://schemas.openxmlformats.org/officeDocument/2006/relationships/image" Target="../media/image10.png"/><Relationship Id="rId10" Type="http://schemas.openxmlformats.org/officeDocument/2006/relationships/slide" Target="slide12.xml"/><Relationship Id="rId4" Type="http://schemas.openxmlformats.org/officeDocument/2006/relationships/image" Target="../media/image9.jpeg"/><Relationship Id="rId9" Type="http://schemas.openxmlformats.org/officeDocument/2006/relationships/slide" Target="slide11.xml"/><Relationship Id="rId14" Type="http://schemas.openxmlformats.org/officeDocument/2006/relationships/slide" Target="slide14.xml"/></Relationships>
</file>

<file path=ppt/slides/_rels/slide14.xml.rels><?xml version="1.0" encoding="UTF-8" standalone="yes"?>
<Relationships xmlns="http://schemas.openxmlformats.org/package/2006/relationships"><Relationship Id="rId8" Type="http://schemas.openxmlformats.org/officeDocument/2006/relationships/slide" Target="slide8.xml"/><Relationship Id="rId13" Type="http://schemas.openxmlformats.org/officeDocument/2006/relationships/slide" Target="slide10.xml"/><Relationship Id="rId3" Type="http://schemas.openxmlformats.org/officeDocument/2006/relationships/hyperlink" Target="https://cacm.acm.org/research/as-good-as-a-coin-toss-human-detection-of-ai-generated-content/" TargetMode="External"/><Relationship Id="rId7" Type="http://schemas.openxmlformats.org/officeDocument/2006/relationships/slide" Target="slide16.xml"/><Relationship Id="rId12" Type="http://schemas.openxmlformats.org/officeDocument/2006/relationships/slide" Target="slide9.xml"/><Relationship Id="rId2" Type="http://schemas.openxmlformats.org/officeDocument/2006/relationships/notesSlide" Target="../notesSlides/notesSlide6.xml"/><Relationship Id="rId16"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slide" Target="slide15.xml"/><Relationship Id="rId11" Type="http://schemas.openxmlformats.org/officeDocument/2006/relationships/slide" Target="slide12.xml"/><Relationship Id="rId5" Type="http://schemas.openxmlformats.org/officeDocument/2006/relationships/image" Target="../media/image9.jpeg"/><Relationship Id="rId15" Type="http://schemas.openxmlformats.org/officeDocument/2006/relationships/slide" Target="slide14.xml"/><Relationship Id="rId10" Type="http://schemas.openxmlformats.org/officeDocument/2006/relationships/slide" Target="slide11.xml"/><Relationship Id="rId4" Type="http://schemas.openxmlformats.org/officeDocument/2006/relationships/image" Target="../media/image11.png"/><Relationship Id="rId9" Type="http://schemas.openxmlformats.org/officeDocument/2006/relationships/slide" Target="slide17.xml"/><Relationship Id="rId14" Type="http://schemas.openxmlformats.org/officeDocument/2006/relationships/slide" Target="slide13.xml"/></Relationships>
</file>

<file path=ppt/slides/_rels/slide15.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slide" Target="slide16.xml"/><Relationship Id="rId3" Type="http://schemas.openxmlformats.org/officeDocument/2006/relationships/hyperlink" Target="https://www.quantamagazine.org/ai-is-nothing-like-a-brain-and-thats-ok-20250430/" TargetMode="External"/><Relationship Id="rId7" Type="http://schemas.openxmlformats.org/officeDocument/2006/relationships/slide" Target="slide8.xml"/><Relationship Id="rId12" Type="http://schemas.openxmlformats.org/officeDocument/2006/relationships/slide" Target="slide15.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slide" Target="slide12.xml"/><Relationship Id="rId11" Type="http://schemas.openxmlformats.org/officeDocument/2006/relationships/slide" Target="slide14.xml"/><Relationship Id="rId5" Type="http://schemas.openxmlformats.org/officeDocument/2006/relationships/slide" Target="slide11.xml"/><Relationship Id="rId15" Type="http://schemas.openxmlformats.org/officeDocument/2006/relationships/image" Target="../media/image12.gif"/><Relationship Id="rId10" Type="http://schemas.openxmlformats.org/officeDocument/2006/relationships/slide" Target="slide13.xml"/><Relationship Id="rId4" Type="http://schemas.openxmlformats.org/officeDocument/2006/relationships/image" Target="../media/image5.png"/><Relationship Id="rId9" Type="http://schemas.openxmlformats.org/officeDocument/2006/relationships/slide" Target="slide10.xml"/><Relationship Id="rId14" Type="http://schemas.openxmlformats.org/officeDocument/2006/relationships/slide" Target="slide17.xml"/></Relationships>
</file>

<file path=ppt/slides/_rels/slide16.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slide" Target="slide16.xml"/><Relationship Id="rId3" Type="http://schemas.openxmlformats.org/officeDocument/2006/relationships/hyperlink" Target="https://www.quantamagazine.org/ai-is-nothing-like-a-brain-and-thats-ok-20250430/" TargetMode="External"/><Relationship Id="rId7" Type="http://schemas.openxmlformats.org/officeDocument/2006/relationships/slide" Target="slide8.xml"/><Relationship Id="rId12" Type="http://schemas.openxmlformats.org/officeDocument/2006/relationships/slide" Target="slide15.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slide" Target="slide12.xml"/><Relationship Id="rId11" Type="http://schemas.openxmlformats.org/officeDocument/2006/relationships/slide" Target="slide14.xml"/><Relationship Id="rId5" Type="http://schemas.openxmlformats.org/officeDocument/2006/relationships/slide" Target="slide11.xml"/><Relationship Id="rId15" Type="http://schemas.openxmlformats.org/officeDocument/2006/relationships/image" Target="../media/image12.gif"/><Relationship Id="rId10" Type="http://schemas.openxmlformats.org/officeDocument/2006/relationships/slide" Target="slide13.xml"/><Relationship Id="rId4" Type="http://schemas.openxmlformats.org/officeDocument/2006/relationships/image" Target="../media/image5.png"/><Relationship Id="rId9" Type="http://schemas.openxmlformats.org/officeDocument/2006/relationships/slide" Target="slide10.xml"/><Relationship Id="rId14" Type="http://schemas.openxmlformats.org/officeDocument/2006/relationships/slide" Target="slide1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5.jpeg"/><Relationship Id="rId13" Type="http://schemas.openxmlformats.org/officeDocument/2006/relationships/image" Target="../media/image18.svg"/><Relationship Id="rId3" Type="http://schemas.openxmlformats.org/officeDocument/2006/relationships/image" Target="../media/image5.png"/><Relationship Id="rId7" Type="http://schemas.openxmlformats.org/officeDocument/2006/relationships/image" Target="../media/image14.jpeg"/><Relationship Id="rId12" Type="http://schemas.openxmlformats.org/officeDocument/2006/relationships/image" Target="../media/image17.svg"/><Relationship Id="rId17" Type="http://schemas.openxmlformats.org/officeDocument/2006/relationships/image" Target="../media/image22.svg"/><Relationship Id="rId2" Type="http://schemas.openxmlformats.org/officeDocument/2006/relationships/notesSlide" Target="../notesSlides/notesSlide9.xml"/><Relationship Id="rId16" Type="http://schemas.openxmlformats.org/officeDocument/2006/relationships/image" Target="../media/image21.svg"/><Relationship Id="rId1" Type="http://schemas.openxmlformats.org/officeDocument/2006/relationships/slideLayout" Target="../slideLayouts/slideLayout2.xml"/><Relationship Id="rId6" Type="http://schemas.openxmlformats.org/officeDocument/2006/relationships/hyperlink" Target="https://business.fiu.edu/academics/graduate/insights/posts/competitive-advantage-of-using-ai-in-business.html" TargetMode="External"/><Relationship Id="rId11" Type="http://schemas.openxmlformats.org/officeDocument/2006/relationships/image" Target="../media/image160.png"/><Relationship Id="rId5" Type="http://schemas.openxmlformats.org/officeDocument/2006/relationships/hyperlink" Target="https://companiesmarketcap.com/alphabet-google/marketcap/" TargetMode="External"/><Relationship Id="rId15" Type="http://schemas.openxmlformats.org/officeDocument/2006/relationships/image" Target="../media/image20.svg"/><Relationship Id="rId10" Type="http://schemas.openxmlformats.org/officeDocument/2006/relationships/slide" Target="slide20.xml"/><Relationship Id="rId4" Type="http://schemas.openxmlformats.org/officeDocument/2006/relationships/image" Target="../media/image13.png"/><Relationship Id="rId9" Type="http://schemas.openxmlformats.org/officeDocument/2006/relationships/image" Target="../media/image16.png"/><Relationship Id="rId14" Type="http://schemas.openxmlformats.org/officeDocument/2006/relationships/image" Target="../media/image19.svg"/></Relationships>
</file>

<file path=ppt/slides/_rels/slide19.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19.svg"/><Relationship Id="rId3" Type="http://schemas.openxmlformats.org/officeDocument/2006/relationships/image" Target="../media/image5.png"/><Relationship Id="rId7" Type="http://schemas.openxmlformats.org/officeDocument/2006/relationships/image" Target="../media/image15.jpeg"/><Relationship Id="rId12" Type="http://schemas.openxmlformats.org/officeDocument/2006/relationships/image" Target="../media/image18.svg"/><Relationship Id="rId2" Type="http://schemas.openxmlformats.org/officeDocument/2006/relationships/notesSlide" Target="../notesSlides/notesSlide10.xml"/><Relationship Id="rId16" Type="http://schemas.openxmlformats.org/officeDocument/2006/relationships/image" Target="../media/image22.svg"/><Relationship Id="rId1" Type="http://schemas.openxmlformats.org/officeDocument/2006/relationships/slideLayout" Target="../slideLayouts/slideLayout2.xml"/><Relationship Id="rId6" Type="http://schemas.openxmlformats.org/officeDocument/2006/relationships/image" Target="../media/image14.jpeg"/><Relationship Id="rId11" Type="http://schemas.openxmlformats.org/officeDocument/2006/relationships/image" Target="../media/image23.svg"/><Relationship Id="rId5" Type="http://schemas.openxmlformats.org/officeDocument/2006/relationships/hyperlink" Target="https://business.fiu.edu/academics/graduate/insights/posts/competitive-advantage-of-using-ai-in-business.html" TargetMode="External"/><Relationship Id="rId15" Type="http://schemas.openxmlformats.org/officeDocument/2006/relationships/image" Target="../media/image21.svg"/><Relationship Id="rId10" Type="http://schemas.openxmlformats.org/officeDocument/2006/relationships/image" Target="../media/image160.png"/><Relationship Id="rId4" Type="http://schemas.openxmlformats.org/officeDocument/2006/relationships/image" Target="../media/image13.png"/><Relationship Id="rId9" Type="http://schemas.openxmlformats.org/officeDocument/2006/relationships/slide" Target="slide20.xml"/><Relationship Id="rId14" Type="http://schemas.openxmlformats.org/officeDocument/2006/relationships/image" Target="../media/image20.svg"/></Relationships>
</file>

<file path=ppt/slides/_rels/slide20.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26.png"/><Relationship Id="rId18" Type="http://schemas.openxmlformats.org/officeDocument/2006/relationships/image" Target="../media/image31.gif"/><Relationship Id="rId3" Type="http://schemas.openxmlformats.org/officeDocument/2006/relationships/image" Target="../media/image5.png"/><Relationship Id="rId7" Type="http://schemas.openxmlformats.org/officeDocument/2006/relationships/hyperlink" Target="https://www.deviantart.com/xxdigipxx/art/Book-Stock-Image-109355727" TargetMode="External"/><Relationship Id="rId12" Type="http://schemas.openxmlformats.org/officeDocument/2006/relationships/slide" Target="slide22.xml"/><Relationship Id="rId17" Type="http://schemas.openxmlformats.org/officeDocument/2006/relationships/image" Target="../media/image30.png"/><Relationship Id="rId2" Type="http://schemas.openxmlformats.org/officeDocument/2006/relationships/notesSlide" Target="../notesSlides/notesSlide11.xml"/><Relationship Id="rId16"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6.png"/><Relationship Id="rId5" Type="http://schemas.openxmlformats.org/officeDocument/2006/relationships/image" Target="../media/image14.jpeg"/><Relationship Id="rId15" Type="http://schemas.openxmlformats.org/officeDocument/2006/relationships/image" Target="../media/image28.svg"/><Relationship Id="rId10" Type="http://schemas.openxmlformats.org/officeDocument/2006/relationships/image" Target="../media/image25.png"/><Relationship Id="rId4" Type="http://schemas.openxmlformats.org/officeDocument/2006/relationships/image" Target="../media/image13.png"/><Relationship Id="rId9" Type="http://schemas.openxmlformats.org/officeDocument/2006/relationships/slide" Target="slide21.xml"/><Relationship Id="rId1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1.gif"/><Relationship Id="rId5" Type="http://schemas.openxmlformats.org/officeDocument/2006/relationships/hyperlink" Target="https://business.fiu.edu/academics/graduate/insights/posts/competitive-advantage-of-using-ai-in-business.html" TargetMode="Externa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hyperlink" Target="https://www.anthropic.com/research/agentic-misalignment" TargetMode="External"/><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29.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paragonshift.com/responsible-ai-in-business-environments/"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medium.com/@sandrew022000/not-everything-is-an-llm-8-ai-model-types-you-should-know-in-2025-6cc01cd6dbaf" TargetMode="External"/><Relationship Id="rId2" Type="http://schemas.openxmlformats.org/officeDocument/2006/relationships/hyperlink" Target="https://postindustria.com/what-are-common-misconceptions-about-ai-machine-learning/" TargetMode="External"/><Relationship Id="rId1" Type="http://schemas.openxmlformats.org/officeDocument/2006/relationships/slideLayout" Target="../slideLayouts/slideLayout2.xml"/><Relationship Id="rId6" Type="http://schemas.openxmlformats.org/officeDocument/2006/relationships/hyperlink" Target="https://cacm.acm.org/research/as-good-as-a-coin-toss-human-detection-of-ai-generated-content/" TargetMode="External"/><Relationship Id="rId5" Type="http://schemas.openxmlformats.org/officeDocument/2006/relationships/hyperlink" Target="https://www.library.hbs.edu/working-knowledge/enhance-or-eliminate-how-ai-will-likely-change-these-jobs" TargetMode="External"/><Relationship Id="rId4" Type="http://schemas.openxmlformats.org/officeDocument/2006/relationships/hyperlink" Target="https://www.microsoft.com/en-us/ai/ai-101/generative-ai-vs-other-types-of-ai#Other-AI-types"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companiesmarketcap.com/alphabet-google/revenue/" TargetMode="External"/><Relationship Id="rId7" Type="http://schemas.openxmlformats.org/officeDocument/2006/relationships/hyperlink" Target="https://jolt.law.harvard.edu/digest/why-racial-bias-is-prevalent-in-facial-recognition-technology" TargetMode="External"/><Relationship Id="rId2" Type="http://schemas.openxmlformats.org/officeDocument/2006/relationships/hyperlink" Target="https://www.quantamagazine.org/ai-is-nothing-like-a-brain-and-thats-ok-20250430/" TargetMode="External"/><Relationship Id="rId1" Type="http://schemas.openxmlformats.org/officeDocument/2006/relationships/slideLayout" Target="../slideLayouts/slideLayout2.xml"/><Relationship Id="rId6" Type="http://schemas.openxmlformats.org/officeDocument/2006/relationships/hyperlink" Target="https://www.wired.com/story/best-algorithms-struggle-recognize-black-faces-equally/" TargetMode="External"/><Relationship Id="rId5" Type="http://schemas.openxmlformats.org/officeDocument/2006/relationships/hyperlink" Target="https://www.ibm.com/think/insights/ai-privacy" TargetMode="External"/><Relationship Id="rId4" Type="http://schemas.openxmlformats.org/officeDocument/2006/relationships/hyperlink" Target="https://business.fiu.edu/academics/graduate/insights/posts/competitive-advantage-of-using-ai-in-business.html"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pmc.ncbi.nlm.nih.gov/articles/PMC12562033/" TargetMode="External"/><Relationship Id="rId2" Type="http://schemas.openxmlformats.org/officeDocument/2006/relationships/hyperlink" Target="https://www.anthropic.com/research/agentic-misalignment" TargetMode="External"/><Relationship Id="rId1" Type="http://schemas.openxmlformats.org/officeDocument/2006/relationships/slideLayout" Target="../slideLayouts/slideLayout2.xml"/><Relationship Id="rId5" Type="http://schemas.openxmlformats.org/officeDocument/2006/relationships/hyperlink" Target="https://www.paragonshift.com/responsible-ai-in-business-environments/" TargetMode="External"/><Relationship Id="rId4" Type="http://schemas.openxmlformats.org/officeDocument/2006/relationships/hyperlink" Target="https://www.gatesnotes.com/meet_bill/tech_thinking/reader/the_risks_of_ai_are_real_but_manageable"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companiesmarketcap.com/alphabet-google/revenue/" TargetMode="External"/><Relationship Id="rId13" Type="http://schemas.openxmlformats.org/officeDocument/2006/relationships/hyperlink" Target="https://www.anthropic.com/research/agentic-misalignment" TargetMode="External"/><Relationship Id="rId3" Type="http://schemas.openxmlformats.org/officeDocument/2006/relationships/hyperlink" Target="https://medium.com/@sandrew022000/not-everything-is-an-llm-8-ai-model-types-you-should-know-in-2025-6cc01cd6dbaf" TargetMode="External"/><Relationship Id="rId7" Type="http://schemas.openxmlformats.org/officeDocument/2006/relationships/hyperlink" Target="https://www.quantamagazine.org/ai-is-nothing-like-a-brain-and-thats-ok-20250430/" TargetMode="External"/><Relationship Id="rId12" Type="http://schemas.openxmlformats.org/officeDocument/2006/relationships/hyperlink" Target="https://jolt.law.harvard.edu/digest/why-racial-bias-is-prevalent-in-facial-recognition-technology#:~:text=Many%20of%20these%20algorithms%20were,were%20the%20most%20frequently%20misidentified" TargetMode="External"/><Relationship Id="rId2" Type="http://schemas.openxmlformats.org/officeDocument/2006/relationships/hyperlink" Target="https://postindustria.com/what-are-common-misconceptions-about-ai-machine-learning/" TargetMode="External"/><Relationship Id="rId16" Type="http://schemas.openxmlformats.org/officeDocument/2006/relationships/hyperlink" Target="https://www.paragonshift.com/responsible-ai-in-business-environments/#:~:text=and%20the%20OECD.-,Transparency,and%20how%20outputs%20are%20generated" TargetMode="External"/><Relationship Id="rId1" Type="http://schemas.openxmlformats.org/officeDocument/2006/relationships/slideLayout" Target="../slideLayouts/slideLayout2.xml"/><Relationship Id="rId6" Type="http://schemas.openxmlformats.org/officeDocument/2006/relationships/hyperlink" Target="https://cacm.acm.org/research/as-good-as-a-coin-toss-human-detection-of-ai-generated-content/" TargetMode="External"/><Relationship Id="rId11" Type="http://schemas.openxmlformats.org/officeDocument/2006/relationships/hyperlink" Target="https://www.wired.com/story/best-algorithms-struggle-recognize-black-faces-equally/" TargetMode="External"/><Relationship Id="rId5" Type="http://schemas.openxmlformats.org/officeDocument/2006/relationships/hyperlink" Target="https://www.library.hbs.edu/working-knowledge/enhance-or-eliminate-how-ai-will-likely-change-these-jobs" TargetMode="External"/><Relationship Id="rId15" Type="http://schemas.openxmlformats.org/officeDocument/2006/relationships/hyperlink" Target="https://www.gatesnotes.com/meet_bill/tech_thinking/reader/the_risks_of_ai_are_real_but_manageable" TargetMode="External"/><Relationship Id="rId10" Type="http://schemas.openxmlformats.org/officeDocument/2006/relationships/hyperlink" Target="https://www.ibm.com/think/insights/ai-privacy" TargetMode="External"/><Relationship Id="rId4" Type="http://schemas.openxmlformats.org/officeDocument/2006/relationships/hyperlink" Target="https://www.microsoft.com/en-us/ai/ai-101/generative-ai-vs-other-types-of-ai#Other-AI-types" TargetMode="External"/><Relationship Id="rId9" Type="http://schemas.openxmlformats.org/officeDocument/2006/relationships/hyperlink" Target="https://business.fiu.edu/academics/graduate/insights/posts/competitive-advantage-of-using-ai-in-business.html" TargetMode="External"/><Relationship Id="rId14" Type="http://schemas.openxmlformats.org/officeDocument/2006/relationships/hyperlink" Target="https://pmc.ncbi.nlm.nih.gov/articles/PMC1256203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2B034-6B5C-4676-8BB5-3612AD1E0A59}"/>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62345116-27DF-B6DA-17B4-2501C5D046A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 r="1933" b="42238"/>
          <a:stretch>
            <a:fillRect/>
          </a:stretch>
        </p:blipFill>
        <p:spPr>
          <a:xfrm>
            <a:off x="-1" y="0"/>
            <a:ext cx="12198593" cy="4041647"/>
          </a:xfrm>
          <a:prstGeom prst="rect">
            <a:avLst/>
          </a:prstGeom>
        </p:spPr>
      </p:pic>
      <p:sp>
        <p:nvSpPr>
          <p:cNvPr id="9" name="TextBox 8">
            <a:extLst>
              <a:ext uri="{FF2B5EF4-FFF2-40B4-BE49-F238E27FC236}">
                <a16:creationId xmlns:a16="http://schemas.microsoft.com/office/drawing/2014/main" id="{DBDC3734-CCD3-F53E-E165-A311C71A2053}"/>
              </a:ext>
            </a:extLst>
          </p:cNvPr>
          <p:cNvSpPr txBox="1"/>
          <p:nvPr/>
        </p:nvSpPr>
        <p:spPr>
          <a:xfrm>
            <a:off x="676656" y="1527048"/>
            <a:ext cx="6007608" cy="1569660"/>
          </a:xfrm>
          <a:prstGeom prst="rect">
            <a:avLst/>
          </a:prstGeom>
          <a:noFill/>
        </p:spPr>
        <p:txBody>
          <a:bodyPr wrap="square" rtlCol="0">
            <a:spAutoFit/>
          </a:bodyPr>
          <a:lstStyle/>
          <a:p>
            <a:pPr algn="ctr"/>
            <a:r>
              <a:rPr lang="en-US" sz="9600" dirty="0">
                <a:solidFill>
                  <a:schemeClr val="bg1"/>
                </a:solidFill>
                <a:latin typeface="Rockwell Extra Bold" panose="02060903040505020403" pitchFamily="18" charset="0"/>
              </a:rPr>
              <a:t>  </a:t>
            </a:r>
            <a:r>
              <a:rPr lang="en-US" sz="2000" dirty="0">
                <a:solidFill>
                  <a:schemeClr val="bg1"/>
                </a:solidFill>
                <a:latin typeface="Rockwell Extra Bold" panose="02060903040505020403" pitchFamily="18" charset="0"/>
              </a:rPr>
              <a:t>in</a:t>
            </a:r>
            <a:endParaRPr lang="en-US" sz="9600" dirty="0">
              <a:solidFill>
                <a:schemeClr val="bg1"/>
              </a:solidFill>
              <a:latin typeface="Rockwell Extra Bold" panose="02060903040505020403" pitchFamily="18" charset="0"/>
            </a:endParaRPr>
          </a:p>
        </p:txBody>
      </p:sp>
      <p:sp>
        <p:nvSpPr>
          <p:cNvPr id="10" name="TextBox 9">
            <a:extLst>
              <a:ext uri="{FF2B5EF4-FFF2-40B4-BE49-F238E27FC236}">
                <a16:creationId xmlns:a16="http://schemas.microsoft.com/office/drawing/2014/main" id="{761BCB8D-CA8A-6FF2-A3D4-55793EE124EF}"/>
              </a:ext>
            </a:extLst>
          </p:cNvPr>
          <p:cNvSpPr txBox="1"/>
          <p:nvPr/>
        </p:nvSpPr>
        <p:spPr>
          <a:xfrm>
            <a:off x="392545" y="4596878"/>
            <a:ext cx="6894576" cy="1569660"/>
          </a:xfrm>
          <a:prstGeom prst="rect">
            <a:avLst/>
          </a:prstGeom>
          <a:noFill/>
        </p:spPr>
        <p:txBody>
          <a:bodyPr wrap="square" rtlCol="0">
            <a:spAutoFit/>
          </a:bodyPr>
          <a:lstStyle/>
          <a:p>
            <a:r>
              <a:rPr lang="en-US" sz="9600" dirty="0">
                <a:gradFill>
                  <a:gsLst>
                    <a:gs pos="0">
                      <a:srgbClr val="00224F"/>
                    </a:gs>
                    <a:gs pos="74000">
                      <a:srgbClr val="2B55C4"/>
                    </a:gs>
                    <a:gs pos="83000">
                      <a:srgbClr val="AFD0FD"/>
                    </a:gs>
                    <a:gs pos="100000">
                      <a:schemeClr val="accent1">
                        <a:lumMod val="30000"/>
                        <a:lumOff val="70000"/>
                      </a:schemeClr>
                    </a:gs>
                  </a:gsLst>
                  <a:lin ang="5400000" scaled="1"/>
                </a:gradFill>
                <a:latin typeface="Rockwell Extra Bold" panose="02060903040505020403" pitchFamily="18" charset="0"/>
              </a:rPr>
              <a:t>Business</a:t>
            </a:r>
          </a:p>
        </p:txBody>
      </p:sp>
      <p:sp>
        <p:nvSpPr>
          <p:cNvPr id="11" name="Right Triangle 10">
            <a:extLst>
              <a:ext uri="{FF2B5EF4-FFF2-40B4-BE49-F238E27FC236}">
                <a16:creationId xmlns:a16="http://schemas.microsoft.com/office/drawing/2014/main" id="{7359A4FC-2048-A31F-B8CA-7946509AF506}"/>
              </a:ext>
            </a:extLst>
          </p:cNvPr>
          <p:cNvSpPr/>
          <p:nvPr/>
        </p:nvSpPr>
        <p:spPr>
          <a:xfrm>
            <a:off x="0" y="2978871"/>
            <a:ext cx="12217445" cy="3945118"/>
          </a:xfrm>
          <a:custGeom>
            <a:avLst/>
            <a:gdLst>
              <a:gd name="csX0" fmla="*/ 0 w 12198592"/>
              <a:gd name="csY0" fmla="*/ 3916837 h 3916837"/>
              <a:gd name="csX1" fmla="*/ 0 w 12198592"/>
              <a:gd name="csY1" fmla="*/ 0 h 3916837"/>
              <a:gd name="csX2" fmla="*/ 12198592 w 12198592"/>
              <a:gd name="csY2" fmla="*/ 3916837 h 3916837"/>
              <a:gd name="csX3" fmla="*/ 0 w 12198592"/>
              <a:gd name="csY3" fmla="*/ 3916837 h 3916837"/>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198592"/>
              <a:gd name="csY0" fmla="*/ 3927769 h 3927769"/>
              <a:gd name="csX1" fmla="*/ 9427 w 12198592"/>
              <a:gd name="csY1" fmla="*/ 48639 h 3927769"/>
              <a:gd name="csX2" fmla="*/ 12198592 w 12198592"/>
              <a:gd name="csY2" fmla="*/ 3927769 h 3927769"/>
              <a:gd name="csX3" fmla="*/ 0 w 12198592"/>
              <a:gd name="csY3" fmla="*/ 3927769 h 3927769"/>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217445"/>
              <a:gd name="csY0" fmla="*/ 3879130 h 3945118"/>
              <a:gd name="csX1" fmla="*/ 9427 w 12217445"/>
              <a:gd name="csY1" fmla="*/ 0 h 3945118"/>
              <a:gd name="csX2" fmla="*/ 12217445 w 12217445"/>
              <a:gd name="csY2" fmla="*/ 3945118 h 3945118"/>
              <a:gd name="csX3" fmla="*/ 0 w 12217445"/>
              <a:gd name="csY3" fmla="*/ 3879130 h 3945118"/>
              <a:gd name="csX0" fmla="*/ 0 w 12217445"/>
              <a:gd name="csY0" fmla="*/ 3879130 h 3945118"/>
              <a:gd name="csX1" fmla="*/ 9427 w 12217445"/>
              <a:gd name="csY1" fmla="*/ 0 h 3945118"/>
              <a:gd name="csX2" fmla="*/ 12217445 w 12217445"/>
              <a:gd name="csY2" fmla="*/ 3945118 h 3945118"/>
              <a:gd name="csX3" fmla="*/ 0 w 12217445"/>
              <a:gd name="csY3" fmla="*/ 3879130 h 3945118"/>
            </a:gdLst>
            <a:ahLst/>
            <a:cxnLst>
              <a:cxn ang="0">
                <a:pos x="csX0" y="csY0"/>
              </a:cxn>
              <a:cxn ang="0">
                <a:pos x="csX1" y="csY1"/>
              </a:cxn>
              <a:cxn ang="0">
                <a:pos x="csX2" y="csY2"/>
              </a:cxn>
              <a:cxn ang="0">
                <a:pos x="csX3" y="csY3"/>
              </a:cxn>
            </a:cxnLst>
            <a:rect l="l" t="t" r="r" b="b"/>
            <a:pathLst>
              <a:path w="12217445" h="3945118">
                <a:moveTo>
                  <a:pt x="0" y="3879130"/>
                </a:moveTo>
                <a:cubicBezTo>
                  <a:pt x="3142" y="2586087"/>
                  <a:pt x="6285" y="1293043"/>
                  <a:pt x="9427" y="0"/>
                </a:cubicBezTo>
                <a:cubicBezTo>
                  <a:pt x="4185603" y="1570"/>
                  <a:pt x="8088403" y="2614368"/>
                  <a:pt x="12217445" y="3945118"/>
                </a:cubicBezTo>
                <a:lnTo>
                  <a:pt x="0" y="3879130"/>
                </a:lnTo>
                <a:close/>
              </a:path>
            </a:pathLst>
          </a:custGeom>
          <a:solidFill>
            <a:srgbClr val="4454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ight Triangle 10">
            <a:extLst>
              <a:ext uri="{FF2B5EF4-FFF2-40B4-BE49-F238E27FC236}">
                <a16:creationId xmlns:a16="http://schemas.microsoft.com/office/drawing/2014/main" id="{13D45FF5-EB64-BFC1-929B-EBEFBF4FFE47}"/>
              </a:ext>
            </a:extLst>
          </p:cNvPr>
          <p:cNvSpPr/>
          <p:nvPr/>
        </p:nvSpPr>
        <p:spPr>
          <a:xfrm rot="10800000">
            <a:off x="-1" y="-58182"/>
            <a:ext cx="12226873" cy="3945117"/>
          </a:xfrm>
          <a:custGeom>
            <a:avLst/>
            <a:gdLst>
              <a:gd name="csX0" fmla="*/ 0 w 12198592"/>
              <a:gd name="csY0" fmla="*/ 3916837 h 3916837"/>
              <a:gd name="csX1" fmla="*/ 0 w 12198592"/>
              <a:gd name="csY1" fmla="*/ 0 h 3916837"/>
              <a:gd name="csX2" fmla="*/ 12198592 w 12198592"/>
              <a:gd name="csY2" fmla="*/ 3916837 h 3916837"/>
              <a:gd name="csX3" fmla="*/ 0 w 12198592"/>
              <a:gd name="csY3" fmla="*/ 3916837 h 3916837"/>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198592"/>
              <a:gd name="csY0" fmla="*/ 3927769 h 3927769"/>
              <a:gd name="csX1" fmla="*/ 9427 w 12198592"/>
              <a:gd name="csY1" fmla="*/ 48639 h 3927769"/>
              <a:gd name="csX2" fmla="*/ 12198592 w 12198592"/>
              <a:gd name="csY2" fmla="*/ 3927769 h 3927769"/>
              <a:gd name="csX3" fmla="*/ 0 w 12198592"/>
              <a:gd name="csY3" fmla="*/ 3927769 h 3927769"/>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217445"/>
              <a:gd name="csY0" fmla="*/ 3879130 h 3945118"/>
              <a:gd name="csX1" fmla="*/ 9427 w 12217445"/>
              <a:gd name="csY1" fmla="*/ 0 h 3945118"/>
              <a:gd name="csX2" fmla="*/ 12217445 w 12217445"/>
              <a:gd name="csY2" fmla="*/ 3945118 h 3945118"/>
              <a:gd name="csX3" fmla="*/ 0 w 12217445"/>
              <a:gd name="csY3" fmla="*/ 3879130 h 3945118"/>
              <a:gd name="csX0" fmla="*/ 0 w 12217445"/>
              <a:gd name="csY0" fmla="*/ 3879130 h 3945118"/>
              <a:gd name="csX1" fmla="*/ 9427 w 12217445"/>
              <a:gd name="csY1" fmla="*/ 0 h 3945118"/>
              <a:gd name="csX2" fmla="*/ 12217445 w 12217445"/>
              <a:gd name="csY2" fmla="*/ 3945118 h 3945118"/>
              <a:gd name="csX3" fmla="*/ 0 w 12217445"/>
              <a:gd name="csY3" fmla="*/ 3879130 h 3945118"/>
            </a:gdLst>
            <a:ahLst/>
            <a:cxnLst>
              <a:cxn ang="0">
                <a:pos x="csX0" y="csY0"/>
              </a:cxn>
              <a:cxn ang="0">
                <a:pos x="csX1" y="csY1"/>
              </a:cxn>
              <a:cxn ang="0">
                <a:pos x="csX2" y="csY2"/>
              </a:cxn>
              <a:cxn ang="0">
                <a:pos x="csX3" y="csY3"/>
              </a:cxn>
            </a:cxnLst>
            <a:rect l="l" t="t" r="r" b="b"/>
            <a:pathLst>
              <a:path w="12217445" h="3945118">
                <a:moveTo>
                  <a:pt x="0" y="3879130"/>
                </a:moveTo>
                <a:cubicBezTo>
                  <a:pt x="3142" y="2586087"/>
                  <a:pt x="6285" y="1293043"/>
                  <a:pt x="9427" y="0"/>
                </a:cubicBezTo>
                <a:cubicBezTo>
                  <a:pt x="4185603" y="1570"/>
                  <a:pt x="8088403" y="2614368"/>
                  <a:pt x="12217445" y="3945118"/>
                </a:cubicBezTo>
                <a:lnTo>
                  <a:pt x="0" y="3879130"/>
                </a:lnTo>
                <a:close/>
              </a:path>
            </a:pathLst>
          </a:custGeom>
          <a:solidFill>
            <a:schemeClr val="tx2"/>
          </a:solidFill>
          <a:ln>
            <a:solidFill>
              <a:srgbClr val="002D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Graphic 27" descr="Airplane with solid fill">
            <a:extLst>
              <a:ext uri="{FF2B5EF4-FFF2-40B4-BE49-F238E27FC236}">
                <a16:creationId xmlns:a16="http://schemas.microsoft.com/office/drawing/2014/main" id="{E8E291A1-27CF-80F6-6CF3-933BA5BE74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7820025" y="4155647"/>
            <a:ext cx="914400" cy="914400"/>
          </a:xfrm>
          <a:prstGeom prst="rect">
            <a:avLst/>
          </a:prstGeom>
        </p:spPr>
      </p:pic>
      <p:cxnSp>
        <p:nvCxnSpPr>
          <p:cNvPr id="30" name="Straight Connector 29">
            <a:extLst>
              <a:ext uri="{FF2B5EF4-FFF2-40B4-BE49-F238E27FC236}">
                <a16:creationId xmlns:a16="http://schemas.microsoft.com/office/drawing/2014/main" id="{CA52540A-4710-B25B-80CA-57B8712BF3BB}"/>
              </a:ext>
            </a:extLst>
          </p:cNvPr>
          <p:cNvCxnSpPr/>
          <p:nvPr/>
        </p:nvCxnSpPr>
        <p:spPr>
          <a:xfrm>
            <a:off x="8734425" y="4596878"/>
            <a:ext cx="2619375" cy="0"/>
          </a:xfrm>
          <a:prstGeom prst="line">
            <a:avLst/>
          </a:prstGeom>
        </p:spPr>
        <p:style>
          <a:lnRef idx="3">
            <a:schemeClr val="accent5"/>
          </a:lnRef>
          <a:fillRef idx="0">
            <a:schemeClr val="accent5"/>
          </a:fillRef>
          <a:effectRef idx="2">
            <a:schemeClr val="accent5"/>
          </a:effectRef>
          <a:fontRef idx="minor">
            <a:schemeClr val="tx1"/>
          </a:fontRef>
        </p:style>
      </p:cxnSp>
      <p:sp>
        <p:nvSpPr>
          <p:cNvPr id="31" name="TextBox 30">
            <a:extLst>
              <a:ext uri="{FF2B5EF4-FFF2-40B4-BE49-F238E27FC236}">
                <a16:creationId xmlns:a16="http://schemas.microsoft.com/office/drawing/2014/main" id="{83537B24-4B3E-B3FE-3D71-93264947E8CD}"/>
              </a:ext>
            </a:extLst>
          </p:cNvPr>
          <p:cNvSpPr txBox="1"/>
          <p:nvPr/>
        </p:nvSpPr>
        <p:spPr>
          <a:xfrm>
            <a:off x="11353800" y="4442989"/>
            <a:ext cx="762000" cy="307777"/>
          </a:xfrm>
          <a:prstGeom prst="rect">
            <a:avLst/>
          </a:prstGeom>
          <a:noFill/>
        </p:spPr>
        <p:txBody>
          <a:bodyPr wrap="square" rtlCol="0">
            <a:spAutoFit/>
          </a:bodyPr>
          <a:lstStyle/>
          <a:p>
            <a:r>
              <a:rPr lang="en-US" sz="1400" dirty="0">
                <a:solidFill>
                  <a:schemeClr val="accent1">
                    <a:lumMod val="75000"/>
                  </a:schemeClr>
                </a:solidFill>
              </a:rPr>
              <a:t>&gt; &gt; &gt;</a:t>
            </a:r>
          </a:p>
        </p:txBody>
      </p:sp>
      <p:sp>
        <p:nvSpPr>
          <p:cNvPr id="33" name="TextBox 32">
            <a:extLst>
              <a:ext uri="{FF2B5EF4-FFF2-40B4-BE49-F238E27FC236}">
                <a16:creationId xmlns:a16="http://schemas.microsoft.com/office/drawing/2014/main" id="{722ECF83-7E11-BEAE-3528-013C64460233}"/>
              </a:ext>
            </a:extLst>
          </p:cNvPr>
          <p:cNvSpPr txBox="1"/>
          <p:nvPr/>
        </p:nvSpPr>
        <p:spPr>
          <a:xfrm>
            <a:off x="9137605" y="4612847"/>
            <a:ext cx="2114550" cy="369332"/>
          </a:xfrm>
          <a:prstGeom prst="rect">
            <a:avLst/>
          </a:prstGeom>
          <a:noFill/>
        </p:spPr>
        <p:txBody>
          <a:bodyPr wrap="square" rtlCol="0">
            <a:spAutoFit/>
          </a:bodyPr>
          <a:lstStyle/>
          <a:p>
            <a:r>
              <a:rPr lang="en-US" spc="300" dirty="0">
                <a:solidFill>
                  <a:schemeClr val="accent1">
                    <a:lumMod val="75000"/>
                  </a:schemeClr>
                </a:solidFill>
                <a:latin typeface="Ink Free" panose="03080402000500000000" pitchFamily="66" charset="0"/>
              </a:rPr>
              <a:t>Loading . . .</a:t>
            </a:r>
          </a:p>
        </p:txBody>
      </p:sp>
      <p:pic>
        <p:nvPicPr>
          <p:cNvPr id="3" name="Picture 2" descr="Ai Icon PNGs for Free Download">
            <a:extLst>
              <a:ext uri="{FF2B5EF4-FFF2-40B4-BE49-F238E27FC236}">
                <a16:creationId xmlns:a16="http://schemas.microsoft.com/office/drawing/2014/main" id="{B33AB984-DC93-4094-EB06-DDF61D83BE07}"/>
              </a:ext>
            </a:extLst>
          </p:cNvPr>
          <p:cNvPicPr>
            <a:picLocks noChangeAspect="1"/>
          </p:cNvPicPr>
          <p:nvPr/>
        </p:nvPicPr>
        <p:blipFill>
          <a:blip r:embed="rId4"/>
          <a:stretch>
            <a:fillRect/>
          </a:stretch>
        </p:blipFill>
        <p:spPr>
          <a:xfrm>
            <a:off x="1817649" y="1269047"/>
            <a:ext cx="1862811" cy="1862811"/>
          </a:xfrm>
          <a:prstGeom prst="rect">
            <a:avLst/>
          </a:prstGeom>
        </p:spPr>
      </p:pic>
    </p:spTree>
    <p:extLst>
      <p:ext uri="{BB962C8B-B14F-4D97-AF65-F5344CB8AC3E}">
        <p14:creationId xmlns:p14="http://schemas.microsoft.com/office/powerpoint/2010/main" val="283701965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3.75E-6 4.81481E-6 L 0.38047 -0.00463 " pathEditMode="relative" rAng="0" ptsTypes="AA">
                                      <p:cBhvr>
                                        <p:cTn id="6" dur="2000" fill="hold"/>
                                        <p:tgtEl>
                                          <p:spTgt spid="28"/>
                                        </p:tgtEl>
                                        <p:attrNameLst>
                                          <p:attrName>ppt_x</p:attrName>
                                          <p:attrName>ppt_y</p:attrName>
                                        </p:attrNameLst>
                                      </p:cBhvr>
                                      <p:rCtr x="19023" y="-2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3BE65-9ADF-F454-B9CB-C2FF489A6A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5BB110-DE8D-4399-574A-D0D3FDEF74FB}"/>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D068AC1E-5323-0F96-CDCF-84FA3FBB5EC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 r="1933" b="42238"/>
          <a:stretch>
            <a:fillRect/>
          </a:stretch>
        </p:blipFill>
        <p:spPr>
          <a:xfrm>
            <a:off x="-1" y="0"/>
            <a:ext cx="12198593" cy="4041647"/>
          </a:xfrm>
          <a:prstGeom prst="rect">
            <a:avLst/>
          </a:prstGeom>
        </p:spPr>
      </p:pic>
      <p:sp>
        <p:nvSpPr>
          <p:cNvPr id="9" name="TextBox 8">
            <a:extLst>
              <a:ext uri="{FF2B5EF4-FFF2-40B4-BE49-F238E27FC236}">
                <a16:creationId xmlns:a16="http://schemas.microsoft.com/office/drawing/2014/main" id="{1A6EF2A8-9B08-29AC-46B7-540F7EBB4AC9}"/>
              </a:ext>
            </a:extLst>
          </p:cNvPr>
          <p:cNvSpPr txBox="1"/>
          <p:nvPr/>
        </p:nvSpPr>
        <p:spPr>
          <a:xfrm>
            <a:off x="676656" y="1527048"/>
            <a:ext cx="6007608" cy="1569660"/>
          </a:xfrm>
          <a:prstGeom prst="rect">
            <a:avLst/>
          </a:prstGeom>
          <a:noFill/>
        </p:spPr>
        <p:txBody>
          <a:bodyPr wrap="square" rtlCol="0">
            <a:spAutoFit/>
          </a:bodyPr>
          <a:lstStyle/>
          <a:p>
            <a:pPr algn="ctr"/>
            <a:r>
              <a:rPr lang="en-US" sz="9600" dirty="0">
                <a:solidFill>
                  <a:schemeClr val="bg1"/>
                </a:solidFill>
                <a:latin typeface="Rockwell Extra Bold" panose="02060903040505020403" pitchFamily="18" charset="0"/>
              </a:rPr>
              <a:t>  </a:t>
            </a:r>
            <a:r>
              <a:rPr lang="en-US" sz="2000" dirty="0">
                <a:solidFill>
                  <a:schemeClr val="bg1"/>
                </a:solidFill>
                <a:latin typeface="Rockwell Extra Bold" panose="02060903040505020403" pitchFamily="18" charset="0"/>
              </a:rPr>
              <a:t>in</a:t>
            </a:r>
            <a:endParaRPr lang="en-US" sz="9600" dirty="0">
              <a:solidFill>
                <a:schemeClr val="bg1"/>
              </a:solidFill>
              <a:latin typeface="Rockwell Extra Bold" panose="02060903040505020403" pitchFamily="18" charset="0"/>
            </a:endParaRPr>
          </a:p>
        </p:txBody>
      </p:sp>
      <p:sp>
        <p:nvSpPr>
          <p:cNvPr id="10" name="TextBox 9">
            <a:extLst>
              <a:ext uri="{FF2B5EF4-FFF2-40B4-BE49-F238E27FC236}">
                <a16:creationId xmlns:a16="http://schemas.microsoft.com/office/drawing/2014/main" id="{BD216B5D-EDE8-21F5-1183-679623DC30F0}"/>
              </a:ext>
            </a:extLst>
          </p:cNvPr>
          <p:cNvSpPr txBox="1"/>
          <p:nvPr/>
        </p:nvSpPr>
        <p:spPr>
          <a:xfrm>
            <a:off x="392545" y="4596878"/>
            <a:ext cx="6894576" cy="1569660"/>
          </a:xfrm>
          <a:prstGeom prst="rect">
            <a:avLst/>
          </a:prstGeom>
          <a:noFill/>
        </p:spPr>
        <p:txBody>
          <a:bodyPr wrap="square" rtlCol="0">
            <a:spAutoFit/>
          </a:bodyPr>
          <a:lstStyle/>
          <a:p>
            <a:r>
              <a:rPr lang="en-US" sz="9600" dirty="0">
                <a:gradFill>
                  <a:gsLst>
                    <a:gs pos="0">
                      <a:srgbClr val="00224F"/>
                    </a:gs>
                    <a:gs pos="74000">
                      <a:srgbClr val="2B55C4"/>
                    </a:gs>
                    <a:gs pos="83000">
                      <a:srgbClr val="AFD0FD"/>
                    </a:gs>
                    <a:gs pos="100000">
                      <a:schemeClr val="accent1">
                        <a:lumMod val="30000"/>
                        <a:lumOff val="70000"/>
                      </a:schemeClr>
                    </a:gs>
                  </a:gsLst>
                  <a:lin ang="5400000" scaled="1"/>
                </a:gradFill>
                <a:latin typeface="Rockwell Extra Bold" panose="02060903040505020403" pitchFamily="18" charset="0"/>
              </a:rPr>
              <a:t>Business</a:t>
            </a:r>
          </a:p>
        </p:txBody>
      </p:sp>
      <p:sp>
        <p:nvSpPr>
          <p:cNvPr id="11" name="Right Triangle 10">
            <a:extLst>
              <a:ext uri="{FF2B5EF4-FFF2-40B4-BE49-F238E27FC236}">
                <a16:creationId xmlns:a16="http://schemas.microsoft.com/office/drawing/2014/main" id="{FE48EE89-3BA5-B3A4-695C-84FECD7AEFF8}"/>
              </a:ext>
            </a:extLst>
          </p:cNvPr>
          <p:cNvSpPr/>
          <p:nvPr/>
        </p:nvSpPr>
        <p:spPr>
          <a:xfrm>
            <a:off x="-3870036" y="5020107"/>
            <a:ext cx="12217445" cy="3945118"/>
          </a:xfrm>
          <a:custGeom>
            <a:avLst/>
            <a:gdLst>
              <a:gd name="csX0" fmla="*/ 0 w 12198592"/>
              <a:gd name="csY0" fmla="*/ 3916837 h 3916837"/>
              <a:gd name="csX1" fmla="*/ 0 w 12198592"/>
              <a:gd name="csY1" fmla="*/ 0 h 3916837"/>
              <a:gd name="csX2" fmla="*/ 12198592 w 12198592"/>
              <a:gd name="csY2" fmla="*/ 3916837 h 3916837"/>
              <a:gd name="csX3" fmla="*/ 0 w 12198592"/>
              <a:gd name="csY3" fmla="*/ 3916837 h 3916837"/>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198592"/>
              <a:gd name="csY0" fmla="*/ 3927769 h 3927769"/>
              <a:gd name="csX1" fmla="*/ 9427 w 12198592"/>
              <a:gd name="csY1" fmla="*/ 48639 h 3927769"/>
              <a:gd name="csX2" fmla="*/ 12198592 w 12198592"/>
              <a:gd name="csY2" fmla="*/ 3927769 h 3927769"/>
              <a:gd name="csX3" fmla="*/ 0 w 12198592"/>
              <a:gd name="csY3" fmla="*/ 3927769 h 3927769"/>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217445"/>
              <a:gd name="csY0" fmla="*/ 3879130 h 3945118"/>
              <a:gd name="csX1" fmla="*/ 9427 w 12217445"/>
              <a:gd name="csY1" fmla="*/ 0 h 3945118"/>
              <a:gd name="csX2" fmla="*/ 12217445 w 12217445"/>
              <a:gd name="csY2" fmla="*/ 3945118 h 3945118"/>
              <a:gd name="csX3" fmla="*/ 0 w 12217445"/>
              <a:gd name="csY3" fmla="*/ 3879130 h 3945118"/>
              <a:gd name="csX0" fmla="*/ 0 w 12217445"/>
              <a:gd name="csY0" fmla="*/ 3879130 h 3945118"/>
              <a:gd name="csX1" fmla="*/ 9427 w 12217445"/>
              <a:gd name="csY1" fmla="*/ 0 h 3945118"/>
              <a:gd name="csX2" fmla="*/ 12217445 w 12217445"/>
              <a:gd name="csY2" fmla="*/ 3945118 h 3945118"/>
              <a:gd name="csX3" fmla="*/ 0 w 12217445"/>
              <a:gd name="csY3" fmla="*/ 3879130 h 3945118"/>
            </a:gdLst>
            <a:ahLst/>
            <a:cxnLst>
              <a:cxn ang="0">
                <a:pos x="csX0" y="csY0"/>
              </a:cxn>
              <a:cxn ang="0">
                <a:pos x="csX1" y="csY1"/>
              </a:cxn>
              <a:cxn ang="0">
                <a:pos x="csX2" y="csY2"/>
              </a:cxn>
              <a:cxn ang="0">
                <a:pos x="csX3" y="csY3"/>
              </a:cxn>
            </a:cxnLst>
            <a:rect l="l" t="t" r="r" b="b"/>
            <a:pathLst>
              <a:path w="12217445" h="3945118">
                <a:moveTo>
                  <a:pt x="0" y="3879130"/>
                </a:moveTo>
                <a:cubicBezTo>
                  <a:pt x="3142" y="2586087"/>
                  <a:pt x="6285" y="1293043"/>
                  <a:pt x="9427" y="0"/>
                </a:cubicBezTo>
                <a:cubicBezTo>
                  <a:pt x="4185603" y="1570"/>
                  <a:pt x="8088403" y="2614368"/>
                  <a:pt x="12217445" y="3945118"/>
                </a:cubicBezTo>
                <a:lnTo>
                  <a:pt x="0" y="3879130"/>
                </a:lnTo>
                <a:close/>
              </a:path>
            </a:pathLst>
          </a:custGeom>
          <a:solidFill>
            <a:srgbClr val="4454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ight Triangle 10">
            <a:extLst>
              <a:ext uri="{FF2B5EF4-FFF2-40B4-BE49-F238E27FC236}">
                <a16:creationId xmlns:a16="http://schemas.microsoft.com/office/drawing/2014/main" id="{1D9DA5AB-176E-FE68-9AAB-33A9B52FC2B0}"/>
              </a:ext>
            </a:extLst>
          </p:cNvPr>
          <p:cNvSpPr/>
          <p:nvPr/>
        </p:nvSpPr>
        <p:spPr>
          <a:xfrm rot="10800000">
            <a:off x="1800518" y="-2254430"/>
            <a:ext cx="12217445" cy="3945118"/>
          </a:xfrm>
          <a:custGeom>
            <a:avLst/>
            <a:gdLst>
              <a:gd name="csX0" fmla="*/ 0 w 12198592"/>
              <a:gd name="csY0" fmla="*/ 3916837 h 3916837"/>
              <a:gd name="csX1" fmla="*/ 0 w 12198592"/>
              <a:gd name="csY1" fmla="*/ 0 h 3916837"/>
              <a:gd name="csX2" fmla="*/ 12198592 w 12198592"/>
              <a:gd name="csY2" fmla="*/ 3916837 h 3916837"/>
              <a:gd name="csX3" fmla="*/ 0 w 12198592"/>
              <a:gd name="csY3" fmla="*/ 3916837 h 3916837"/>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198592"/>
              <a:gd name="csY0" fmla="*/ 3927769 h 3927769"/>
              <a:gd name="csX1" fmla="*/ 9427 w 12198592"/>
              <a:gd name="csY1" fmla="*/ 48639 h 3927769"/>
              <a:gd name="csX2" fmla="*/ 12198592 w 12198592"/>
              <a:gd name="csY2" fmla="*/ 3927769 h 3927769"/>
              <a:gd name="csX3" fmla="*/ 0 w 12198592"/>
              <a:gd name="csY3" fmla="*/ 3927769 h 3927769"/>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217445"/>
              <a:gd name="csY0" fmla="*/ 3879130 h 3945118"/>
              <a:gd name="csX1" fmla="*/ 9427 w 12217445"/>
              <a:gd name="csY1" fmla="*/ 0 h 3945118"/>
              <a:gd name="csX2" fmla="*/ 12217445 w 12217445"/>
              <a:gd name="csY2" fmla="*/ 3945118 h 3945118"/>
              <a:gd name="csX3" fmla="*/ 0 w 12217445"/>
              <a:gd name="csY3" fmla="*/ 3879130 h 3945118"/>
              <a:gd name="csX0" fmla="*/ 0 w 12217445"/>
              <a:gd name="csY0" fmla="*/ 3879130 h 3945118"/>
              <a:gd name="csX1" fmla="*/ 9427 w 12217445"/>
              <a:gd name="csY1" fmla="*/ 0 h 3945118"/>
              <a:gd name="csX2" fmla="*/ 12217445 w 12217445"/>
              <a:gd name="csY2" fmla="*/ 3945118 h 3945118"/>
              <a:gd name="csX3" fmla="*/ 0 w 12217445"/>
              <a:gd name="csY3" fmla="*/ 3879130 h 3945118"/>
            </a:gdLst>
            <a:ahLst/>
            <a:cxnLst>
              <a:cxn ang="0">
                <a:pos x="csX0" y="csY0"/>
              </a:cxn>
              <a:cxn ang="0">
                <a:pos x="csX1" y="csY1"/>
              </a:cxn>
              <a:cxn ang="0">
                <a:pos x="csX2" y="csY2"/>
              </a:cxn>
              <a:cxn ang="0">
                <a:pos x="csX3" y="csY3"/>
              </a:cxn>
            </a:cxnLst>
            <a:rect l="l" t="t" r="r" b="b"/>
            <a:pathLst>
              <a:path w="12217445" h="3945118">
                <a:moveTo>
                  <a:pt x="0" y="3879130"/>
                </a:moveTo>
                <a:cubicBezTo>
                  <a:pt x="3142" y="2586087"/>
                  <a:pt x="6285" y="1293043"/>
                  <a:pt x="9427" y="0"/>
                </a:cubicBezTo>
                <a:cubicBezTo>
                  <a:pt x="4185603" y="1570"/>
                  <a:pt x="8088403" y="2614368"/>
                  <a:pt x="12217445" y="3945118"/>
                </a:cubicBezTo>
                <a:lnTo>
                  <a:pt x="0" y="3879130"/>
                </a:lnTo>
                <a:close/>
              </a:path>
            </a:pathLst>
          </a:custGeom>
          <a:solidFill>
            <a:schemeClr val="tx2"/>
          </a:solidFill>
          <a:ln>
            <a:solidFill>
              <a:srgbClr val="002D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a:extLst>
              <a:ext uri="{FF2B5EF4-FFF2-40B4-BE49-F238E27FC236}">
                <a16:creationId xmlns:a16="http://schemas.microsoft.com/office/drawing/2014/main" id="{94A5E18E-E3FE-342F-FBCA-D97D1EC3349C}"/>
              </a:ext>
            </a:extLst>
          </p:cNvPr>
          <p:cNvCxnSpPr/>
          <p:nvPr/>
        </p:nvCxnSpPr>
        <p:spPr>
          <a:xfrm>
            <a:off x="8734425" y="4596878"/>
            <a:ext cx="2619375" cy="0"/>
          </a:xfrm>
          <a:prstGeom prst="line">
            <a:avLst/>
          </a:prstGeom>
        </p:spPr>
        <p:style>
          <a:lnRef idx="3">
            <a:schemeClr val="accent5"/>
          </a:lnRef>
          <a:fillRef idx="0">
            <a:schemeClr val="accent5"/>
          </a:fillRef>
          <a:effectRef idx="2">
            <a:schemeClr val="accent5"/>
          </a:effectRef>
          <a:fontRef idx="minor">
            <a:schemeClr val="tx1"/>
          </a:fontRef>
        </p:style>
      </p:cxnSp>
      <p:sp>
        <p:nvSpPr>
          <p:cNvPr id="17" name="TextBox 16">
            <a:extLst>
              <a:ext uri="{FF2B5EF4-FFF2-40B4-BE49-F238E27FC236}">
                <a16:creationId xmlns:a16="http://schemas.microsoft.com/office/drawing/2014/main" id="{7C0790CF-3AE9-582C-4DDB-A63F719EBB9D}"/>
              </a:ext>
            </a:extLst>
          </p:cNvPr>
          <p:cNvSpPr txBox="1"/>
          <p:nvPr/>
        </p:nvSpPr>
        <p:spPr>
          <a:xfrm>
            <a:off x="11353800" y="4442989"/>
            <a:ext cx="762000" cy="307777"/>
          </a:xfrm>
          <a:prstGeom prst="rect">
            <a:avLst/>
          </a:prstGeom>
          <a:noFill/>
        </p:spPr>
        <p:txBody>
          <a:bodyPr wrap="square" rtlCol="0">
            <a:spAutoFit/>
          </a:bodyPr>
          <a:lstStyle/>
          <a:p>
            <a:r>
              <a:rPr lang="en-US" sz="1400" dirty="0">
                <a:solidFill>
                  <a:schemeClr val="accent1">
                    <a:lumMod val="75000"/>
                  </a:schemeClr>
                </a:solidFill>
              </a:rPr>
              <a:t>&gt; &gt; &gt;</a:t>
            </a:r>
          </a:p>
        </p:txBody>
      </p:sp>
      <p:sp>
        <p:nvSpPr>
          <p:cNvPr id="18" name="TextBox 17">
            <a:extLst>
              <a:ext uri="{FF2B5EF4-FFF2-40B4-BE49-F238E27FC236}">
                <a16:creationId xmlns:a16="http://schemas.microsoft.com/office/drawing/2014/main" id="{AF7C0429-383A-785E-C1DA-E905EB91D139}"/>
              </a:ext>
            </a:extLst>
          </p:cNvPr>
          <p:cNvSpPr txBox="1"/>
          <p:nvPr/>
        </p:nvSpPr>
        <p:spPr>
          <a:xfrm>
            <a:off x="9137605" y="4612847"/>
            <a:ext cx="2114550" cy="369332"/>
          </a:xfrm>
          <a:prstGeom prst="rect">
            <a:avLst/>
          </a:prstGeom>
          <a:noFill/>
        </p:spPr>
        <p:txBody>
          <a:bodyPr wrap="square" rtlCol="0">
            <a:spAutoFit/>
          </a:bodyPr>
          <a:lstStyle/>
          <a:p>
            <a:r>
              <a:rPr lang="en-US" spc="300" dirty="0">
                <a:solidFill>
                  <a:schemeClr val="accent1">
                    <a:lumMod val="75000"/>
                  </a:schemeClr>
                </a:solidFill>
                <a:latin typeface="Ink Free" panose="03080402000500000000" pitchFamily="66" charset="0"/>
              </a:rPr>
              <a:t>Loading . . .</a:t>
            </a:r>
          </a:p>
        </p:txBody>
      </p:sp>
      <p:pic>
        <p:nvPicPr>
          <p:cNvPr id="22" name="Graphic 21" descr="Airplane with solid fill">
            <a:extLst>
              <a:ext uri="{FF2B5EF4-FFF2-40B4-BE49-F238E27FC236}">
                <a16:creationId xmlns:a16="http://schemas.microsoft.com/office/drawing/2014/main" id="{284EA9D8-02DA-0876-7281-221890E0BA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7313200">
            <a:off x="12343904" y="4041647"/>
            <a:ext cx="914400" cy="914400"/>
          </a:xfrm>
          <a:prstGeom prst="rect">
            <a:avLst/>
          </a:prstGeom>
        </p:spPr>
      </p:pic>
      <p:pic>
        <p:nvPicPr>
          <p:cNvPr id="23" name="Graphic 22" descr="Airplane with solid fill">
            <a:extLst>
              <a:ext uri="{FF2B5EF4-FFF2-40B4-BE49-F238E27FC236}">
                <a16:creationId xmlns:a16="http://schemas.microsoft.com/office/drawing/2014/main" id="{B7592A58-B248-28D2-FE89-D4630441AF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47879" y="6979712"/>
            <a:ext cx="914400" cy="914400"/>
          </a:xfrm>
          <a:prstGeom prst="rect">
            <a:avLst/>
          </a:prstGeom>
        </p:spPr>
      </p:pic>
      <p:pic>
        <p:nvPicPr>
          <p:cNvPr id="24" name="Graphic 23" descr="Airplane with solid fill">
            <a:extLst>
              <a:ext uri="{FF2B5EF4-FFF2-40B4-BE49-F238E27FC236}">
                <a16:creationId xmlns:a16="http://schemas.microsoft.com/office/drawing/2014/main" id="{AE79B177-3633-B7ED-D4C5-0C925F967F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1517489" y="3985789"/>
            <a:ext cx="914400" cy="914400"/>
          </a:xfrm>
          <a:prstGeom prst="rect">
            <a:avLst/>
          </a:prstGeom>
        </p:spPr>
      </p:pic>
      <p:sp>
        <p:nvSpPr>
          <p:cNvPr id="25" name="TextBox 24">
            <a:extLst>
              <a:ext uri="{FF2B5EF4-FFF2-40B4-BE49-F238E27FC236}">
                <a16:creationId xmlns:a16="http://schemas.microsoft.com/office/drawing/2014/main" id="{F5EEBA05-F743-FE8A-6597-BF42F961A587}"/>
              </a:ext>
            </a:extLst>
          </p:cNvPr>
          <p:cNvSpPr txBox="1"/>
          <p:nvPr/>
        </p:nvSpPr>
        <p:spPr>
          <a:xfrm>
            <a:off x="8453799" y="5077761"/>
            <a:ext cx="3381375" cy="369332"/>
          </a:xfrm>
          <a:prstGeom prst="rect">
            <a:avLst/>
          </a:prstGeom>
          <a:noFill/>
        </p:spPr>
        <p:txBody>
          <a:bodyPr wrap="square" rtlCol="0">
            <a:spAutoFit/>
          </a:bodyPr>
          <a:lstStyle/>
          <a:p>
            <a:pPr algn="ctr"/>
            <a:r>
              <a:rPr lang="en-US" dirty="0"/>
              <a:t>By: </a:t>
            </a:r>
            <a:r>
              <a:rPr lang="en-US" dirty="0">
                <a:latin typeface="Courier New" panose="02070309020205020404" pitchFamily="49" charset="0"/>
                <a:cs typeface="Courier New" panose="02070309020205020404" pitchFamily="49" charset="0"/>
              </a:rPr>
              <a:t>Yashas Tayal</a:t>
            </a:r>
          </a:p>
        </p:txBody>
      </p:sp>
      <p:sp>
        <p:nvSpPr>
          <p:cNvPr id="3" name="Rectangle 2">
            <a:extLst>
              <a:ext uri="{FF2B5EF4-FFF2-40B4-BE49-F238E27FC236}">
                <a16:creationId xmlns:a16="http://schemas.microsoft.com/office/drawing/2014/main" id="{B118D231-1132-96F2-2F56-CF45885D3502}"/>
              </a:ext>
            </a:extLst>
          </p:cNvPr>
          <p:cNvSpPr/>
          <p:nvPr/>
        </p:nvSpPr>
        <p:spPr>
          <a:xfrm rot="1321717">
            <a:off x="-13238054" y="-3381117"/>
            <a:ext cx="14001442" cy="3750845"/>
          </a:xfrm>
          <a:custGeom>
            <a:avLst/>
            <a:gdLst>
              <a:gd name="csX0" fmla="*/ 0 w 12844974"/>
              <a:gd name="csY0" fmla="*/ 0 h 1931490"/>
              <a:gd name="csX1" fmla="*/ 12844974 w 12844974"/>
              <a:gd name="csY1" fmla="*/ 0 h 1931490"/>
              <a:gd name="csX2" fmla="*/ 12844974 w 12844974"/>
              <a:gd name="csY2" fmla="*/ 1931490 h 1931490"/>
              <a:gd name="csX3" fmla="*/ 0 w 12844974"/>
              <a:gd name="csY3" fmla="*/ 1931490 h 1931490"/>
              <a:gd name="csX4" fmla="*/ 0 w 12844974"/>
              <a:gd name="csY4" fmla="*/ 0 h 1931490"/>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3714640"/>
              <a:gd name="csY0" fmla="*/ 0 h 2825616"/>
              <a:gd name="csX1" fmla="*/ 12844974 w 13714640"/>
              <a:gd name="csY1" fmla="*/ 0 h 2825616"/>
              <a:gd name="csX2" fmla="*/ 13714640 w 13714640"/>
              <a:gd name="csY2" fmla="*/ 1844017 h 2825616"/>
              <a:gd name="csX3" fmla="*/ 982091 w 13714640"/>
              <a:gd name="csY3" fmla="*/ 2825616 h 2825616"/>
              <a:gd name="csX4" fmla="*/ 0 w 13714640"/>
              <a:gd name="csY4" fmla="*/ 0 h 2825616"/>
              <a:gd name="csX0" fmla="*/ 0 w 13611644"/>
              <a:gd name="csY0" fmla="*/ 0 h 2825616"/>
              <a:gd name="csX1" fmla="*/ 12844974 w 13611644"/>
              <a:gd name="csY1" fmla="*/ 0 h 2825616"/>
              <a:gd name="csX2" fmla="*/ 13611644 w 13611644"/>
              <a:gd name="csY2" fmla="*/ 1916197 h 2825616"/>
              <a:gd name="csX3" fmla="*/ 982091 w 13611644"/>
              <a:gd name="csY3" fmla="*/ 2825616 h 2825616"/>
              <a:gd name="csX4" fmla="*/ 0 w 13611644"/>
              <a:gd name="csY4" fmla="*/ 0 h 2825616"/>
              <a:gd name="csX0" fmla="*/ 0 w 13611644"/>
              <a:gd name="csY0" fmla="*/ 925229 h 3750845"/>
              <a:gd name="csX1" fmla="*/ 12643495 w 13611644"/>
              <a:gd name="csY1" fmla="*/ 0 h 3750845"/>
              <a:gd name="csX2" fmla="*/ 13611644 w 13611644"/>
              <a:gd name="csY2" fmla="*/ 2841426 h 3750845"/>
              <a:gd name="csX3" fmla="*/ 982091 w 13611644"/>
              <a:gd name="csY3" fmla="*/ 3750845 h 3750845"/>
              <a:gd name="csX4" fmla="*/ 0 w 13611644"/>
              <a:gd name="csY4" fmla="*/ 925229 h 3750845"/>
              <a:gd name="csX0" fmla="*/ 0 w 13737319"/>
              <a:gd name="csY0" fmla="*/ 925229 h 3750845"/>
              <a:gd name="csX1" fmla="*/ 12643495 w 13737319"/>
              <a:gd name="csY1" fmla="*/ 0 h 3750845"/>
              <a:gd name="csX2" fmla="*/ 13737319 w 13737319"/>
              <a:gd name="csY2" fmla="*/ 2749899 h 3750845"/>
              <a:gd name="csX3" fmla="*/ 982091 w 13737319"/>
              <a:gd name="csY3" fmla="*/ 3750845 h 3750845"/>
              <a:gd name="csX4" fmla="*/ 0 w 13737319"/>
              <a:gd name="csY4" fmla="*/ 925229 h 3750845"/>
              <a:gd name="csX0" fmla="*/ 0 w 13737319"/>
              <a:gd name="csY0" fmla="*/ 925229 h 3750845"/>
              <a:gd name="csX1" fmla="*/ 12643495 w 13737319"/>
              <a:gd name="csY1" fmla="*/ 0 h 3750845"/>
              <a:gd name="csX2" fmla="*/ 13737319 w 13737319"/>
              <a:gd name="csY2" fmla="*/ 2749899 h 3750845"/>
              <a:gd name="csX3" fmla="*/ 12653303 w 13737319"/>
              <a:gd name="csY3" fmla="*/ 2914588 h 3750845"/>
              <a:gd name="csX4" fmla="*/ 982091 w 13737319"/>
              <a:gd name="csY4" fmla="*/ 3750845 h 3750845"/>
              <a:gd name="csX5" fmla="*/ 0 w 13737319"/>
              <a:gd name="csY5" fmla="*/ 925229 h 3750845"/>
              <a:gd name="csX0" fmla="*/ 0 w 13764831"/>
              <a:gd name="csY0" fmla="*/ 925229 h 3750845"/>
              <a:gd name="csX1" fmla="*/ 12643495 w 13764831"/>
              <a:gd name="csY1" fmla="*/ 0 h 3750845"/>
              <a:gd name="csX2" fmla="*/ 13737319 w 13764831"/>
              <a:gd name="csY2" fmla="*/ 2749899 h 3750845"/>
              <a:gd name="csX3" fmla="*/ 13383150 w 13764831"/>
              <a:gd name="csY3" fmla="*/ 2883685 h 3750845"/>
              <a:gd name="csX4" fmla="*/ 12653303 w 13764831"/>
              <a:gd name="csY4" fmla="*/ 2914588 h 3750845"/>
              <a:gd name="csX5" fmla="*/ 982091 w 13764831"/>
              <a:gd name="csY5" fmla="*/ 3750845 h 3750845"/>
              <a:gd name="csX6" fmla="*/ 0 w 13764831"/>
              <a:gd name="csY6" fmla="*/ 925229 h 3750845"/>
              <a:gd name="csX0" fmla="*/ 0 w 13763300"/>
              <a:gd name="csY0" fmla="*/ 925229 h 3750845"/>
              <a:gd name="csX1" fmla="*/ 12643495 w 13763300"/>
              <a:gd name="csY1" fmla="*/ 0 h 3750845"/>
              <a:gd name="csX2" fmla="*/ 13737319 w 13763300"/>
              <a:gd name="csY2" fmla="*/ 2749899 h 3750845"/>
              <a:gd name="csX3" fmla="*/ 13383150 w 13763300"/>
              <a:gd name="csY3" fmla="*/ 2883685 h 3750845"/>
              <a:gd name="csX4" fmla="*/ 12653303 w 13763300"/>
              <a:gd name="csY4" fmla="*/ 2914588 h 3750845"/>
              <a:gd name="csX5" fmla="*/ 982091 w 13763300"/>
              <a:gd name="csY5" fmla="*/ 3750845 h 3750845"/>
              <a:gd name="csX6" fmla="*/ 0 w 13763300"/>
              <a:gd name="csY6" fmla="*/ 925229 h 3750845"/>
              <a:gd name="csX0" fmla="*/ 0 w 13849907"/>
              <a:gd name="csY0" fmla="*/ 925229 h 3750845"/>
              <a:gd name="csX1" fmla="*/ 12643495 w 13849907"/>
              <a:gd name="csY1" fmla="*/ 0 h 3750845"/>
              <a:gd name="csX2" fmla="*/ 13737319 w 13849907"/>
              <a:gd name="csY2" fmla="*/ 2749899 h 3750845"/>
              <a:gd name="csX3" fmla="*/ 13786536 w 13849907"/>
              <a:gd name="csY3" fmla="*/ 3076394 h 3750845"/>
              <a:gd name="csX4" fmla="*/ 13383150 w 13849907"/>
              <a:gd name="csY4" fmla="*/ 2883685 h 3750845"/>
              <a:gd name="csX5" fmla="*/ 12653303 w 13849907"/>
              <a:gd name="csY5" fmla="*/ 2914588 h 3750845"/>
              <a:gd name="csX6" fmla="*/ 982091 w 13849907"/>
              <a:gd name="csY6" fmla="*/ 3750845 h 3750845"/>
              <a:gd name="csX7" fmla="*/ 0 w 13849907"/>
              <a:gd name="csY7" fmla="*/ 925229 h 3750845"/>
              <a:gd name="csX0" fmla="*/ 0 w 13814255"/>
              <a:gd name="csY0" fmla="*/ 925229 h 3750845"/>
              <a:gd name="csX1" fmla="*/ 12643495 w 13814255"/>
              <a:gd name="csY1" fmla="*/ 0 h 3750845"/>
              <a:gd name="csX2" fmla="*/ 13737319 w 13814255"/>
              <a:gd name="csY2" fmla="*/ 2749899 h 3750845"/>
              <a:gd name="csX3" fmla="*/ 13682737 w 13814255"/>
              <a:gd name="csY3" fmla="*/ 2945516 h 3750845"/>
              <a:gd name="csX4" fmla="*/ 13383150 w 13814255"/>
              <a:gd name="csY4" fmla="*/ 2883685 h 3750845"/>
              <a:gd name="csX5" fmla="*/ 12653303 w 13814255"/>
              <a:gd name="csY5" fmla="*/ 2914588 h 3750845"/>
              <a:gd name="csX6" fmla="*/ 982091 w 13814255"/>
              <a:gd name="csY6" fmla="*/ 3750845 h 3750845"/>
              <a:gd name="csX7" fmla="*/ 0 w 13814255"/>
              <a:gd name="csY7" fmla="*/ 925229 h 3750845"/>
              <a:gd name="csX0" fmla="*/ 0 w 13809295"/>
              <a:gd name="csY0" fmla="*/ 925229 h 3750845"/>
              <a:gd name="csX1" fmla="*/ 12643495 w 13809295"/>
              <a:gd name="csY1" fmla="*/ 0 h 3750845"/>
              <a:gd name="csX2" fmla="*/ 13737319 w 13809295"/>
              <a:gd name="csY2" fmla="*/ 2749899 h 3750845"/>
              <a:gd name="csX3" fmla="*/ 13682737 w 13809295"/>
              <a:gd name="csY3" fmla="*/ 2945516 h 3750845"/>
              <a:gd name="csX4" fmla="*/ 13383150 w 13809295"/>
              <a:gd name="csY4" fmla="*/ 2883685 h 3750845"/>
              <a:gd name="csX5" fmla="*/ 12653303 w 13809295"/>
              <a:gd name="csY5" fmla="*/ 2914588 h 3750845"/>
              <a:gd name="csX6" fmla="*/ 982091 w 13809295"/>
              <a:gd name="csY6" fmla="*/ 3750845 h 3750845"/>
              <a:gd name="csX7" fmla="*/ 0 w 13809295"/>
              <a:gd name="csY7" fmla="*/ 925229 h 3750845"/>
              <a:gd name="csX0" fmla="*/ 0 w 13834441"/>
              <a:gd name="csY0" fmla="*/ 925229 h 3750845"/>
              <a:gd name="csX1" fmla="*/ 12643495 w 13834441"/>
              <a:gd name="csY1" fmla="*/ 0 h 3750845"/>
              <a:gd name="csX2" fmla="*/ 13768738 w 13834441"/>
              <a:gd name="csY2" fmla="*/ 2727018 h 3750845"/>
              <a:gd name="csX3" fmla="*/ 13682737 w 13834441"/>
              <a:gd name="csY3" fmla="*/ 2945516 h 3750845"/>
              <a:gd name="csX4" fmla="*/ 13383150 w 13834441"/>
              <a:gd name="csY4" fmla="*/ 2883685 h 3750845"/>
              <a:gd name="csX5" fmla="*/ 12653303 w 13834441"/>
              <a:gd name="csY5" fmla="*/ 2914588 h 3750845"/>
              <a:gd name="csX6" fmla="*/ 982091 w 13834441"/>
              <a:gd name="csY6" fmla="*/ 3750845 h 3750845"/>
              <a:gd name="csX7" fmla="*/ 0 w 13834441"/>
              <a:gd name="csY7" fmla="*/ 925229 h 3750845"/>
              <a:gd name="csX0" fmla="*/ 0 w 13835682"/>
              <a:gd name="csY0" fmla="*/ 925229 h 3750845"/>
              <a:gd name="csX1" fmla="*/ 12643495 w 13835682"/>
              <a:gd name="csY1" fmla="*/ 0 h 3750845"/>
              <a:gd name="csX2" fmla="*/ 13768738 w 13835682"/>
              <a:gd name="csY2" fmla="*/ 2727018 h 3750845"/>
              <a:gd name="csX3" fmla="*/ 13689406 w 13835682"/>
              <a:gd name="csY3" fmla="*/ 2861465 h 3750845"/>
              <a:gd name="csX4" fmla="*/ 13383150 w 13835682"/>
              <a:gd name="csY4" fmla="*/ 2883685 h 3750845"/>
              <a:gd name="csX5" fmla="*/ 12653303 w 13835682"/>
              <a:gd name="csY5" fmla="*/ 2914588 h 3750845"/>
              <a:gd name="csX6" fmla="*/ 982091 w 13835682"/>
              <a:gd name="csY6" fmla="*/ 3750845 h 3750845"/>
              <a:gd name="csX7" fmla="*/ 0 w 13835682"/>
              <a:gd name="csY7" fmla="*/ 925229 h 3750845"/>
              <a:gd name="csX0" fmla="*/ 0 w 13850727"/>
              <a:gd name="csY0" fmla="*/ 925229 h 3750845"/>
              <a:gd name="csX1" fmla="*/ 12643495 w 13850727"/>
              <a:gd name="csY1" fmla="*/ 0 h 3750845"/>
              <a:gd name="csX2" fmla="*/ 13768738 w 13850727"/>
              <a:gd name="csY2" fmla="*/ 2727018 h 3750845"/>
              <a:gd name="csX3" fmla="*/ 13732499 w 13850727"/>
              <a:gd name="csY3" fmla="*/ 2791324 h 3750845"/>
              <a:gd name="csX4" fmla="*/ 13689406 w 13850727"/>
              <a:gd name="csY4" fmla="*/ 2861465 h 3750845"/>
              <a:gd name="csX5" fmla="*/ 13383150 w 13850727"/>
              <a:gd name="csY5" fmla="*/ 2883685 h 3750845"/>
              <a:gd name="csX6" fmla="*/ 12653303 w 13850727"/>
              <a:gd name="csY6" fmla="*/ 2914588 h 3750845"/>
              <a:gd name="csX7" fmla="*/ 982091 w 13850727"/>
              <a:gd name="csY7" fmla="*/ 3750845 h 3750845"/>
              <a:gd name="csX8" fmla="*/ 0 w 13850727"/>
              <a:gd name="csY8" fmla="*/ 925229 h 3750845"/>
              <a:gd name="csX0" fmla="*/ 0 w 13852616"/>
              <a:gd name="csY0" fmla="*/ 925229 h 3750845"/>
              <a:gd name="csX1" fmla="*/ 12643495 w 13852616"/>
              <a:gd name="csY1" fmla="*/ 0 h 3750845"/>
              <a:gd name="csX2" fmla="*/ 13768738 w 13852616"/>
              <a:gd name="csY2" fmla="*/ 2727018 h 3750845"/>
              <a:gd name="csX3" fmla="*/ 13746440 w 13852616"/>
              <a:gd name="csY3" fmla="*/ 2775514 h 3750845"/>
              <a:gd name="csX4" fmla="*/ 13732499 w 13852616"/>
              <a:gd name="csY4" fmla="*/ 2791324 h 3750845"/>
              <a:gd name="csX5" fmla="*/ 13689406 w 13852616"/>
              <a:gd name="csY5" fmla="*/ 2861465 h 3750845"/>
              <a:gd name="csX6" fmla="*/ 13383150 w 13852616"/>
              <a:gd name="csY6" fmla="*/ 2883685 h 3750845"/>
              <a:gd name="csX7" fmla="*/ 12653303 w 13852616"/>
              <a:gd name="csY7" fmla="*/ 2914588 h 3750845"/>
              <a:gd name="csX8" fmla="*/ 982091 w 13852616"/>
              <a:gd name="csY8" fmla="*/ 3750845 h 3750845"/>
              <a:gd name="csX9" fmla="*/ 0 w 13852616"/>
              <a:gd name="csY9" fmla="*/ 925229 h 3750845"/>
              <a:gd name="csX0" fmla="*/ 0 w 14001442"/>
              <a:gd name="csY0" fmla="*/ 862144 h 3750845"/>
              <a:gd name="csX1" fmla="*/ 12792321 w 14001442"/>
              <a:gd name="csY1" fmla="*/ 0 h 3750845"/>
              <a:gd name="csX2" fmla="*/ 13917564 w 14001442"/>
              <a:gd name="csY2" fmla="*/ 2727018 h 3750845"/>
              <a:gd name="csX3" fmla="*/ 13895266 w 14001442"/>
              <a:gd name="csY3" fmla="*/ 2775514 h 3750845"/>
              <a:gd name="csX4" fmla="*/ 13881325 w 14001442"/>
              <a:gd name="csY4" fmla="*/ 2791324 h 3750845"/>
              <a:gd name="csX5" fmla="*/ 13838232 w 14001442"/>
              <a:gd name="csY5" fmla="*/ 2861465 h 3750845"/>
              <a:gd name="csX6" fmla="*/ 13531976 w 14001442"/>
              <a:gd name="csY6" fmla="*/ 2883685 h 3750845"/>
              <a:gd name="csX7" fmla="*/ 12802129 w 14001442"/>
              <a:gd name="csY7" fmla="*/ 2914588 h 3750845"/>
              <a:gd name="csX8" fmla="*/ 1130917 w 14001442"/>
              <a:gd name="csY8" fmla="*/ 3750845 h 3750845"/>
              <a:gd name="csX9" fmla="*/ 0 w 14001442"/>
              <a:gd name="csY9" fmla="*/ 862144 h 37508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001442" h="3750845">
                <a:moveTo>
                  <a:pt x="0" y="862144"/>
                </a:moveTo>
                <a:lnTo>
                  <a:pt x="12792321" y="0"/>
                </a:lnTo>
                <a:lnTo>
                  <a:pt x="13917564" y="2727018"/>
                </a:lnTo>
                <a:cubicBezTo>
                  <a:pt x="14115776" y="3212595"/>
                  <a:pt x="13901306" y="2764796"/>
                  <a:pt x="13895266" y="2775514"/>
                </a:cubicBezTo>
                <a:cubicBezTo>
                  <a:pt x="13889226" y="2786232"/>
                  <a:pt x="13905218" y="2799990"/>
                  <a:pt x="13881325" y="2791324"/>
                </a:cubicBezTo>
                <a:cubicBezTo>
                  <a:pt x="13857432" y="2782658"/>
                  <a:pt x="13912890" y="2869930"/>
                  <a:pt x="13838232" y="2861465"/>
                </a:cubicBezTo>
                <a:cubicBezTo>
                  <a:pt x="13779204" y="2883763"/>
                  <a:pt x="13705594" y="2889707"/>
                  <a:pt x="13531976" y="2883685"/>
                </a:cubicBezTo>
                <a:cubicBezTo>
                  <a:pt x="13351307" y="2911133"/>
                  <a:pt x="14864258" y="2758410"/>
                  <a:pt x="12802129" y="2914588"/>
                </a:cubicBezTo>
                <a:lnTo>
                  <a:pt x="1130917" y="3750845"/>
                </a:lnTo>
                <a:lnTo>
                  <a:pt x="0" y="862144"/>
                </a:lnTo>
                <a:close/>
              </a:path>
            </a:pathLst>
          </a:custGeom>
          <a:solidFill>
            <a:srgbClr val="948F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i Icon PNGs for Free Download">
            <a:extLst>
              <a:ext uri="{FF2B5EF4-FFF2-40B4-BE49-F238E27FC236}">
                <a16:creationId xmlns:a16="http://schemas.microsoft.com/office/drawing/2014/main" id="{4A73E091-7318-D7E3-778A-2967032C1712}"/>
              </a:ext>
            </a:extLst>
          </p:cNvPr>
          <p:cNvPicPr>
            <a:picLocks noChangeAspect="1"/>
          </p:cNvPicPr>
          <p:nvPr/>
        </p:nvPicPr>
        <p:blipFill>
          <a:blip r:embed="rId4"/>
          <a:stretch>
            <a:fillRect/>
          </a:stretch>
        </p:blipFill>
        <p:spPr>
          <a:xfrm>
            <a:off x="1558814" y="1089819"/>
            <a:ext cx="2000212" cy="2000212"/>
          </a:xfrm>
          <a:prstGeom prst="rect">
            <a:avLst/>
          </a:prstGeom>
        </p:spPr>
      </p:pic>
    </p:spTree>
    <p:extLst>
      <p:ext uri="{BB962C8B-B14F-4D97-AF65-F5344CB8AC3E}">
        <p14:creationId xmlns:p14="http://schemas.microsoft.com/office/powerpoint/2010/main" val="10448495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8.33333E-7 -2.59259E-6 L 0.80781 0.02477 " pathEditMode="relative" rAng="0" ptsTypes="AA">
                                      <p:cBhvr>
                                        <p:cTn id="6" dur="2000" fill="hold"/>
                                        <p:tgtEl>
                                          <p:spTgt spid="24"/>
                                        </p:tgtEl>
                                        <p:attrNameLst>
                                          <p:attrName>ppt_x</p:attrName>
                                          <p:attrName>ppt_y</p:attrName>
                                        </p:attrNameLst>
                                      </p:cBhvr>
                                      <p:rCtr x="38516" y="1505"/>
                                    </p:animMotion>
                                  </p:childTnLst>
                                </p:cTn>
                              </p:par>
                              <p:par>
                                <p:cTn id="7" presetID="42" presetClass="path" presetSubtype="0" accel="50000" decel="50000" fill="hold" nodeType="withEffect">
                                  <p:stCondLst>
                                    <p:cond delay="0"/>
                                  </p:stCondLst>
                                  <p:childTnLst>
                                    <p:animMotion origin="layout" path="M 0 1.48148E-6 L -0.98125 -0.73241 " pathEditMode="relative" rAng="0" ptsTypes="AA">
                                      <p:cBhvr>
                                        <p:cTn id="8" dur="2000" fill="hold"/>
                                        <p:tgtEl>
                                          <p:spTgt spid="22"/>
                                        </p:tgtEl>
                                        <p:attrNameLst>
                                          <p:attrName>ppt_x</p:attrName>
                                          <p:attrName>ppt_y</p:attrName>
                                        </p:attrNameLst>
                                      </p:cBhvr>
                                      <p:rCtr x="-49062" y="-36620"/>
                                    </p:animMotion>
                                  </p:childTnLst>
                                </p:cTn>
                              </p:par>
                              <p:par>
                                <p:cTn id="9" presetID="42" presetClass="path" presetSubtype="0" accel="50000" decel="50000" fill="hold" nodeType="withEffect">
                                  <p:stCondLst>
                                    <p:cond delay="0"/>
                                  </p:stCondLst>
                                  <p:childTnLst>
                                    <p:animMotion origin="layout" path="M -3.75E-6 -7.40741E-7 L 0.01472 -1.27292 " pathEditMode="relative" rAng="0" ptsTypes="AA">
                                      <p:cBhvr>
                                        <p:cTn id="10" dur="2000" fill="hold"/>
                                        <p:tgtEl>
                                          <p:spTgt spid="23"/>
                                        </p:tgtEl>
                                        <p:attrNameLst>
                                          <p:attrName>ppt_x</p:attrName>
                                          <p:attrName>ppt_y</p:attrName>
                                        </p:attrNameLst>
                                      </p:cBhvr>
                                      <p:rCtr x="729" y="-63657"/>
                                    </p:animMotion>
                                  </p:childTnLst>
                                </p:cTn>
                              </p:par>
                              <p:par>
                                <p:cTn id="11" presetID="1" presetClass="entr" presetSubtype="0" fill="hold" grpId="0" nodeType="withEffect">
                                  <p:stCondLst>
                                    <p:cond delay="200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EEA59-D517-7720-CF1B-AFD6EE468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6089EF-DE43-22A8-3444-06E6B7F45142}"/>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6F7F1E15-4C79-A7E6-99DE-383D8B6B11D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 r="1933" b="42238"/>
          <a:stretch>
            <a:fillRect/>
          </a:stretch>
        </p:blipFill>
        <p:spPr>
          <a:xfrm>
            <a:off x="-1" y="0"/>
            <a:ext cx="12198593" cy="4041647"/>
          </a:xfrm>
          <a:prstGeom prst="rect">
            <a:avLst/>
          </a:prstGeom>
        </p:spPr>
      </p:pic>
      <p:sp>
        <p:nvSpPr>
          <p:cNvPr id="9" name="TextBox 8">
            <a:extLst>
              <a:ext uri="{FF2B5EF4-FFF2-40B4-BE49-F238E27FC236}">
                <a16:creationId xmlns:a16="http://schemas.microsoft.com/office/drawing/2014/main" id="{AE7B0F36-B648-39DD-46FA-98E97425E5E5}"/>
              </a:ext>
            </a:extLst>
          </p:cNvPr>
          <p:cNvSpPr txBox="1"/>
          <p:nvPr/>
        </p:nvSpPr>
        <p:spPr>
          <a:xfrm>
            <a:off x="676656" y="1527048"/>
            <a:ext cx="6007608" cy="1569660"/>
          </a:xfrm>
          <a:prstGeom prst="rect">
            <a:avLst/>
          </a:prstGeom>
          <a:noFill/>
        </p:spPr>
        <p:txBody>
          <a:bodyPr wrap="square" rtlCol="0">
            <a:spAutoFit/>
          </a:bodyPr>
          <a:lstStyle/>
          <a:p>
            <a:pPr algn="ctr"/>
            <a:r>
              <a:rPr lang="en-US" sz="9600" dirty="0">
                <a:solidFill>
                  <a:schemeClr val="bg1"/>
                </a:solidFill>
                <a:latin typeface="Rockwell Extra Bold" panose="02060903040505020403" pitchFamily="18" charset="0"/>
              </a:rPr>
              <a:t>AI </a:t>
            </a:r>
            <a:r>
              <a:rPr lang="en-US" sz="2000" dirty="0">
                <a:solidFill>
                  <a:schemeClr val="bg1"/>
                </a:solidFill>
                <a:latin typeface="Rockwell Extra Bold" panose="02060903040505020403" pitchFamily="18" charset="0"/>
              </a:rPr>
              <a:t>in</a:t>
            </a:r>
            <a:endParaRPr lang="en-US" sz="9600" dirty="0">
              <a:solidFill>
                <a:schemeClr val="bg1"/>
              </a:solidFill>
              <a:latin typeface="Rockwell Extra Bold" panose="02060903040505020403" pitchFamily="18" charset="0"/>
            </a:endParaRPr>
          </a:p>
        </p:txBody>
      </p:sp>
      <p:sp>
        <p:nvSpPr>
          <p:cNvPr id="10" name="TextBox 9">
            <a:extLst>
              <a:ext uri="{FF2B5EF4-FFF2-40B4-BE49-F238E27FC236}">
                <a16:creationId xmlns:a16="http://schemas.microsoft.com/office/drawing/2014/main" id="{1EC6D238-6D7B-C1EB-0939-834409A10FF1}"/>
              </a:ext>
            </a:extLst>
          </p:cNvPr>
          <p:cNvSpPr txBox="1"/>
          <p:nvPr/>
        </p:nvSpPr>
        <p:spPr>
          <a:xfrm>
            <a:off x="392545" y="4596878"/>
            <a:ext cx="6894576" cy="1569660"/>
          </a:xfrm>
          <a:prstGeom prst="rect">
            <a:avLst/>
          </a:prstGeom>
          <a:noFill/>
        </p:spPr>
        <p:txBody>
          <a:bodyPr wrap="square" rtlCol="0">
            <a:spAutoFit/>
          </a:bodyPr>
          <a:lstStyle/>
          <a:p>
            <a:r>
              <a:rPr lang="en-US" sz="9600" dirty="0">
                <a:gradFill>
                  <a:gsLst>
                    <a:gs pos="0">
                      <a:srgbClr val="00224F"/>
                    </a:gs>
                    <a:gs pos="74000">
                      <a:srgbClr val="2B55C4"/>
                    </a:gs>
                    <a:gs pos="83000">
                      <a:srgbClr val="AFD0FD"/>
                    </a:gs>
                    <a:gs pos="100000">
                      <a:schemeClr val="accent1">
                        <a:lumMod val="30000"/>
                        <a:lumOff val="70000"/>
                      </a:schemeClr>
                    </a:gs>
                  </a:gsLst>
                  <a:lin ang="5400000" scaled="1"/>
                </a:gradFill>
                <a:latin typeface="Rockwell Extra Bold" panose="02060903040505020403" pitchFamily="18" charset="0"/>
              </a:rPr>
              <a:t>Business</a:t>
            </a:r>
          </a:p>
        </p:txBody>
      </p:sp>
      <p:sp>
        <p:nvSpPr>
          <p:cNvPr id="11" name="Right Triangle 10">
            <a:extLst>
              <a:ext uri="{FF2B5EF4-FFF2-40B4-BE49-F238E27FC236}">
                <a16:creationId xmlns:a16="http://schemas.microsoft.com/office/drawing/2014/main" id="{22FB4F9C-0F60-151F-4E57-CCD6EC9DAA88}"/>
              </a:ext>
            </a:extLst>
          </p:cNvPr>
          <p:cNvSpPr/>
          <p:nvPr/>
        </p:nvSpPr>
        <p:spPr>
          <a:xfrm>
            <a:off x="-62092" y="3009620"/>
            <a:ext cx="12217445" cy="3945118"/>
          </a:xfrm>
          <a:custGeom>
            <a:avLst/>
            <a:gdLst>
              <a:gd name="csX0" fmla="*/ 0 w 12198592"/>
              <a:gd name="csY0" fmla="*/ 3916837 h 3916837"/>
              <a:gd name="csX1" fmla="*/ 0 w 12198592"/>
              <a:gd name="csY1" fmla="*/ 0 h 3916837"/>
              <a:gd name="csX2" fmla="*/ 12198592 w 12198592"/>
              <a:gd name="csY2" fmla="*/ 3916837 h 3916837"/>
              <a:gd name="csX3" fmla="*/ 0 w 12198592"/>
              <a:gd name="csY3" fmla="*/ 3916837 h 3916837"/>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198592"/>
              <a:gd name="csY0" fmla="*/ 3927769 h 3927769"/>
              <a:gd name="csX1" fmla="*/ 9427 w 12198592"/>
              <a:gd name="csY1" fmla="*/ 48639 h 3927769"/>
              <a:gd name="csX2" fmla="*/ 12198592 w 12198592"/>
              <a:gd name="csY2" fmla="*/ 3927769 h 3927769"/>
              <a:gd name="csX3" fmla="*/ 0 w 12198592"/>
              <a:gd name="csY3" fmla="*/ 3927769 h 3927769"/>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217445"/>
              <a:gd name="csY0" fmla="*/ 3879130 h 3945118"/>
              <a:gd name="csX1" fmla="*/ 9427 w 12217445"/>
              <a:gd name="csY1" fmla="*/ 0 h 3945118"/>
              <a:gd name="csX2" fmla="*/ 12217445 w 12217445"/>
              <a:gd name="csY2" fmla="*/ 3945118 h 3945118"/>
              <a:gd name="csX3" fmla="*/ 0 w 12217445"/>
              <a:gd name="csY3" fmla="*/ 3879130 h 3945118"/>
              <a:gd name="csX0" fmla="*/ 0 w 12217445"/>
              <a:gd name="csY0" fmla="*/ 3879130 h 3945118"/>
              <a:gd name="csX1" fmla="*/ 9427 w 12217445"/>
              <a:gd name="csY1" fmla="*/ 0 h 3945118"/>
              <a:gd name="csX2" fmla="*/ 12217445 w 12217445"/>
              <a:gd name="csY2" fmla="*/ 3945118 h 3945118"/>
              <a:gd name="csX3" fmla="*/ 0 w 12217445"/>
              <a:gd name="csY3" fmla="*/ 3879130 h 3945118"/>
            </a:gdLst>
            <a:ahLst/>
            <a:cxnLst>
              <a:cxn ang="0">
                <a:pos x="csX0" y="csY0"/>
              </a:cxn>
              <a:cxn ang="0">
                <a:pos x="csX1" y="csY1"/>
              </a:cxn>
              <a:cxn ang="0">
                <a:pos x="csX2" y="csY2"/>
              </a:cxn>
              <a:cxn ang="0">
                <a:pos x="csX3" y="csY3"/>
              </a:cxn>
            </a:cxnLst>
            <a:rect l="l" t="t" r="r" b="b"/>
            <a:pathLst>
              <a:path w="12217445" h="3945118">
                <a:moveTo>
                  <a:pt x="0" y="3879130"/>
                </a:moveTo>
                <a:cubicBezTo>
                  <a:pt x="3142" y="2586087"/>
                  <a:pt x="6285" y="1293043"/>
                  <a:pt x="9427" y="0"/>
                </a:cubicBezTo>
                <a:cubicBezTo>
                  <a:pt x="4185603" y="1570"/>
                  <a:pt x="8088403" y="2614368"/>
                  <a:pt x="12217445" y="3945118"/>
                </a:cubicBezTo>
                <a:lnTo>
                  <a:pt x="0" y="3879130"/>
                </a:lnTo>
                <a:close/>
              </a:path>
            </a:pathLst>
          </a:custGeom>
          <a:solidFill>
            <a:srgbClr val="4454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ight Triangle 10">
            <a:extLst>
              <a:ext uri="{FF2B5EF4-FFF2-40B4-BE49-F238E27FC236}">
                <a16:creationId xmlns:a16="http://schemas.microsoft.com/office/drawing/2014/main" id="{EE268481-B5E3-CC94-7C39-3EEF73A81340}"/>
              </a:ext>
            </a:extLst>
          </p:cNvPr>
          <p:cNvSpPr/>
          <p:nvPr/>
        </p:nvSpPr>
        <p:spPr>
          <a:xfrm rot="10800000">
            <a:off x="-18853" y="-32665"/>
            <a:ext cx="12217445" cy="3945118"/>
          </a:xfrm>
          <a:custGeom>
            <a:avLst/>
            <a:gdLst>
              <a:gd name="csX0" fmla="*/ 0 w 12198592"/>
              <a:gd name="csY0" fmla="*/ 3916837 h 3916837"/>
              <a:gd name="csX1" fmla="*/ 0 w 12198592"/>
              <a:gd name="csY1" fmla="*/ 0 h 3916837"/>
              <a:gd name="csX2" fmla="*/ 12198592 w 12198592"/>
              <a:gd name="csY2" fmla="*/ 3916837 h 3916837"/>
              <a:gd name="csX3" fmla="*/ 0 w 12198592"/>
              <a:gd name="csY3" fmla="*/ 3916837 h 3916837"/>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198592"/>
              <a:gd name="csY0" fmla="*/ 3927769 h 3927769"/>
              <a:gd name="csX1" fmla="*/ 9427 w 12198592"/>
              <a:gd name="csY1" fmla="*/ 48639 h 3927769"/>
              <a:gd name="csX2" fmla="*/ 12198592 w 12198592"/>
              <a:gd name="csY2" fmla="*/ 3927769 h 3927769"/>
              <a:gd name="csX3" fmla="*/ 0 w 12198592"/>
              <a:gd name="csY3" fmla="*/ 3927769 h 3927769"/>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217445"/>
              <a:gd name="csY0" fmla="*/ 3879130 h 3945118"/>
              <a:gd name="csX1" fmla="*/ 9427 w 12217445"/>
              <a:gd name="csY1" fmla="*/ 0 h 3945118"/>
              <a:gd name="csX2" fmla="*/ 12217445 w 12217445"/>
              <a:gd name="csY2" fmla="*/ 3945118 h 3945118"/>
              <a:gd name="csX3" fmla="*/ 0 w 12217445"/>
              <a:gd name="csY3" fmla="*/ 3879130 h 3945118"/>
              <a:gd name="csX0" fmla="*/ 0 w 12217445"/>
              <a:gd name="csY0" fmla="*/ 3879130 h 3945118"/>
              <a:gd name="csX1" fmla="*/ 9427 w 12217445"/>
              <a:gd name="csY1" fmla="*/ 0 h 3945118"/>
              <a:gd name="csX2" fmla="*/ 12217445 w 12217445"/>
              <a:gd name="csY2" fmla="*/ 3945118 h 3945118"/>
              <a:gd name="csX3" fmla="*/ 0 w 12217445"/>
              <a:gd name="csY3" fmla="*/ 3879130 h 3945118"/>
            </a:gdLst>
            <a:ahLst/>
            <a:cxnLst>
              <a:cxn ang="0">
                <a:pos x="csX0" y="csY0"/>
              </a:cxn>
              <a:cxn ang="0">
                <a:pos x="csX1" y="csY1"/>
              </a:cxn>
              <a:cxn ang="0">
                <a:pos x="csX2" y="csY2"/>
              </a:cxn>
              <a:cxn ang="0">
                <a:pos x="csX3" y="csY3"/>
              </a:cxn>
            </a:cxnLst>
            <a:rect l="l" t="t" r="r" b="b"/>
            <a:pathLst>
              <a:path w="12217445" h="3945118">
                <a:moveTo>
                  <a:pt x="0" y="3879130"/>
                </a:moveTo>
                <a:cubicBezTo>
                  <a:pt x="3142" y="2586087"/>
                  <a:pt x="6285" y="1293043"/>
                  <a:pt x="9427" y="0"/>
                </a:cubicBezTo>
                <a:cubicBezTo>
                  <a:pt x="4185603" y="1570"/>
                  <a:pt x="8088403" y="2614368"/>
                  <a:pt x="12217445" y="3945118"/>
                </a:cubicBezTo>
                <a:lnTo>
                  <a:pt x="0" y="3879130"/>
                </a:lnTo>
                <a:close/>
              </a:path>
            </a:pathLst>
          </a:custGeom>
          <a:solidFill>
            <a:schemeClr val="tx2"/>
          </a:solidFill>
          <a:ln>
            <a:solidFill>
              <a:srgbClr val="002D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a:extLst>
              <a:ext uri="{FF2B5EF4-FFF2-40B4-BE49-F238E27FC236}">
                <a16:creationId xmlns:a16="http://schemas.microsoft.com/office/drawing/2014/main" id="{D0684A72-B562-CAC0-5B1A-29AFF6BEC32E}"/>
              </a:ext>
            </a:extLst>
          </p:cNvPr>
          <p:cNvCxnSpPr/>
          <p:nvPr/>
        </p:nvCxnSpPr>
        <p:spPr>
          <a:xfrm>
            <a:off x="8734425" y="4596878"/>
            <a:ext cx="2619375" cy="0"/>
          </a:xfrm>
          <a:prstGeom prst="line">
            <a:avLst/>
          </a:prstGeom>
        </p:spPr>
        <p:style>
          <a:lnRef idx="3">
            <a:schemeClr val="accent5"/>
          </a:lnRef>
          <a:fillRef idx="0">
            <a:schemeClr val="accent5"/>
          </a:fillRef>
          <a:effectRef idx="2">
            <a:schemeClr val="accent5"/>
          </a:effectRef>
          <a:fontRef idx="minor">
            <a:schemeClr val="tx1"/>
          </a:fontRef>
        </p:style>
      </p:cxnSp>
      <p:sp>
        <p:nvSpPr>
          <p:cNvPr id="17" name="TextBox 16">
            <a:extLst>
              <a:ext uri="{FF2B5EF4-FFF2-40B4-BE49-F238E27FC236}">
                <a16:creationId xmlns:a16="http://schemas.microsoft.com/office/drawing/2014/main" id="{C8D21735-5A43-6FC3-B4BF-2D7B1A71F0F9}"/>
              </a:ext>
            </a:extLst>
          </p:cNvPr>
          <p:cNvSpPr txBox="1"/>
          <p:nvPr/>
        </p:nvSpPr>
        <p:spPr>
          <a:xfrm>
            <a:off x="11353800" y="4442989"/>
            <a:ext cx="762000" cy="307777"/>
          </a:xfrm>
          <a:prstGeom prst="rect">
            <a:avLst/>
          </a:prstGeom>
          <a:noFill/>
        </p:spPr>
        <p:txBody>
          <a:bodyPr wrap="square" rtlCol="0">
            <a:spAutoFit/>
          </a:bodyPr>
          <a:lstStyle/>
          <a:p>
            <a:r>
              <a:rPr lang="en-US" sz="1400" dirty="0">
                <a:solidFill>
                  <a:schemeClr val="accent1">
                    <a:lumMod val="75000"/>
                  </a:schemeClr>
                </a:solidFill>
              </a:rPr>
              <a:t>&gt; &gt; &gt;</a:t>
            </a:r>
          </a:p>
        </p:txBody>
      </p:sp>
      <p:sp>
        <p:nvSpPr>
          <p:cNvPr id="18" name="TextBox 17">
            <a:extLst>
              <a:ext uri="{FF2B5EF4-FFF2-40B4-BE49-F238E27FC236}">
                <a16:creationId xmlns:a16="http://schemas.microsoft.com/office/drawing/2014/main" id="{F0EE1E53-F0A8-C68F-2101-A3182D42FA74}"/>
              </a:ext>
            </a:extLst>
          </p:cNvPr>
          <p:cNvSpPr txBox="1"/>
          <p:nvPr/>
        </p:nvSpPr>
        <p:spPr>
          <a:xfrm>
            <a:off x="9137605" y="4612847"/>
            <a:ext cx="2114550" cy="369332"/>
          </a:xfrm>
          <a:prstGeom prst="rect">
            <a:avLst/>
          </a:prstGeom>
          <a:noFill/>
        </p:spPr>
        <p:txBody>
          <a:bodyPr wrap="square" rtlCol="0">
            <a:spAutoFit/>
          </a:bodyPr>
          <a:lstStyle/>
          <a:p>
            <a:r>
              <a:rPr lang="en-US" spc="300" dirty="0">
                <a:solidFill>
                  <a:schemeClr val="accent1">
                    <a:lumMod val="75000"/>
                  </a:schemeClr>
                </a:solidFill>
                <a:latin typeface="Ink Free" panose="03080402000500000000" pitchFamily="66" charset="0"/>
              </a:rPr>
              <a:t>Loading . . .</a:t>
            </a:r>
          </a:p>
        </p:txBody>
      </p:sp>
      <p:pic>
        <p:nvPicPr>
          <p:cNvPr id="22" name="Graphic 21" descr="Airplane with solid fill">
            <a:extLst>
              <a:ext uri="{FF2B5EF4-FFF2-40B4-BE49-F238E27FC236}">
                <a16:creationId xmlns:a16="http://schemas.microsoft.com/office/drawing/2014/main" id="{F3A18C7B-07DA-0094-55EC-38084A6CC8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7313200">
            <a:off x="12343904" y="4041647"/>
            <a:ext cx="914400" cy="914400"/>
          </a:xfrm>
          <a:prstGeom prst="rect">
            <a:avLst/>
          </a:prstGeom>
        </p:spPr>
      </p:pic>
      <p:pic>
        <p:nvPicPr>
          <p:cNvPr id="23" name="Graphic 22" descr="Airplane with solid fill">
            <a:extLst>
              <a:ext uri="{FF2B5EF4-FFF2-40B4-BE49-F238E27FC236}">
                <a16:creationId xmlns:a16="http://schemas.microsoft.com/office/drawing/2014/main" id="{AF8C65CD-4DAE-0050-D8DD-F41383A884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47879" y="6979712"/>
            <a:ext cx="914400" cy="914400"/>
          </a:xfrm>
          <a:prstGeom prst="rect">
            <a:avLst/>
          </a:prstGeom>
        </p:spPr>
      </p:pic>
      <p:pic>
        <p:nvPicPr>
          <p:cNvPr id="24" name="Graphic 23" descr="Airplane with solid fill">
            <a:extLst>
              <a:ext uri="{FF2B5EF4-FFF2-40B4-BE49-F238E27FC236}">
                <a16:creationId xmlns:a16="http://schemas.microsoft.com/office/drawing/2014/main" id="{26E35A0D-6C43-299D-43A9-2999F1FE01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1517489" y="3985789"/>
            <a:ext cx="914400" cy="914400"/>
          </a:xfrm>
          <a:prstGeom prst="rect">
            <a:avLst/>
          </a:prstGeom>
        </p:spPr>
      </p:pic>
      <p:sp>
        <p:nvSpPr>
          <p:cNvPr id="25" name="TextBox 24">
            <a:extLst>
              <a:ext uri="{FF2B5EF4-FFF2-40B4-BE49-F238E27FC236}">
                <a16:creationId xmlns:a16="http://schemas.microsoft.com/office/drawing/2014/main" id="{7CEFAAC4-2215-CB30-88BF-93F9E394732A}"/>
              </a:ext>
            </a:extLst>
          </p:cNvPr>
          <p:cNvSpPr txBox="1"/>
          <p:nvPr/>
        </p:nvSpPr>
        <p:spPr>
          <a:xfrm>
            <a:off x="8453799" y="5077761"/>
            <a:ext cx="3381375" cy="369332"/>
          </a:xfrm>
          <a:prstGeom prst="rect">
            <a:avLst/>
          </a:prstGeom>
          <a:noFill/>
        </p:spPr>
        <p:txBody>
          <a:bodyPr wrap="square" rtlCol="0">
            <a:spAutoFit/>
          </a:bodyPr>
          <a:lstStyle/>
          <a:p>
            <a:pPr algn="ctr"/>
            <a:r>
              <a:rPr lang="en-US" dirty="0"/>
              <a:t>By: </a:t>
            </a:r>
            <a:r>
              <a:rPr lang="en-US" dirty="0">
                <a:latin typeface="Courier New" panose="02070309020205020404" pitchFamily="49" charset="0"/>
                <a:cs typeface="Courier New" panose="02070309020205020404" pitchFamily="49" charset="0"/>
              </a:rPr>
              <a:t>Yashas Tayal</a:t>
            </a:r>
          </a:p>
        </p:txBody>
      </p:sp>
      <p:sp>
        <p:nvSpPr>
          <p:cNvPr id="3" name="Rectangle 2">
            <a:extLst>
              <a:ext uri="{FF2B5EF4-FFF2-40B4-BE49-F238E27FC236}">
                <a16:creationId xmlns:a16="http://schemas.microsoft.com/office/drawing/2014/main" id="{F1210E19-BE12-8058-0893-44F9B355B583}"/>
              </a:ext>
            </a:extLst>
          </p:cNvPr>
          <p:cNvSpPr/>
          <p:nvPr/>
        </p:nvSpPr>
        <p:spPr>
          <a:xfrm rot="1321717">
            <a:off x="-884340" y="1670669"/>
            <a:ext cx="14001442" cy="3750845"/>
          </a:xfrm>
          <a:custGeom>
            <a:avLst/>
            <a:gdLst>
              <a:gd name="csX0" fmla="*/ 0 w 12844974"/>
              <a:gd name="csY0" fmla="*/ 0 h 1931490"/>
              <a:gd name="csX1" fmla="*/ 12844974 w 12844974"/>
              <a:gd name="csY1" fmla="*/ 0 h 1931490"/>
              <a:gd name="csX2" fmla="*/ 12844974 w 12844974"/>
              <a:gd name="csY2" fmla="*/ 1931490 h 1931490"/>
              <a:gd name="csX3" fmla="*/ 0 w 12844974"/>
              <a:gd name="csY3" fmla="*/ 1931490 h 1931490"/>
              <a:gd name="csX4" fmla="*/ 0 w 12844974"/>
              <a:gd name="csY4" fmla="*/ 0 h 1931490"/>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3714640"/>
              <a:gd name="csY0" fmla="*/ 0 h 2825616"/>
              <a:gd name="csX1" fmla="*/ 12844974 w 13714640"/>
              <a:gd name="csY1" fmla="*/ 0 h 2825616"/>
              <a:gd name="csX2" fmla="*/ 13714640 w 13714640"/>
              <a:gd name="csY2" fmla="*/ 1844017 h 2825616"/>
              <a:gd name="csX3" fmla="*/ 982091 w 13714640"/>
              <a:gd name="csY3" fmla="*/ 2825616 h 2825616"/>
              <a:gd name="csX4" fmla="*/ 0 w 13714640"/>
              <a:gd name="csY4" fmla="*/ 0 h 2825616"/>
              <a:gd name="csX0" fmla="*/ 0 w 13611644"/>
              <a:gd name="csY0" fmla="*/ 0 h 2825616"/>
              <a:gd name="csX1" fmla="*/ 12844974 w 13611644"/>
              <a:gd name="csY1" fmla="*/ 0 h 2825616"/>
              <a:gd name="csX2" fmla="*/ 13611644 w 13611644"/>
              <a:gd name="csY2" fmla="*/ 1916197 h 2825616"/>
              <a:gd name="csX3" fmla="*/ 982091 w 13611644"/>
              <a:gd name="csY3" fmla="*/ 2825616 h 2825616"/>
              <a:gd name="csX4" fmla="*/ 0 w 13611644"/>
              <a:gd name="csY4" fmla="*/ 0 h 2825616"/>
              <a:gd name="csX0" fmla="*/ 0 w 13611644"/>
              <a:gd name="csY0" fmla="*/ 925229 h 3750845"/>
              <a:gd name="csX1" fmla="*/ 12643495 w 13611644"/>
              <a:gd name="csY1" fmla="*/ 0 h 3750845"/>
              <a:gd name="csX2" fmla="*/ 13611644 w 13611644"/>
              <a:gd name="csY2" fmla="*/ 2841426 h 3750845"/>
              <a:gd name="csX3" fmla="*/ 982091 w 13611644"/>
              <a:gd name="csY3" fmla="*/ 3750845 h 3750845"/>
              <a:gd name="csX4" fmla="*/ 0 w 13611644"/>
              <a:gd name="csY4" fmla="*/ 925229 h 3750845"/>
              <a:gd name="csX0" fmla="*/ 0 w 13737319"/>
              <a:gd name="csY0" fmla="*/ 925229 h 3750845"/>
              <a:gd name="csX1" fmla="*/ 12643495 w 13737319"/>
              <a:gd name="csY1" fmla="*/ 0 h 3750845"/>
              <a:gd name="csX2" fmla="*/ 13737319 w 13737319"/>
              <a:gd name="csY2" fmla="*/ 2749899 h 3750845"/>
              <a:gd name="csX3" fmla="*/ 982091 w 13737319"/>
              <a:gd name="csY3" fmla="*/ 3750845 h 3750845"/>
              <a:gd name="csX4" fmla="*/ 0 w 13737319"/>
              <a:gd name="csY4" fmla="*/ 925229 h 3750845"/>
              <a:gd name="csX0" fmla="*/ 0 w 13737319"/>
              <a:gd name="csY0" fmla="*/ 925229 h 3750845"/>
              <a:gd name="csX1" fmla="*/ 12643495 w 13737319"/>
              <a:gd name="csY1" fmla="*/ 0 h 3750845"/>
              <a:gd name="csX2" fmla="*/ 13737319 w 13737319"/>
              <a:gd name="csY2" fmla="*/ 2749899 h 3750845"/>
              <a:gd name="csX3" fmla="*/ 12653303 w 13737319"/>
              <a:gd name="csY3" fmla="*/ 2914588 h 3750845"/>
              <a:gd name="csX4" fmla="*/ 982091 w 13737319"/>
              <a:gd name="csY4" fmla="*/ 3750845 h 3750845"/>
              <a:gd name="csX5" fmla="*/ 0 w 13737319"/>
              <a:gd name="csY5" fmla="*/ 925229 h 3750845"/>
              <a:gd name="csX0" fmla="*/ 0 w 13764831"/>
              <a:gd name="csY0" fmla="*/ 925229 h 3750845"/>
              <a:gd name="csX1" fmla="*/ 12643495 w 13764831"/>
              <a:gd name="csY1" fmla="*/ 0 h 3750845"/>
              <a:gd name="csX2" fmla="*/ 13737319 w 13764831"/>
              <a:gd name="csY2" fmla="*/ 2749899 h 3750845"/>
              <a:gd name="csX3" fmla="*/ 13383150 w 13764831"/>
              <a:gd name="csY3" fmla="*/ 2883685 h 3750845"/>
              <a:gd name="csX4" fmla="*/ 12653303 w 13764831"/>
              <a:gd name="csY4" fmla="*/ 2914588 h 3750845"/>
              <a:gd name="csX5" fmla="*/ 982091 w 13764831"/>
              <a:gd name="csY5" fmla="*/ 3750845 h 3750845"/>
              <a:gd name="csX6" fmla="*/ 0 w 13764831"/>
              <a:gd name="csY6" fmla="*/ 925229 h 3750845"/>
              <a:gd name="csX0" fmla="*/ 0 w 13763300"/>
              <a:gd name="csY0" fmla="*/ 925229 h 3750845"/>
              <a:gd name="csX1" fmla="*/ 12643495 w 13763300"/>
              <a:gd name="csY1" fmla="*/ 0 h 3750845"/>
              <a:gd name="csX2" fmla="*/ 13737319 w 13763300"/>
              <a:gd name="csY2" fmla="*/ 2749899 h 3750845"/>
              <a:gd name="csX3" fmla="*/ 13383150 w 13763300"/>
              <a:gd name="csY3" fmla="*/ 2883685 h 3750845"/>
              <a:gd name="csX4" fmla="*/ 12653303 w 13763300"/>
              <a:gd name="csY4" fmla="*/ 2914588 h 3750845"/>
              <a:gd name="csX5" fmla="*/ 982091 w 13763300"/>
              <a:gd name="csY5" fmla="*/ 3750845 h 3750845"/>
              <a:gd name="csX6" fmla="*/ 0 w 13763300"/>
              <a:gd name="csY6" fmla="*/ 925229 h 3750845"/>
              <a:gd name="csX0" fmla="*/ 0 w 13849907"/>
              <a:gd name="csY0" fmla="*/ 925229 h 3750845"/>
              <a:gd name="csX1" fmla="*/ 12643495 w 13849907"/>
              <a:gd name="csY1" fmla="*/ 0 h 3750845"/>
              <a:gd name="csX2" fmla="*/ 13737319 w 13849907"/>
              <a:gd name="csY2" fmla="*/ 2749899 h 3750845"/>
              <a:gd name="csX3" fmla="*/ 13786536 w 13849907"/>
              <a:gd name="csY3" fmla="*/ 3076394 h 3750845"/>
              <a:gd name="csX4" fmla="*/ 13383150 w 13849907"/>
              <a:gd name="csY4" fmla="*/ 2883685 h 3750845"/>
              <a:gd name="csX5" fmla="*/ 12653303 w 13849907"/>
              <a:gd name="csY5" fmla="*/ 2914588 h 3750845"/>
              <a:gd name="csX6" fmla="*/ 982091 w 13849907"/>
              <a:gd name="csY6" fmla="*/ 3750845 h 3750845"/>
              <a:gd name="csX7" fmla="*/ 0 w 13849907"/>
              <a:gd name="csY7" fmla="*/ 925229 h 3750845"/>
              <a:gd name="csX0" fmla="*/ 0 w 13814255"/>
              <a:gd name="csY0" fmla="*/ 925229 h 3750845"/>
              <a:gd name="csX1" fmla="*/ 12643495 w 13814255"/>
              <a:gd name="csY1" fmla="*/ 0 h 3750845"/>
              <a:gd name="csX2" fmla="*/ 13737319 w 13814255"/>
              <a:gd name="csY2" fmla="*/ 2749899 h 3750845"/>
              <a:gd name="csX3" fmla="*/ 13682737 w 13814255"/>
              <a:gd name="csY3" fmla="*/ 2945516 h 3750845"/>
              <a:gd name="csX4" fmla="*/ 13383150 w 13814255"/>
              <a:gd name="csY4" fmla="*/ 2883685 h 3750845"/>
              <a:gd name="csX5" fmla="*/ 12653303 w 13814255"/>
              <a:gd name="csY5" fmla="*/ 2914588 h 3750845"/>
              <a:gd name="csX6" fmla="*/ 982091 w 13814255"/>
              <a:gd name="csY6" fmla="*/ 3750845 h 3750845"/>
              <a:gd name="csX7" fmla="*/ 0 w 13814255"/>
              <a:gd name="csY7" fmla="*/ 925229 h 3750845"/>
              <a:gd name="csX0" fmla="*/ 0 w 13809295"/>
              <a:gd name="csY0" fmla="*/ 925229 h 3750845"/>
              <a:gd name="csX1" fmla="*/ 12643495 w 13809295"/>
              <a:gd name="csY1" fmla="*/ 0 h 3750845"/>
              <a:gd name="csX2" fmla="*/ 13737319 w 13809295"/>
              <a:gd name="csY2" fmla="*/ 2749899 h 3750845"/>
              <a:gd name="csX3" fmla="*/ 13682737 w 13809295"/>
              <a:gd name="csY3" fmla="*/ 2945516 h 3750845"/>
              <a:gd name="csX4" fmla="*/ 13383150 w 13809295"/>
              <a:gd name="csY4" fmla="*/ 2883685 h 3750845"/>
              <a:gd name="csX5" fmla="*/ 12653303 w 13809295"/>
              <a:gd name="csY5" fmla="*/ 2914588 h 3750845"/>
              <a:gd name="csX6" fmla="*/ 982091 w 13809295"/>
              <a:gd name="csY6" fmla="*/ 3750845 h 3750845"/>
              <a:gd name="csX7" fmla="*/ 0 w 13809295"/>
              <a:gd name="csY7" fmla="*/ 925229 h 3750845"/>
              <a:gd name="csX0" fmla="*/ 0 w 13834441"/>
              <a:gd name="csY0" fmla="*/ 925229 h 3750845"/>
              <a:gd name="csX1" fmla="*/ 12643495 w 13834441"/>
              <a:gd name="csY1" fmla="*/ 0 h 3750845"/>
              <a:gd name="csX2" fmla="*/ 13768738 w 13834441"/>
              <a:gd name="csY2" fmla="*/ 2727018 h 3750845"/>
              <a:gd name="csX3" fmla="*/ 13682737 w 13834441"/>
              <a:gd name="csY3" fmla="*/ 2945516 h 3750845"/>
              <a:gd name="csX4" fmla="*/ 13383150 w 13834441"/>
              <a:gd name="csY4" fmla="*/ 2883685 h 3750845"/>
              <a:gd name="csX5" fmla="*/ 12653303 w 13834441"/>
              <a:gd name="csY5" fmla="*/ 2914588 h 3750845"/>
              <a:gd name="csX6" fmla="*/ 982091 w 13834441"/>
              <a:gd name="csY6" fmla="*/ 3750845 h 3750845"/>
              <a:gd name="csX7" fmla="*/ 0 w 13834441"/>
              <a:gd name="csY7" fmla="*/ 925229 h 3750845"/>
              <a:gd name="csX0" fmla="*/ 0 w 13835682"/>
              <a:gd name="csY0" fmla="*/ 925229 h 3750845"/>
              <a:gd name="csX1" fmla="*/ 12643495 w 13835682"/>
              <a:gd name="csY1" fmla="*/ 0 h 3750845"/>
              <a:gd name="csX2" fmla="*/ 13768738 w 13835682"/>
              <a:gd name="csY2" fmla="*/ 2727018 h 3750845"/>
              <a:gd name="csX3" fmla="*/ 13689406 w 13835682"/>
              <a:gd name="csY3" fmla="*/ 2861465 h 3750845"/>
              <a:gd name="csX4" fmla="*/ 13383150 w 13835682"/>
              <a:gd name="csY4" fmla="*/ 2883685 h 3750845"/>
              <a:gd name="csX5" fmla="*/ 12653303 w 13835682"/>
              <a:gd name="csY5" fmla="*/ 2914588 h 3750845"/>
              <a:gd name="csX6" fmla="*/ 982091 w 13835682"/>
              <a:gd name="csY6" fmla="*/ 3750845 h 3750845"/>
              <a:gd name="csX7" fmla="*/ 0 w 13835682"/>
              <a:gd name="csY7" fmla="*/ 925229 h 3750845"/>
              <a:gd name="csX0" fmla="*/ 0 w 13850727"/>
              <a:gd name="csY0" fmla="*/ 925229 h 3750845"/>
              <a:gd name="csX1" fmla="*/ 12643495 w 13850727"/>
              <a:gd name="csY1" fmla="*/ 0 h 3750845"/>
              <a:gd name="csX2" fmla="*/ 13768738 w 13850727"/>
              <a:gd name="csY2" fmla="*/ 2727018 h 3750845"/>
              <a:gd name="csX3" fmla="*/ 13732499 w 13850727"/>
              <a:gd name="csY3" fmla="*/ 2791324 h 3750845"/>
              <a:gd name="csX4" fmla="*/ 13689406 w 13850727"/>
              <a:gd name="csY4" fmla="*/ 2861465 h 3750845"/>
              <a:gd name="csX5" fmla="*/ 13383150 w 13850727"/>
              <a:gd name="csY5" fmla="*/ 2883685 h 3750845"/>
              <a:gd name="csX6" fmla="*/ 12653303 w 13850727"/>
              <a:gd name="csY6" fmla="*/ 2914588 h 3750845"/>
              <a:gd name="csX7" fmla="*/ 982091 w 13850727"/>
              <a:gd name="csY7" fmla="*/ 3750845 h 3750845"/>
              <a:gd name="csX8" fmla="*/ 0 w 13850727"/>
              <a:gd name="csY8" fmla="*/ 925229 h 3750845"/>
              <a:gd name="csX0" fmla="*/ 0 w 13852616"/>
              <a:gd name="csY0" fmla="*/ 925229 h 3750845"/>
              <a:gd name="csX1" fmla="*/ 12643495 w 13852616"/>
              <a:gd name="csY1" fmla="*/ 0 h 3750845"/>
              <a:gd name="csX2" fmla="*/ 13768738 w 13852616"/>
              <a:gd name="csY2" fmla="*/ 2727018 h 3750845"/>
              <a:gd name="csX3" fmla="*/ 13746440 w 13852616"/>
              <a:gd name="csY3" fmla="*/ 2775514 h 3750845"/>
              <a:gd name="csX4" fmla="*/ 13732499 w 13852616"/>
              <a:gd name="csY4" fmla="*/ 2791324 h 3750845"/>
              <a:gd name="csX5" fmla="*/ 13689406 w 13852616"/>
              <a:gd name="csY5" fmla="*/ 2861465 h 3750845"/>
              <a:gd name="csX6" fmla="*/ 13383150 w 13852616"/>
              <a:gd name="csY6" fmla="*/ 2883685 h 3750845"/>
              <a:gd name="csX7" fmla="*/ 12653303 w 13852616"/>
              <a:gd name="csY7" fmla="*/ 2914588 h 3750845"/>
              <a:gd name="csX8" fmla="*/ 982091 w 13852616"/>
              <a:gd name="csY8" fmla="*/ 3750845 h 3750845"/>
              <a:gd name="csX9" fmla="*/ 0 w 13852616"/>
              <a:gd name="csY9" fmla="*/ 925229 h 3750845"/>
              <a:gd name="csX0" fmla="*/ 0 w 14001442"/>
              <a:gd name="csY0" fmla="*/ 862144 h 3750845"/>
              <a:gd name="csX1" fmla="*/ 12792321 w 14001442"/>
              <a:gd name="csY1" fmla="*/ 0 h 3750845"/>
              <a:gd name="csX2" fmla="*/ 13917564 w 14001442"/>
              <a:gd name="csY2" fmla="*/ 2727018 h 3750845"/>
              <a:gd name="csX3" fmla="*/ 13895266 w 14001442"/>
              <a:gd name="csY3" fmla="*/ 2775514 h 3750845"/>
              <a:gd name="csX4" fmla="*/ 13881325 w 14001442"/>
              <a:gd name="csY4" fmla="*/ 2791324 h 3750845"/>
              <a:gd name="csX5" fmla="*/ 13838232 w 14001442"/>
              <a:gd name="csY5" fmla="*/ 2861465 h 3750845"/>
              <a:gd name="csX6" fmla="*/ 13531976 w 14001442"/>
              <a:gd name="csY6" fmla="*/ 2883685 h 3750845"/>
              <a:gd name="csX7" fmla="*/ 12802129 w 14001442"/>
              <a:gd name="csY7" fmla="*/ 2914588 h 3750845"/>
              <a:gd name="csX8" fmla="*/ 1130917 w 14001442"/>
              <a:gd name="csY8" fmla="*/ 3750845 h 3750845"/>
              <a:gd name="csX9" fmla="*/ 0 w 14001442"/>
              <a:gd name="csY9" fmla="*/ 862144 h 37508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001442" h="3750845">
                <a:moveTo>
                  <a:pt x="0" y="862144"/>
                </a:moveTo>
                <a:lnTo>
                  <a:pt x="12792321" y="0"/>
                </a:lnTo>
                <a:lnTo>
                  <a:pt x="13917564" y="2727018"/>
                </a:lnTo>
                <a:cubicBezTo>
                  <a:pt x="14115776" y="3212595"/>
                  <a:pt x="13901306" y="2764796"/>
                  <a:pt x="13895266" y="2775514"/>
                </a:cubicBezTo>
                <a:cubicBezTo>
                  <a:pt x="13889226" y="2786232"/>
                  <a:pt x="13905218" y="2799990"/>
                  <a:pt x="13881325" y="2791324"/>
                </a:cubicBezTo>
                <a:cubicBezTo>
                  <a:pt x="13857432" y="2782658"/>
                  <a:pt x="13912890" y="2869930"/>
                  <a:pt x="13838232" y="2861465"/>
                </a:cubicBezTo>
                <a:cubicBezTo>
                  <a:pt x="13779204" y="2883763"/>
                  <a:pt x="13705594" y="2889707"/>
                  <a:pt x="13531976" y="2883685"/>
                </a:cubicBezTo>
                <a:cubicBezTo>
                  <a:pt x="13351307" y="2911133"/>
                  <a:pt x="14864258" y="2758410"/>
                  <a:pt x="12802129" y="2914588"/>
                </a:cubicBezTo>
                <a:lnTo>
                  <a:pt x="1130917" y="3750845"/>
                </a:lnTo>
                <a:lnTo>
                  <a:pt x="0" y="862144"/>
                </a:lnTo>
                <a:close/>
              </a:path>
            </a:pathLst>
          </a:custGeom>
          <a:solidFill>
            <a:srgbClr val="948F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8657714-CDE8-6425-EC9D-76DB3EB84161}"/>
              </a:ext>
            </a:extLst>
          </p:cNvPr>
          <p:cNvSpPr txBox="1"/>
          <p:nvPr/>
        </p:nvSpPr>
        <p:spPr>
          <a:xfrm rot="1230674">
            <a:off x="3097710" y="3056996"/>
            <a:ext cx="5682024" cy="769441"/>
          </a:xfrm>
          <a:prstGeom prst="rect">
            <a:avLst/>
          </a:prstGeom>
          <a:noFill/>
        </p:spPr>
        <p:txBody>
          <a:bodyPr wrap="square" rtlCol="0">
            <a:spAutoFit/>
          </a:bodyPr>
          <a:lstStyle/>
          <a:p>
            <a:pPr algn="ctr"/>
            <a:r>
              <a:rPr lang="en-US" sz="4400" dirty="0">
                <a:latin typeface="Magneto" panose="04030805050802020D02" pitchFamily="82" charset="0"/>
              </a:rPr>
              <a:t>What’s the Game?</a:t>
            </a:r>
          </a:p>
        </p:txBody>
      </p:sp>
      <p:sp>
        <p:nvSpPr>
          <p:cNvPr id="5" name="TextBox 4">
            <a:extLst>
              <a:ext uri="{FF2B5EF4-FFF2-40B4-BE49-F238E27FC236}">
                <a16:creationId xmlns:a16="http://schemas.microsoft.com/office/drawing/2014/main" id="{B5E15E97-91C1-8B30-A578-61F058EA823E}"/>
              </a:ext>
            </a:extLst>
          </p:cNvPr>
          <p:cNvSpPr txBox="1"/>
          <p:nvPr/>
        </p:nvSpPr>
        <p:spPr>
          <a:xfrm rot="20573612">
            <a:off x="67530" y="4191107"/>
            <a:ext cx="2901221" cy="646331"/>
          </a:xfrm>
          <a:prstGeom prst="rect">
            <a:avLst/>
          </a:prstGeom>
          <a:noFill/>
        </p:spPr>
        <p:txBody>
          <a:bodyPr wrap="square" rtlCol="0">
            <a:spAutoFit/>
          </a:bodyPr>
          <a:lstStyle/>
          <a:p>
            <a:endParaRPr lang="en-US" dirty="0"/>
          </a:p>
          <a:p>
            <a:r>
              <a:rPr lang="en-US" dirty="0">
                <a:solidFill>
                  <a:schemeClr val="bg1"/>
                </a:solidFill>
                <a:latin typeface="Rockwell" panose="02060603020205020403" pitchFamily="18" charset="0"/>
              </a:rPr>
              <a:t>5 Seconds per Question</a:t>
            </a:r>
          </a:p>
        </p:txBody>
      </p:sp>
      <p:sp>
        <p:nvSpPr>
          <p:cNvPr id="6" name="TextBox 5">
            <a:extLst>
              <a:ext uri="{FF2B5EF4-FFF2-40B4-BE49-F238E27FC236}">
                <a16:creationId xmlns:a16="http://schemas.microsoft.com/office/drawing/2014/main" id="{DB1D072C-A03D-2F50-629A-C77C3555C459}"/>
              </a:ext>
            </a:extLst>
          </p:cNvPr>
          <p:cNvSpPr txBox="1"/>
          <p:nvPr/>
        </p:nvSpPr>
        <p:spPr>
          <a:xfrm rot="1340867">
            <a:off x="4764106" y="5711638"/>
            <a:ext cx="4160139" cy="369332"/>
          </a:xfrm>
          <a:prstGeom prst="rect">
            <a:avLst/>
          </a:prstGeom>
          <a:noFill/>
        </p:spPr>
        <p:txBody>
          <a:bodyPr wrap="square" rtlCol="0">
            <a:spAutoFit/>
          </a:bodyPr>
          <a:lstStyle/>
          <a:p>
            <a:r>
              <a:rPr lang="en-US" dirty="0">
                <a:solidFill>
                  <a:schemeClr val="bg1"/>
                </a:solidFill>
                <a:latin typeface="Rockwell" panose="02060603020205020403" pitchFamily="18" charset="0"/>
              </a:rPr>
              <a:t>Raise the placard with the answer</a:t>
            </a:r>
          </a:p>
        </p:txBody>
      </p:sp>
      <p:sp>
        <p:nvSpPr>
          <p:cNvPr id="8" name="TextBox 7">
            <a:extLst>
              <a:ext uri="{FF2B5EF4-FFF2-40B4-BE49-F238E27FC236}">
                <a16:creationId xmlns:a16="http://schemas.microsoft.com/office/drawing/2014/main" id="{B00450D9-DCF4-FBAC-5CD1-DDD9DCA18A43}"/>
              </a:ext>
            </a:extLst>
          </p:cNvPr>
          <p:cNvSpPr txBox="1"/>
          <p:nvPr/>
        </p:nvSpPr>
        <p:spPr>
          <a:xfrm rot="21002005">
            <a:off x="7070382" y="1032219"/>
            <a:ext cx="4532642" cy="369332"/>
          </a:xfrm>
          <a:prstGeom prst="rect">
            <a:avLst/>
          </a:prstGeom>
          <a:noFill/>
        </p:spPr>
        <p:txBody>
          <a:bodyPr wrap="square" rtlCol="0">
            <a:spAutoFit/>
          </a:bodyPr>
          <a:lstStyle/>
          <a:p>
            <a:r>
              <a:rPr lang="en-US" dirty="0">
                <a:solidFill>
                  <a:schemeClr val="bg1"/>
                </a:solidFill>
                <a:latin typeface="Rockwell" panose="02060603020205020403" pitchFamily="18" charset="0"/>
              </a:rPr>
              <a:t>Don’t Overthink it</a:t>
            </a:r>
          </a:p>
        </p:txBody>
      </p:sp>
      <p:grpSp>
        <p:nvGrpSpPr>
          <p:cNvPr id="19" name="Group 18">
            <a:extLst>
              <a:ext uri="{FF2B5EF4-FFF2-40B4-BE49-F238E27FC236}">
                <a16:creationId xmlns:a16="http://schemas.microsoft.com/office/drawing/2014/main" id="{51D70BEF-E58A-6344-DD99-3DE5FCDB246F}"/>
              </a:ext>
            </a:extLst>
          </p:cNvPr>
          <p:cNvGrpSpPr/>
          <p:nvPr/>
        </p:nvGrpSpPr>
        <p:grpSpPr>
          <a:xfrm>
            <a:off x="36646" y="7108627"/>
            <a:ext cx="12198932" cy="26123017"/>
            <a:chOff x="-14854832" y="7894112"/>
            <a:chExt cx="12198932" cy="26123017"/>
          </a:xfrm>
        </p:grpSpPr>
        <p:pic>
          <p:nvPicPr>
            <p:cNvPr id="14" name="Picture 13">
              <a:extLst>
                <a:ext uri="{FF2B5EF4-FFF2-40B4-BE49-F238E27FC236}">
                  <a16:creationId xmlns:a16="http://schemas.microsoft.com/office/drawing/2014/main" id="{6B94B4BD-DE37-8555-DE77-549CD0E9E6BC}"/>
                </a:ext>
              </a:extLst>
            </p:cNvPr>
            <p:cNvPicPr>
              <a:picLocks noChangeAspect="1"/>
            </p:cNvPicPr>
            <p:nvPr/>
          </p:nvPicPr>
          <p:blipFill>
            <a:blip r:embed="rId4">
              <a:extLst>
                <a:ext uri="{28A0092B-C50C-407E-A947-70E740481C1C}">
                  <a14:useLocalDpi xmlns:a14="http://schemas.microsoft.com/office/drawing/2010/main" val="0"/>
                </a:ext>
              </a:extLst>
            </a:blip>
            <a:srcRect l="35614" t="18232" r="39512" b="1868"/>
            <a:stretch>
              <a:fillRect/>
            </a:stretch>
          </p:blipFill>
          <p:spPr>
            <a:xfrm>
              <a:off x="-14854832" y="7894112"/>
              <a:ext cx="12198932" cy="26123017"/>
            </a:xfrm>
            <a:prstGeom prst="rect">
              <a:avLst/>
            </a:prstGeom>
          </p:spPr>
        </p:pic>
        <p:grpSp>
          <p:nvGrpSpPr>
            <p:cNvPr id="15" name="Group 14">
              <a:extLst>
                <a:ext uri="{FF2B5EF4-FFF2-40B4-BE49-F238E27FC236}">
                  <a16:creationId xmlns:a16="http://schemas.microsoft.com/office/drawing/2014/main" id="{796209E4-3F40-43FC-3302-B7803720106B}"/>
                </a:ext>
              </a:extLst>
            </p:cNvPr>
            <p:cNvGrpSpPr/>
            <p:nvPr/>
          </p:nvGrpSpPr>
          <p:grpSpPr>
            <a:xfrm>
              <a:off x="-12495262" y="9886089"/>
              <a:ext cx="7479792" cy="3711284"/>
              <a:chOff x="-795528" y="10343176"/>
              <a:chExt cx="7479792" cy="3711284"/>
            </a:xfrm>
          </p:grpSpPr>
          <p:sp>
            <p:nvSpPr>
              <p:cNvPr id="41" name="Rectangle: Rounded Corners 40">
                <a:extLst>
                  <a:ext uri="{FF2B5EF4-FFF2-40B4-BE49-F238E27FC236}">
                    <a16:creationId xmlns:a16="http://schemas.microsoft.com/office/drawing/2014/main" id="{5EFD896E-5FC9-6E45-A576-923FD307A844}"/>
                  </a:ext>
                </a:extLst>
              </p:cNvPr>
              <p:cNvSpPr/>
              <p:nvPr/>
            </p:nvSpPr>
            <p:spPr>
              <a:xfrm>
                <a:off x="-795528" y="10343176"/>
                <a:ext cx="7479792" cy="371128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TextBox 41">
                <a:extLst>
                  <a:ext uri="{FF2B5EF4-FFF2-40B4-BE49-F238E27FC236}">
                    <a16:creationId xmlns:a16="http://schemas.microsoft.com/office/drawing/2014/main" id="{DF51272D-2CEF-2DA3-9082-FA06F526B86F}"/>
                  </a:ext>
                </a:extLst>
              </p:cNvPr>
              <p:cNvSpPr txBox="1"/>
              <p:nvPr/>
            </p:nvSpPr>
            <p:spPr>
              <a:xfrm>
                <a:off x="-533126" y="11268184"/>
                <a:ext cx="1779939" cy="1569660"/>
              </a:xfrm>
              <a:prstGeom prst="rect">
                <a:avLst/>
              </a:prstGeom>
              <a:noFill/>
            </p:spPr>
            <p:txBody>
              <a:bodyPr wrap="square" rtlCol="0">
                <a:spAutoFit/>
              </a:bodyPr>
              <a:lstStyle/>
              <a:p>
                <a:r>
                  <a:rPr lang="en-US" sz="9600" dirty="0">
                    <a:solidFill>
                      <a:schemeClr val="bg2">
                        <a:lumMod val="10000"/>
                      </a:schemeClr>
                    </a:solidFill>
                    <a:latin typeface="Rockwell Extra Bold" panose="02060903040505020403" pitchFamily="18" charset="0"/>
                  </a:rPr>
                  <a:t>1.</a:t>
                </a:r>
              </a:p>
            </p:txBody>
          </p:sp>
          <p:sp>
            <p:nvSpPr>
              <p:cNvPr id="43" name="TextBox 42">
                <a:extLst>
                  <a:ext uri="{FF2B5EF4-FFF2-40B4-BE49-F238E27FC236}">
                    <a16:creationId xmlns:a16="http://schemas.microsoft.com/office/drawing/2014/main" id="{41A6910B-F6D1-EED8-AD52-EC5FFCE5B527}"/>
                  </a:ext>
                </a:extLst>
              </p:cNvPr>
              <p:cNvSpPr txBox="1"/>
              <p:nvPr/>
            </p:nvSpPr>
            <p:spPr>
              <a:xfrm>
                <a:off x="1246813" y="10620664"/>
                <a:ext cx="5178309" cy="2062103"/>
              </a:xfrm>
              <a:prstGeom prst="rect">
                <a:avLst/>
              </a:prstGeom>
              <a:noFill/>
            </p:spPr>
            <p:txBody>
              <a:bodyPr wrap="square" rtlCol="0">
                <a:spAutoFit/>
              </a:bodyPr>
              <a:lstStyle/>
              <a:p>
                <a:endParaRPr lang="en-US" sz="3200" i="1" dirty="0"/>
              </a:p>
              <a:p>
                <a:r>
                  <a:rPr lang="en-US" sz="3200" i="1" dirty="0"/>
                  <a:t>AI is mostly only useful for generating text in tools like ChatGPT or Gemini.</a:t>
                </a:r>
                <a:endParaRPr lang="en-US" sz="3200" dirty="0"/>
              </a:p>
            </p:txBody>
          </p:sp>
          <p:sp>
            <p:nvSpPr>
              <p:cNvPr id="44" name="TextBox 43">
                <a:extLst>
                  <a:ext uri="{FF2B5EF4-FFF2-40B4-BE49-F238E27FC236}">
                    <a16:creationId xmlns:a16="http://schemas.microsoft.com/office/drawing/2014/main" id="{64ACD03C-F2B8-C815-296C-62AA48003B43}"/>
                  </a:ext>
                </a:extLst>
              </p:cNvPr>
              <p:cNvSpPr txBox="1"/>
              <p:nvPr/>
            </p:nvSpPr>
            <p:spPr>
              <a:xfrm>
                <a:off x="646709" y="13001822"/>
                <a:ext cx="5487434" cy="461665"/>
              </a:xfrm>
              <a:prstGeom prst="rect">
                <a:avLst/>
              </a:prstGeom>
              <a:noFill/>
            </p:spPr>
            <p:txBody>
              <a:bodyPr wrap="square" rtlCol="0">
                <a:spAutoFit/>
              </a:bodyPr>
              <a:lstStyle/>
              <a:p>
                <a:r>
                  <a:rPr lang="en-US" sz="2400" b="1" dirty="0">
                    <a:latin typeface="Arial Black" panose="020B0A04020102020204" pitchFamily="34" charset="0"/>
                  </a:rPr>
                  <a:t>A) True                      B) False</a:t>
                </a:r>
              </a:p>
            </p:txBody>
          </p:sp>
        </p:grpSp>
        <p:grpSp>
          <p:nvGrpSpPr>
            <p:cNvPr id="45" name="Group 44">
              <a:extLst>
                <a:ext uri="{FF2B5EF4-FFF2-40B4-BE49-F238E27FC236}">
                  <a16:creationId xmlns:a16="http://schemas.microsoft.com/office/drawing/2014/main" id="{28B328AC-B19F-D214-1F08-B14765D73AB1}"/>
                </a:ext>
              </a:extLst>
            </p:cNvPr>
            <p:cNvGrpSpPr/>
            <p:nvPr/>
          </p:nvGrpSpPr>
          <p:grpSpPr>
            <a:xfrm>
              <a:off x="-12495262" y="16548824"/>
              <a:ext cx="7479792" cy="3711284"/>
              <a:chOff x="2523877" y="7784497"/>
              <a:chExt cx="7479792" cy="3711284"/>
            </a:xfrm>
          </p:grpSpPr>
          <p:sp>
            <p:nvSpPr>
              <p:cNvPr id="57" name="Rectangle: Rounded Corners 56">
                <a:extLst>
                  <a:ext uri="{FF2B5EF4-FFF2-40B4-BE49-F238E27FC236}">
                    <a16:creationId xmlns:a16="http://schemas.microsoft.com/office/drawing/2014/main" id="{4886D55C-0188-2FF5-D611-5C8542500254}"/>
                  </a:ext>
                </a:extLst>
              </p:cNvPr>
              <p:cNvSpPr/>
              <p:nvPr/>
            </p:nvSpPr>
            <p:spPr>
              <a:xfrm>
                <a:off x="2523877" y="7784497"/>
                <a:ext cx="7479792" cy="371128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FA969C0E-4BCA-7983-53C4-26B0DD1B2E85}"/>
                  </a:ext>
                </a:extLst>
              </p:cNvPr>
              <p:cNvSpPr txBox="1"/>
              <p:nvPr/>
            </p:nvSpPr>
            <p:spPr>
              <a:xfrm>
                <a:off x="2764703" y="8893170"/>
                <a:ext cx="1779939" cy="1569660"/>
              </a:xfrm>
              <a:prstGeom prst="rect">
                <a:avLst/>
              </a:prstGeom>
              <a:noFill/>
            </p:spPr>
            <p:txBody>
              <a:bodyPr wrap="square" rtlCol="0">
                <a:spAutoFit/>
              </a:bodyPr>
              <a:lstStyle/>
              <a:p>
                <a:r>
                  <a:rPr lang="en-US" sz="9600" dirty="0">
                    <a:solidFill>
                      <a:schemeClr val="bg2">
                        <a:lumMod val="10000"/>
                      </a:schemeClr>
                    </a:solidFill>
                    <a:latin typeface="Rockwell Extra Bold" panose="02060903040505020403" pitchFamily="18" charset="0"/>
                  </a:rPr>
                  <a:t>2.</a:t>
                </a:r>
              </a:p>
            </p:txBody>
          </p:sp>
          <p:sp>
            <p:nvSpPr>
              <p:cNvPr id="59" name="TextBox 58">
                <a:extLst>
                  <a:ext uri="{FF2B5EF4-FFF2-40B4-BE49-F238E27FC236}">
                    <a16:creationId xmlns:a16="http://schemas.microsoft.com/office/drawing/2014/main" id="{44C2E4CE-DADA-1BED-7FAE-B3C64BBD89AC}"/>
                  </a:ext>
                </a:extLst>
              </p:cNvPr>
              <p:cNvSpPr txBox="1"/>
              <p:nvPr/>
            </p:nvSpPr>
            <p:spPr>
              <a:xfrm>
                <a:off x="4596796" y="8298888"/>
                <a:ext cx="5178309" cy="1569660"/>
              </a:xfrm>
              <a:prstGeom prst="rect">
                <a:avLst/>
              </a:prstGeom>
              <a:noFill/>
            </p:spPr>
            <p:txBody>
              <a:bodyPr wrap="square" rtlCol="0">
                <a:spAutoFit/>
              </a:bodyPr>
              <a:lstStyle/>
              <a:p>
                <a:endParaRPr lang="en-US" sz="3200" i="1" dirty="0"/>
              </a:p>
              <a:p>
                <a:r>
                  <a:rPr lang="en-US" sz="3200" i="1" dirty="0"/>
                  <a:t>AI will replace most jobs in the future.</a:t>
                </a:r>
                <a:endParaRPr lang="en-US" sz="3200" dirty="0"/>
              </a:p>
            </p:txBody>
          </p:sp>
          <p:sp>
            <p:nvSpPr>
              <p:cNvPr id="60" name="TextBox 59">
                <a:extLst>
                  <a:ext uri="{FF2B5EF4-FFF2-40B4-BE49-F238E27FC236}">
                    <a16:creationId xmlns:a16="http://schemas.microsoft.com/office/drawing/2014/main" id="{A7CFE3DF-2140-EC11-49E7-B3CC01592457}"/>
                  </a:ext>
                </a:extLst>
              </p:cNvPr>
              <p:cNvSpPr txBox="1"/>
              <p:nvPr/>
            </p:nvSpPr>
            <p:spPr>
              <a:xfrm>
                <a:off x="4013737" y="10551052"/>
                <a:ext cx="5487434" cy="461665"/>
              </a:xfrm>
              <a:prstGeom prst="rect">
                <a:avLst/>
              </a:prstGeom>
              <a:noFill/>
            </p:spPr>
            <p:txBody>
              <a:bodyPr wrap="square" rtlCol="0">
                <a:spAutoFit/>
              </a:bodyPr>
              <a:lstStyle/>
              <a:p>
                <a:r>
                  <a:rPr lang="en-US" sz="2400" b="1" dirty="0">
                    <a:latin typeface="Arial Black" panose="020B0A04020102020204" pitchFamily="34" charset="0"/>
                  </a:rPr>
                  <a:t>A) True                      B) False</a:t>
                </a:r>
              </a:p>
            </p:txBody>
          </p:sp>
        </p:grpSp>
        <p:grpSp>
          <p:nvGrpSpPr>
            <p:cNvPr id="46" name="Group 45">
              <a:extLst>
                <a:ext uri="{FF2B5EF4-FFF2-40B4-BE49-F238E27FC236}">
                  <a16:creationId xmlns:a16="http://schemas.microsoft.com/office/drawing/2014/main" id="{F56CCC26-4806-EBB8-3E24-22B4FACFEC49}"/>
                </a:ext>
              </a:extLst>
            </p:cNvPr>
            <p:cNvGrpSpPr/>
            <p:nvPr/>
          </p:nvGrpSpPr>
          <p:grpSpPr>
            <a:xfrm>
              <a:off x="-12495262" y="22974320"/>
              <a:ext cx="7479792" cy="3711284"/>
              <a:chOff x="-14975864" y="12589286"/>
              <a:chExt cx="7479792" cy="3711284"/>
            </a:xfrm>
          </p:grpSpPr>
          <p:sp>
            <p:nvSpPr>
              <p:cNvPr id="53" name="Rectangle: Rounded Corners 52">
                <a:extLst>
                  <a:ext uri="{FF2B5EF4-FFF2-40B4-BE49-F238E27FC236}">
                    <a16:creationId xmlns:a16="http://schemas.microsoft.com/office/drawing/2014/main" id="{091DC141-50FF-B0B5-A49A-C81BBCA8D4D3}"/>
                  </a:ext>
                </a:extLst>
              </p:cNvPr>
              <p:cNvSpPr/>
              <p:nvPr/>
            </p:nvSpPr>
            <p:spPr>
              <a:xfrm>
                <a:off x="-14975864" y="12589286"/>
                <a:ext cx="7479792" cy="371128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TextBox 53">
                <a:extLst>
                  <a:ext uri="{FF2B5EF4-FFF2-40B4-BE49-F238E27FC236}">
                    <a16:creationId xmlns:a16="http://schemas.microsoft.com/office/drawing/2014/main" id="{EB2233F6-8D53-1FF0-599E-A9DFFCE43891}"/>
                  </a:ext>
                </a:extLst>
              </p:cNvPr>
              <p:cNvSpPr txBox="1"/>
              <p:nvPr/>
            </p:nvSpPr>
            <p:spPr>
              <a:xfrm>
                <a:off x="-14667105" y="13631134"/>
                <a:ext cx="1779939" cy="1569660"/>
              </a:xfrm>
              <a:prstGeom prst="rect">
                <a:avLst/>
              </a:prstGeom>
              <a:noFill/>
            </p:spPr>
            <p:txBody>
              <a:bodyPr wrap="square" rtlCol="0">
                <a:spAutoFit/>
              </a:bodyPr>
              <a:lstStyle/>
              <a:p>
                <a:r>
                  <a:rPr lang="en-US" sz="9600" dirty="0">
                    <a:solidFill>
                      <a:schemeClr val="bg2">
                        <a:lumMod val="10000"/>
                      </a:schemeClr>
                    </a:solidFill>
                    <a:latin typeface="Rockwell Extra Bold" panose="02060903040505020403" pitchFamily="18" charset="0"/>
                  </a:rPr>
                  <a:t>3.</a:t>
                </a:r>
              </a:p>
            </p:txBody>
          </p:sp>
          <p:sp>
            <p:nvSpPr>
              <p:cNvPr id="55" name="TextBox 54">
                <a:extLst>
                  <a:ext uri="{FF2B5EF4-FFF2-40B4-BE49-F238E27FC236}">
                    <a16:creationId xmlns:a16="http://schemas.microsoft.com/office/drawing/2014/main" id="{13667696-DB41-5E2A-5625-37C6E5E938B9}"/>
                  </a:ext>
                </a:extLst>
              </p:cNvPr>
              <p:cNvSpPr txBox="1"/>
              <p:nvPr/>
            </p:nvSpPr>
            <p:spPr>
              <a:xfrm>
                <a:off x="-12902946" y="12704638"/>
                <a:ext cx="5178309" cy="2431435"/>
              </a:xfrm>
              <a:prstGeom prst="rect">
                <a:avLst/>
              </a:prstGeom>
              <a:noFill/>
            </p:spPr>
            <p:txBody>
              <a:bodyPr wrap="square" rtlCol="0">
                <a:spAutoFit/>
              </a:bodyPr>
              <a:lstStyle/>
              <a:p>
                <a:endParaRPr lang="en-US" sz="2400" i="1" dirty="0"/>
              </a:p>
              <a:p>
                <a:r>
                  <a:rPr lang="en-US" sz="3200" i="1" dirty="0"/>
                  <a:t>AI-generated content (text, images, code) is now indistinguishable from human-created work.</a:t>
                </a:r>
                <a:endParaRPr lang="en-US" sz="3200" dirty="0"/>
              </a:p>
            </p:txBody>
          </p:sp>
          <p:sp>
            <p:nvSpPr>
              <p:cNvPr id="56" name="TextBox 55">
                <a:extLst>
                  <a:ext uri="{FF2B5EF4-FFF2-40B4-BE49-F238E27FC236}">
                    <a16:creationId xmlns:a16="http://schemas.microsoft.com/office/drawing/2014/main" id="{6788D515-BAAE-734E-B2A0-60698D08B3D2}"/>
                  </a:ext>
                </a:extLst>
              </p:cNvPr>
              <p:cNvSpPr txBox="1"/>
              <p:nvPr/>
            </p:nvSpPr>
            <p:spPr>
              <a:xfrm>
                <a:off x="-13564475" y="15314503"/>
                <a:ext cx="5487434" cy="461665"/>
              </a:xfrm>
              <a:prstGeom prst="rect">
                <a:avLst/>
              </a:prstGeom>
              <a:noFill/>
            </p:spPr>
            <p:txBody>
              <a:bodyPr wrap="square" rtlCol="0">
                <a:spAutoFit/>
              </a:bodyPr>
              <a:lstStyle/>
              <a:p>
                <a:r>
                  <a:rPr lang="en-US" sz="2400" b="1" dirty="0">
                    <a:latin typeface="Arial Black" panose="020B0A04020102020204" pitchFamily="34" charset="0"/>
                  </a:rPr>
                  <a:t>A) True                      B) False</a:t>
                </a:r>
              </a:p>
            </p:txBody>
          </p:sp>
        </p:grpSp>
        <p:grpSp>
          <p:nvGrpSpPr>
            <p:cNvPr id="47" name="Group 46">
              <a:extLst>
                <a:ext uri="{FF2B5EF4-FFF2-40B4-BE49-F238E27FC236}">
                  <a16:creationId xmlns:a16="http://schemas.microsoft.com/office/drawing/2014/main" id="{BCE1ED1F-4398-0442-4D11-CF963069B423}"/>
                </a:ext>
              </a:extLst>
            </p:cNvPr>
            <p:cNvGrpSpPr/>
            <p:nvPr/>
          </p:nvGrpSpPr>
          <p:grpSpPr>
            <a:xfrm>
              <a:off x="-12390279" y="29066616"/>
              <a:ext cx="7479792" cy="3711284"/>
              <a:chOff x="-15189416" y="19796761"/>
              <a:chExt cx="7479792" cy="3711284"/>
            </a:xfrm>
          </p:grpSpPr>
          <p:sp>
            <p:nvSpPr>
              <p:cNvPr id="48" name="Rectangle: Rounded Corners 47">
                <a:extLst>
                  <a:ext uri="{FF2B5EF4-FFF2-40B4-BE49-F238E27FC236}">
                    <a16:creationId xmlns:a16="http://schemas.microsoft.com/office/drawing/2014/main" id="{9BE73A2E-6363-43F2-BC6E-5088586EF510}"/>
                  </a:ext>
                </a:extLst>
              </p:cNvPr>
              <p:cNvSpPr/>
              <p:nvPr/>
            </p:nvSpPr>
            <p:spPr>
              <a:xfrm>
                <a:off x="-15189416" y="19796761"/>
                <a:ext cx="7479792" cy="371128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Box 48">
                <a:extLst>
                  <a:ext uri="{FF2B5EF4-FFF2-40B4-BE49-F238E27FC236}">
                    <a16:creationId xmlns:a16="http://schemas.microsoft.com/office/drawing/2014/main" id="{B5CDEBFE-2CE5-6DD6-797A-C992B0B0E275}"/>
                  </a:ext>
                </a:extLst>
              </p:cNvPr>
              <p:cNvSpPr txBox="1"/>
              <p:nvPr/>
            </p:nvSpPr>
            <p:spPr>
              <a:xfrm>
                <a:off x="-14975102" y="20867573"/>
                <a:ext cx="1779939" cy="1569660"/>
              </a:xfrm>
              <a:prstGeom prst="rect">
                <a:avLst/>
              </a:prstGeom>
              <a:noFill/>
            </p:spPr>
            <p:txBody>
              <a:bodyPr wrap="square" rtlCol="0">
                <a:spAutoFit/>
              </a:bodyPr>
              <a:lstStyle/>
              <a:p>
                <a:r>
                  <a:rPr lang="en-US" sz="9600" dirty="0">
                    <a:solidFill>
                      <a:schemeClr val="bg2">
                        <a:lumMod val="10000"/>
                      </a:schemeClr>
                    </a:solidFill>
                    <a:latin typeface="Rockwell Extra Bold" panose="02060903040505020403" pitchFamily="18" charset="0"/>
                  </a:rPr>
                  <a:t>4.</a:t>
                </a:r>
              </a:p>
            </p:txBody>
          </p:sp>
          <p:sp>
            <p:nvSpPr>
              <p:cNvPr id="51" name="TextBox 50">
                <a:extLst>
                  <a:ext uri="{FF2B5EF4-FFF2-40B4-BE49-F238E27FC236}">
                    <a16:creationId xmlns:a16="http://schemas.microsoft.com/office/drawing/2014/main" id="{BD6FB2E4-468F-333E-2CB4-CF781CEE7F60}"/>
                  </a:ext>
                </a:extLst>
              </p:cNvPr>
              <p:cNvSpPr txBox="1"/>
              <p:nvPr/>
            </p:nvSpPr>
            <p:spPr>
              <a:xfrm>
                <a:off x="-13158262" y="21011169"/>
                <a:ext cx="5178309" cy="1569660"/>
              </a:xfrm>
              <a:prstGeom prst="rect">
                <a:avLst/>
              </a:prstGeom>
              <a:noFill/>
            </p:spPr>
            <p:txBody>
              <a:bodyPr wrap="square" rtlCol="0">
                <a:spAutoFit/>
              </a:bodyPr>
              <a:lstStyle/>
              <a:p>
                <a:r>
                  <a:rPr lang="en-US" sz="3200" i="1" dirty="0"/>
                  <a:t>AI is working like a human brain.</a:t>
                </a:r>
              </a:p>
              <a:p>
                <a:endParaRPr lang="en-US" sz="3200" dirty="0"/>
              </a:p>
            </p:txBody>
          </p:sp>
          <p:sp>
            <p:nvSpPr>
              <p:cNvPr id="52" name="TextBox 51">
                <a:extLst>
                  <a:ext uri="{FF2B5EF4-FFF2-40B4-BE49-F238E27FC236}">
                    <a16:creationId xmlns:a16="http://schemas.microsoft.com/office/drawing/2014/main" id="{61BDD296-C8A7-4582-B0F9-F1D7626FAF01}"/>
                  </a:ext>
                </a:extLst>
              </p:cNvPr>
              <p:cNvSpPr txBox="1"/>
              <p:nvPr/>
            </p:nvSpPr>
            <p:spPr>
              <a:xfrm>
                <a:off x="-13795267" y="22510973"/>
                <a:ext cx="5487434" cy="461665"/>
              </a:xfrm>
              <a:prstGeom prst="rect">
                <a:avLst/>
              </a:prstGeom>
              <a:noFill/>
            </p:spPr>
            <p:txBody>
              <a:bodyPr wrap="square" rtlCol="0">
                <a:spAutoFit/>
              </a:bodyPr>
              <a:lstStyle/>
              <a:p>
                <a:r>
                  <a:rPr lang="en-US" sz="2400" b="1" dirty="0">
                    <a:latin typeface="Arial Black" panose="020B0A04020102020204" pitchFamily="34" charset="0"/>
                  </a:rPr>
                  <a:t>A) True                      B) False</a:t>
                </a:r>
              </a:p>
            </p:txBody>
          </p:sp>
        </p:grpSp>
      </p:grpSp>
    </p:spTree>
    <p:extLst>
      <p:ext uri="{BB962C8B-B14F-4D97-AF65-F5344CB8AC3E}">
        <p14:creationId xmlns:p14="http://schemas.microsoft.com/office/powerpoint/2010/main" val="24835447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200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8CD45-AC51-A6E1-9F1B-C57557D54B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40CF4-050D-1D00-6DBA-D447215C6CAA}"/>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693B01E2-DF5E-F34C-33CE-AACCB9CD65C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 r="1933" b="42238"/>
          <a:stretch>
            <a:fillRect/>
          </a:stretch>
        </p:blipFill>
        <p:spPr>
          <a:xfrm>
            <a:off x="-1" y="0"/>
            <a:ext cx="12198593" cy="4041647"/>
          </a:xfrm>
          <a:prstGeom prst="rect">
            <a:avLst/>
          </a:prstGeom>
        </p:spPr>
      </p:pic>
      <p:sp>
        <p:nvSpPr>
          <p:cNvPr id="9" name="TextBox 8">
            <a:extLst>
              <a:ext uri="{FF2B5EF4-FFF2-40B4-BE49-F238E27FC236}">
                <a16:creationId xmlns:a16="http://schemas.microsoft.com/office/drawing/2014/main" id="{BBFDA459-EF59-E928-1793-C4D406CB3EF9}"/>
              </a:ext>
            </a:extLst>
          </p:cNvPr>
          <p:cNvSpPr txBox="1"/>
          <p:nvPr/>
        </p:nvSpPr>
        <p:spPr>
          <a:xfrm>
            <a:off x="-70579" y="1965323"/>
            <a:ext cx="6007608" cy="1569660"/>
          </a:xfrm>
          <a:prstGeom prst="rect">
            <a:avLst/>
          </a:prstGeom>
          <a:noFill/>
        </p:spPr>
        <p:txBody>
          <a:bodyPr wrap="square" rtlCol="0">
            <a:spAutoFit/>
          </a:bodyPr>
          <a:lstStyle/>
          <a:p>
            <a:pPr algn="ctr"/>
            <a:r>
              <a:rPr lang="en-US" sz="9600" dirty="0">
                <a:solidFill>
                  <a:schemeClr val="bg1"/>
                </a:solidFill>
                <a:latin typeface="Rockwell Extra Bold" panose="02060903040505020403" pitchFamily="18" charset="0"/>
              </a:rPr>
              <a:t>AI </a:t>
            </a:r>
            <a:r>
              <a:rPr lang="en-US" sz="2000" dirty="0">
                <a:solidFill>
                  <a:schemeClr val="bg1"/>
                </a:solidFill>
                <a:latin typeface="Rockwell Extra Bold" panose="02060903040505020403" pitchFamily="18" charset="0"/>
              </a:rPr>
              <a:t>in</a:t>
            </a:r>
            <a:endParaRPr lang="en-US" sz="9600" dirty="0">
              <a:solidFill>
                <a:schemeClr val="bg1"/>
              </a:solidFill>
              <a:latin typeface="Rockwell Extra Bold" panose="02060903040505020403" pitchFamily="18" charset="0"/>
            </a:endParaRPr>
          </a:p>
        </p:txBody>
      </p:sp>
      <p:sp>
        <p:nvSpPr>
          <p:cNvPr id="10" name="TextBox 9">
            <a:extLst>
              <a:ext uri="{FF2B5EF4-FFF2-40B4-BE49-F238E27FC236}">
                <a16:creationId xmlns:a16="http://schemas.microsoft.com/office/drawing/2014/main" id="{1E555993-F373-13EB-C9BF-4F5CE102CEFE}"/>
              </a:ext>
            </a:extLst>
          </p:cNvPr>
          <p:cNvSpPr txBox="1"/>
          <p:nvPr/>
        </p:nvSpPr>
        <p:spPr>
          <a:xfrm>
            <a:off x="392545" y="4596878"/>
            <a:ext cx="6894576" cy="1569660"/>
          </a:xfrm>
          <a:prstGeom prst="rect">
            <a:avLst/>
          </a:prstGeom>
          <a:noFill/>
        </p:spPr>
        <p:txBody>
          <a:bodyPr wrap="square" rtlCol="0">
            <a:spAutoFit/>
          </a:bodyPr>
          <a:lstStyle/>
          <a:p>
            <a:r>
              <a:rPr lang="en-US" sz="9600" dirty="0">
                <a:gradFill>
                  <a:gsLst>
                    <a:gs pos="0">
                      <a:srgbClr val="00224F"/>
                    </a:gs>
                    <a:gs pos="74000">
                      <a:srgbClr val="2B55C4"/>
                    </a:gs>
                    <a:gs pos="83000">
                      <a:srgbClr val="AFD0FD"/>
                    </a:gs>
                    <a:gs pos="100000">
                      <a:schemeClr val="accent1">
                        <a:lumMod val="30000"/>
                        <a:lumOff val="70000"/>
                      </a:schemeClr>
                    </a:gs>
                  </a:gsLst>
                  <a:lin ang="5400000" scaled="1"/>
                </a:gradFill>
                <a:latin typeface="Rockwell Extra Bold" panose="02060903040505020403" pitchFamily="18" charset="0"/>
              </a:rPr>
              <a:t>Business</a:t>
            </a:r>
          </a:p>
        </p:txBody>
      </p:sp>
      <p:sp>
        <p:nvSpPr>
          <p:cNvPr id="11" name="Right Triangle 10">
            <a:extLst>
              <a:ext uri="{FF2B5EF4-FFF2-40B4-BE49-F238E27FC236}">
                <a16:creationId xmlns:a16="http://schemas.microsoft.com/office/drawing/2014/main" id="{CEDD3595-987B-9AA7-D29A-190889B7F141}"/>
              </a:ext>
            </a:extLst>
          </p:cNvPr>
          <p:cNvSpPr/>
          <p:nvPr/>
        </p:nvSpPr>
        <p:spPr>
          <a:xfrm>
            <a:off x="-62092" y="3009620"/>
            <a:ext cx="12217445" cy="3945118"/>
          </a:xfrm>
          <a:custGeom>
            <a:avLst/>
            <a:gdLst>
              <a:gd name="csX0" fmla="*/ 0 w 12198592"/>
              <a:gd name="csY0" fmla="*/ 3916837 h 3916837"/>
              <a:gd name="csX1" fmla="*/ 0 w 12198592"/>
              <a:gd name="csY1" fmla="*/ 0 h 3916837"/>
              <a:gd name="csX2" fmla="*/ 12198592 w 12198592"/>
              <a:gd name="csY2" fmla="*/ 3916837 h 3916837"/>
              <a:gd name="csX3" fmla="*/ 0 w 12198592"/>
              <a:gd name="csY3" fmla="*/ 3916837 h 3916837"/>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198592"/>
              <a:gd name="csY0" fmla="*/ 3927769 h 3927769"/>
              <a:gd name="csX1" fmla="*/ 9427 w 12198592"/>
              <a:gd name="csY1" fmla="*/ 48639 h 3927769"/>
              <a:gd name="csX2" fmla="*/ 12198592 w 12198592"/>
              <a:gd name="csY2" fmla="*/ 3927769 h 3927769"/>
              <a:gd name="csX3" fmla="*/ 0 w 12198592"/>
              <a:gd name="csY3" fmla="*/ 3927769 h 3927769"/>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217445"/>
              <a:gd name="csY0" fmla="*/ 3879130 h 3945118"/>
              <a:gd name="csX1" fmla="*/ 9427 w 12217445"/>
              <a:gd name="csY1" fmla="*/ 0 h 3945118"/>
              <a:gd name="csX2" fmla="*/ 12217445 w 12217445"/>
              <a:gd name="csY2" fmla="*/ 3945118 h 3945118"/>
              <a:gd name="csX3" fmla="*/ 0 w 12217445"/>
              <a:gd name="csY3" fmla="*/ 3879130 h 3945118"/>
              <a:gd name="csX0" fmla="*/ 0 w 12217445"/>
              <a:gd name="csY0" fmla="*/ 3879130 h 3945118"/>
              <a:gd name="csX1" fmla="*/ 9427 w 12217445"/>
              <a:gd name="csY1" fmla="*/ 0 h 3945118"/>
              <a:gd name="csX2" fmla="*/ 12217445 w 12217445"/>
              <a:gd name="csY2" fmla="*/ 3945118 h 3945118"/>
              <a:gd name="csX3" fmla="*/ 0 w 12217445"/>
              <a:gd name="csY3" fmla="*/ 3879130 h 3945118"/>
            </a:gdLst>
            <a:ahLst/>
            <a:cxnLst>
              <a:cxn ang="0">
                <a:pos x="csX0" y="csY0"/>
              </a:cxn>
              <a:cxn ang="0">
                <a:pos x="csX1" y="csY1"/>
              </a:cxn>
              <a:cxn ang="0">
                <a:pos x="csX2" y="csY2"/>
              </a:cxn>
              <a:cxn ang="0">
                <a:pos x="csX3" y="csY3"/>
              </a:cxn>
            </a:cxnLst>
            <a:rect l="l" t="t" r="r" b="b"/>
            <a:pathLst>
              <a:path w="12217445" h="3945118">
                <a:moveTo>
                  <a:pt x="0" y="3879130"/>
                </a:moveTo>
                <a:cubicBezTo>
                  <a:pt x="3142" y="2586087"/>
                  <a:pt x="6285" y="1293043"/>
                  <a:pt x="9427" y="0"/>
                </a:cubicBezTo>
                <a:cubicBezTo>
                  <a:pt x="4185603" y="1570"/>
                  <a:pt x="8088403" y="2614368"/>
                  <a:pt x="12217445" y="3945118"/>
                </a:cubicBezTo>
                <a:lnTo>
                  <a:pt x="0" y="3879130"/>
                </a:lnTo>
                <a:close/>
              </a:path>
            </a:pathLst>
          </a:custGeom>
          <a:solidFill>
            <a:srgbClr val="4454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ight Triangle 10">
            <a:extLst>
              <a:ext uri="{FF2B5EF4-FFF2-40B4-BE49-F238E27FC236}">
                <a16:creationId xmlns:a16="http://schemas.microsoft.com/office/drawing/2014/main" id="{339E45D1-675D-26D0-78A0-F50F6D3C8234}"/>
              </a:ext>
            </a:extLst>
          </p:cNvPr>
          <p:cNvSpPr/>
          <p:nvPr/>
        </p:nvSpPr>
        <p:spPr>
          <a:xfrm rot="10800000">
            <a:off x="-18853" y="-32665"/>
            <a:ext cx="12217445" cy="3945118"/>
          </a:xfrm>
          <a:custGeom>
            <a:avLst/>
            <a:gdLst>
              <a:gd name="csX0" fmla="*/ 0 w 12198592"/>
              <a:gd name="csY0" fmla="*/ 3916837 h 3916837"/>
              <a:gd name="csX1" fmla="*/ 0 w 12198592"/>
              <a:gd name="csY1" fmla="*/ 0 h 3916837"/>
              <a:gd name="csX2" fmla="*/ 12198592 w 12198592"/>
              <a:gd name="csY2" fmla="*/ 3916837 h 3916837"/>
              <a:gd name="csX3" fmla="*/ 0 w 12198592"/>
              <a:gd name="csY3" fmla="*/ 3916837 h 3916837"/>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198592"/>
              <a:gd name="csY0" fmla="*/ 3927769 h 3927769"/>
              <a:gd name="csX1" fmla="*/ 9427 w 12198592"/>
              <a:gd name="csY1" fmla="*/ 48639 h 3927769"/>
              <a:gd name="csX2" fmla="*/ 12198592 w 12198592"/>
              <a:gd name="csY2" fmla="*/ 3927769 h 3927769"/>
              <a:gd name="csX3" fmla="*/ 0 w 12198592"/>
              <a:gd name="csY3" fmla="*/ 3927769 h 3927769"/>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217445"/>
              <a:gd name="csY0" fmla="*/ 3879130 h 3945118"/>
              <a:gd name="csX1" fmla="*/ 9427 w 12217445"/>
              <a:gd name="csY1" fmla="*/ 0 h 3945118"/>
              <a:gd name="csX2" fmla="*/ 12217445 w 12217445"/>
              <a:gd name="csY2" fmla="*/ 3945118 h 3945118"/>
              <a:gd name="csX3" fmla="*/ 0 w 12217445"/>
              <a:gd name="csY3" fmla="*/ 3879130 h 3945118"/>
              <a:gd name="csX0" fmla="*/ 0 w 12217445"/>
              <a:gd name="csY0" fmla="*/ 3879130 h 3945118"/>
              <a:gd name="csX1" fmla="*/ 9427 w 12217445"/>
              <a:gd name="csY1" fmla="*/ 0 h 3945118"/>
              <a:gd name="csX2" fmla="*/ 12217445 w 12217445"/>
              <a:gd name="csY2" fmla="*/ 3945118 h 3945118"/>
              <a:gd name="csX3" fmla="*/ 0 w 12217445"/>
              <a:gd name="csY3" fmla="*/ 3879130 h 3945118"/>
            </a:gdLst>
            <a:ahLst/>
            <a:cxnLst>
              <a:cxn ang="0">
                <a:pos x="csX0" y="csY0"/>
              </a:cxn>
              <a:cxn ang="0">
                <a:pos x="csX1" y="csY1"/>
              </a:cxn>
              <a:cxn ang="0">
                <a:pos x="csX2" y="csY2"/>
              </a:cxn>
              <a:cxn ang="0">
                <a:pos x="csX3" y="csY3"/>
              </a:cxn>
            </a:cxnLst>
            <a:rect l="l" t="t" r="r" b="b"/>
            <a:pathLst>
              <a:path w="12217445" h="3945118">
                <a:moveTo>
                  <a:pt x="0" y="3879130"/>
                </a:moveTo>
                <a:cubicBezTo>
                  <a:pt x="3142" y="2586087"/>
                  <a:pt x="6285" y="1293043"/>
                  <a:pt x="9427" y="0"/>
                </a:cubicBezTo>
                <a:cubicBezTo>
                  <a:pt x="4185603" y="1570"/>
                  <a:pt x="8088403" y="2614368"/>
                  <a:pt x="12217445" y="3945118"/>
                </a:cubicBezTo>
                <a:lnTo>
                  <a:pt x="0" y="3879130"/>
                </a:lnTo>
                <a:close/>
              </a:path>
            </a:pathLst>
          </a:custGeom>
          <a:solidFill>
            <a:schemeClr val="tx2"/>
          </a:solidFill>
          <a:ln>
            <a:solidFill>
              <a:srgbClr val="002D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a:extLst>
              <a:ext uri="{FF2B5EF4-FFF2-40B4-BE49-F238E27FC236}">
                <a16:creationId xmlns:a16="http://schemas.microsoft.com/office/drawing/2014/main" id="{7B056A49-CB26-E26E-1652-062CABCF0A40}"/>
              </a:ext>
            </a:extLst>
          </p:cNvPr>
          <p:cNvCxnSpPr/>
          <p:nvPr/>
        </p:nvCxnSpPr>
        <p:spPr>
          <a:xfrm>
            <a:off x="7287121" y="5102120"/>
            <a:ext cx="2619375" cy="0"/>
          </a:xfrm>
          <a:prstGeom prst="line">
            <a:avLst/>
          </a:prstGeom>
        </p:spPr>
        <p:style>
          <a:lnRef idx="3">
            <a:schemeClr val="accent5"/>
          </a:lnRef>
          <a:fillRef idx="0">
            <a:schemeClr val="accent5"/>
          </a:fillRef>
          <a:effectRef idx="2">
            <a:schemeClr val="accent5"/>
          </a:effectRef>
          <a:fontRef idx="minor">
            <a:schemeClr val="tx1"/>
          </a:fontRef>
        </p:style>
      </p:cxnSp>
      <p:sp>
        <p:nvSpPr>
          <p:cNvPr id="17" name="TextBox 16">
            <a:extLst>
              <a:ext uri="{FF2B5EF4-FFF2-40B4-BE49-F238E27FC236}">
                <a16:creationId xmlns:a16="http://schemas.microsoft.com/office/drawing/2014/main" id="{81B23B28-0B23-D74C-A27B-9B933476BB90}"/>
              </a:ext>
            </a:extLst>
          </p:cNvPr>
          <p:cNvSpPr txBox="1"/>
          <p:nvPr/>
        </p:nvSpPr>
        <p:spPr>
          <a:xfrm>
            <a:off x="8587275" y="13623046"/>
            <a:ext cx="762000" cy="307777"/>
          </a:xfrm>
          <a:prstGeom prst="rect">
            <a:avLst/>
          </a:prstGeom>
          <a:noFill/>
        </p:spPr>
        <p:txBody>
          <a:bodyPr wrap="square" rtlCol="0">
            <a:spAutoFit/>
          </a:bodyPr>
          <a:lstStyle/>
          <a:p>
            <a:r>
              <a:rPr lang="en-US" sz="1400" dirty="0">
                <a:solidFill>
                  <a:schemeClr val="accent1">
                    <a:lumMod val="75000"/>
                  </a:schemeClr>
                </a:solidFill>
              </a:rPr>
              <a:t>&gt; &gt; &gt;</a:t>
            </a:r>
          </a:p>
        </p:txBody>
      </p:sp>
      <p:sp>
        <p:nvSpPr>
          <p:cNvPr id="18" name="TextBox 17">
            <a:extLst>
              <a:ext uri="{FF2B5EF4-FFF2-40B4-BE49-F238E27FC236}">
                <a16:creationId xmlns:a16="http://schemas.microsoft.com/office/drawing/2014/main" id="{99334AC6-0E10-ABEB-248B-686ED78917F0}"/>
              </a:ext>
            </a:extLst>
          </p:cNvPr>
          <p:cNvSpPr txBox="1"/>
          <p:nvPr/>
        </p:nvSpPr>
        <p:spPr>
          <a:xfrm>
            <a:off x="6472725" y="3881677"/>
            <a:ext cx="2114550" cy="369332"/>
          </a:xfrm>
          <a:prstGeom prst="rect">
            <a:avLst/>
          </a:prstGeom>
          <a:noFill/>
        </p:spPr>
        <p:txBody>
          <a:bodyPr wrap="square" rtlCol="0">
            <a:spAutoFit/>
          </a:bodyPr>
          <a:lstStyle/>
          <a:p>
            <a:r>
              <a:rPr lang="en-US" spc="300" dirty="0">
                <a:solidFill>
                  <a:schemeClr val="accent1">
                    <a:lumMod val="75000"/>
                  </a:schemeClr>
                </a:solidFill>
                <a:latin typeface="Ink Free" panose="03080402000500000000" pitchFamily="66" charset="0"/>
              </a:rPr>
              <a:t>Loading . . .</a:t>
            </a:r>
          </a:p>
        </p:txBody>
      </p:sp>
      <p:pic>
        <p:nvPicPr>
          <p:cNvPr id="22" name="Graphic 21" descr="Airplane with solid fill">
            <a:extLst>
              <a:ext uri="{FF2B5EF4-FFF2-40B4-BE49-F238E27FC236}">
                <a16:creationId xmlns:a16="http://schemas.microsoft.com/office/drawing/2014/main" id="{E49C300A-EC3C-2552-5A70-F7699FF480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7313200">
            <a:off x="12343904" y="4041647"/>
            <a:ext cx="914400" cy="914400"/>
          </a:xfrm>
          <a:prstGeom prst="rect">
            <a:avLst/>
          </a:prstGeom>
        </p:spPr>
      </p:pic>
      <p:pic>
        <p:nvPicPr>
          <p:cNvPr id="24" name="Graphic 23" descr="Airplane with solid fill">
            <a:extLst>
              <a:ext uri="{FF2B5EF4-FFF2-40B4-BE49-F238E27FC236}">
                <a16:creationId xmlns:a16="http://schemas.microsoft.com/office/drawing/2014/main" id="{F7877A78-2665-C468-CA23-3DFE39A7CE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4284014" y="13165846"/>
            <a:ext cx="914400" cy="914400"/>
          </a:xfrm>
          <a:prstGeom prst="rect">
            <a:avLst/>
          </a:prstGeom>
        </p:spPr>
      </p:pic>
      <p:sp>
        <p:nvSpPr>
          <p:cNvPr id="25" name="TextBox 24">
            <a:extLst>
              <a:ext uri="{FF2B5EF4-FFF2-40B4-BE49-F238E27FC236}">
                <a16:creationId xmlns:a16="http://schemas.microsoft.com/office/drawing/2014/main" id="{0AE1C24E-C798-CBC5-EC00-FE45BE500582}"/>
              </a:ext>
            </a:extLst>
          </p:cNvPr>
          <p:cNvSpPr txBox="1"/>
          <p:nvPr/>
        </p:nvSpPr>
        <p:spPr>
          <a:xfrm>
            <a:off x="7428355" y="4605735"/>
            <a:ext cx="3381375" cy="369332"/>
          </a:xfrm>
          <a:prstGeom prst="rect">
            <a:avLst/>
          </a:prstGeom>
          <a:noFill/>
        </p:spPr>
        <p:txBody>
          <a:bodyPr wrap="square" rtlCol="0">
            <a:spAutoFit/>
          </a:bodyPr>
          <a:lstStyle/>
          <a:p>
            <a:pPr algn="ctr"/>
            <a:r>
              <a:rPr lang="en-US" dirty="0"/>
              <a:t>By: </a:t>
            </a:r>
            <a:r>
              <a:rPr lang="en-US" dirty="0">
                <a:latin typeface="Courier New" panose="02070309020205020404" pitchFamily="49" charset="0"/>
                <a:cs typeface="Courier New" panose="02070309020205020404" pitchFamily="49" charset="0"/>
              </a:rPr>
              <a:t>Yashas Tayal</a:t>
            </a:r>
          </a:p>
        </p:txBody>
      </p:sp>
      <p:sp>
        <p:nvSpPr>
          <p:cNvPr id="3" name="Rectangle 2">
            <a:extLst>
              <a:ext uri="{FF2B5EF4-FFF2-40B4-BE49-F238E27FC236}">
                <a16:creationId xmlns:a16="http://schemas.microsoft.com/office/drawing/2014/main" id="{4A719D7E-48EC-04A7-6853-0033419D93CE}"/>
              </a:ext>
            </a:extLst>
          </p:cNvPr>
          <p:cNvSpPr/>
          <p:nvPr/>
        </p:nvSpPr>
        <p:spPr>
          <a:xfrm rot="1321717">
            <a:off x="-884340" y="1670669"/>
            <a:ext cx="14001442" cy="3750845"/>
          </a:xfrm>
          <a:custGeom>
            <a:avLst/>
            <a:gdLst>
              <a:gd name="csX0" fmla="*/ 0 w 12844974"/>
              <a:gd name="csY0" fmla="*/ 0 h 1931490"/>
              <a:gd name="csX1" fmla="*/ 12844974 w 12844974"/>
              <a:gd name="csY1" fmla="*/ 0 h 1931490"/>
              <a:gd name="csX2" fmla="*/ 12844974 w 12844974"/>
              <a:gd name="csY2" fmla="*/ 1931490 h 1931490"/>
              <a:gd name="csX3" fmla="*/ 0 w 12844974"/>
              <a:gd name="csY3" fmla="*/ 1931490 h 1931490"/>
              <a:gd name="csX4" fmla="*/ 0 w 12844974"/>
              <a:gd name="csY4" fmla="*/ 0 h 1931490"/>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3714640"/>
              <a:gd name="csY0" fmla="*/ 0 h 2825616"/>
              <a:gd name="csX1" fmla="*/ 12844974 w 13714640"/>
              <a:gd name="csY1" fmla="*/ 0 h 2825616"/>
              <a:gd name="csX2" fmla="*/ 13714640 w 13714640"/>
              <a:gd name="csY2" fmla="*/ 1844017 h 2825616"/>
              <a:gd name="csX3" fmla="*/ 982091 w 13714640"/>
              <a:gd name="csY3" fmla="*/ 2825616 h 2825616"/>
              <a:gd name="csX4" fmla="*/ 0 w 13714640"/>
              <a:gd name="csY4" fmla="*/ 0 h 2825616"/>
              <a:gd name="csX0" fmla="*/ 0 w 13611644"/>
              <a:gd name="csY0" fmla="*/ 0 h 2825616"/>
              <a:gd name="csX1" fmla="*/ 12844974 w 13611644"/>
              <a:gd name="csY1" fmla="*/ 0 h 2825616"/>
              <a:gd name="csX2" fmla="*/ 13611644 w 13611644"/>
              <a:gd name="csY2" fmla="*/ 1916197 h 2825616"/>
              <a:gd name="csX3" fmla="*/ 982091 w 13611644"/>
              <a:gd name="csY3" fmla="*/ 2825616 h 2825616"/>
              <a:gd name="csX4" fmla="*/ 0 w 13611644"/>
              <a:gd name="csY4" fmla="*/ 0 h 2825616"/>
              <a:gd name="csX0" fmla="*/ 0 w 13611644"/>
              <a:gd name="csY0" fmla="*/ 925229 h 3750845"/>
              <a:gd name="csX1" fmla="*/ 12643495 w 13611644"/>
              <a:gd name="csY1" fmla="*/ 0 h 3750845"/>
              <a:gd name="csX2" fmla="*/ 13611644 w 13611644"/>
              <a:gd name="csY2" fmla="*/ 2841426 h 3750845"/>
              <a:gd name="csX3" fmla="*/ 982091 w 13611644"/>
              <a:gd name="csY3" fmla="*/ 3750845 h 3750845"/>
              <a:gd name="csX4" fmla="*/ 0 w 13611644"/>
              <a:gd name="csY4" fmla="*/ 925229 h 3750845"/>
              <a:gd name="csX0" fmla="*/ 0 w 13737319"/>
              <a:gd name="csY0" fmla="*/ 925229 h 3750845"/>
              <a:gd name="csX1" fmla="*/ 12643495 w 13737319"/>
              <a:gd name="csY1" fmla="*/ 0 h 3750845"/>
              <a:gd name="csX2" fmla="*/ 13737319 w 13737319"/>
              <a:gd name="csY2" fmla="*/ 2749899 h 3750845"/>
              <a:gd name="csX3" fmla="*/ 982091 w 13737319"/>
              <a:gd name="csY3" fmla="*/ 3750845 h 3750845"/>
              <a:gd name="csX4" fmla="*/ 0 w 13737319"/>
              <a:gd name="csY4" fmla="*/ 925229 h 3750845"/>
              <a:gd name="csX0" fmla="*/ 0 w 13737319"/>
              <a:gd name="csY0" fmla="*/ 925229 h 3750845"/>
              <a:gd name="csX1" fmla="*/ 12643495 w 13737319"/>
              <a:gd name="csY1" fmla="*/ 0 h 3750845"/>
              <a:gd name="csX2" fmla="*/ 13737319 w 13737319"/>
              <a:gd name="csY2" fmla="*/ 2749899 h 3750845"/>
              <a:gd name="csX3" fmla="*/ 12653303 w 13737319"/>
              <a:gd name="csY3" fmla="*/ 2914588 h 3750845"/>
              <a:gd name="csX4" fmla="*/ 982091 w 13737319"/>
              <a:gd name="csY4" fmla="*/ 3750845 h 3750845"/>
              <a:gd name="csX5" fmla="*/ 0 w 13737319"/>
              <a:gd name="csY5" fmla="*/ 925229 h 3750845"/>
              <a:gd name="csX0" fmla="*/ 0 w 13764831"/>
              <a:gd name="csY0" fmla="*/ 925229 h 3750845"/>
              <a:gd name="csX1" fmla="*/ 12643495 w 13764831"/>
              <a:gd name="csY1" fmla="*/ 0 h 3750845"/>
              <a:gd name="csX2" fmla="*/ 13737319 w 13764831"/>
              <a:gd name="csY2" fmla="*/ 2749899 h 3750845"/>
              <a:gd name="csX3" fmla="*/ 13383150 w 13764831"/>
              <a:gd name="csY3" fmla="*/ 2883685 h 3750845"/>
              <a:gd name="csX4" fmla="*/ 12653303 w 13764831"/>
              <a:gd name="csY4" fmla="*/ 2914588 h 3750845"/>
              <a:gd name="csX5" fmla="*/ 982091 w 13764831"/>
              <a:gd name="csY5" fmla="*/ 3750845 h 3750845"/>
              <a:gd name="csX6" fmla="*/ 0 w 13764831"/>
              <a:gd name="csY6" fmla="*/ 925229 h 3750845"/>
              <a:gd name="csX0" fmla="*/ 0 w 13763300"/>
              <a:gd name="csY0" fmla="*/ 925229 h 3750845"/>
              <a:gd name="csX1" fmla="*/ 12643495 w 13763300"/>
              <a:gd name="csY1" fmla="*/ 0 h 3750845"/>
              <a:gd name="csX2" fmla="*/ 13737319 w 13763300"/>
              <a:gd name="csY2" fmla="*/ 2749899 h 3750845"/>
              <a:gd name="csX3" fmla="*/ 13383150 w 13763300"/>
              <a:gd name="csY3" fmla="*/ 2883685 h 3750845"/>
              <a:gd name="csX4" fmla="*/ 12653303 w 13763300"/>
              <a:gd name="csY4" fmla="*/ 2914588 h 3750845"/>
              <a:gd name="csX5" fmla="*/ 982091 w 13763300"/>
              <a:gd name="csY5" fmla="*/ 3750845 h 3750845"/>
              <a:gd name="csX6" fmla="*/ 0 w 13763300"/>
              <a:gd name="csY6" fmla="*/ 925229 h 3750845"/>
              <a:gd name="csX0" fmla="*/ 0 w 13849907"/>
              <a:gd name="csY0" fmla="*/ 925229 h 3750845"/>
              <a:gd name="csX1" fmla="*/ 12643495 w 13849907"/>
              <a:gd name="csY1" fmla="*/ 0 h 3750845"/>
              <a:gd name="csX2" fmla="*/ 13737319 w 13849907"/>
              <a:gd name="csY2" fmla="*/ 2749899 h 3750845"/>
              <a:gd name="csX3" fmla="*/ 13786536 w 13849907"/>
              <a:gd name="csY3" fmla="*/ 3076394 h 3750845"/>
              <a:gd name="csX4" fmla="*/ 13383150 w 13849907"/>
              <a:gd name="csY4" fmla="*/ 2883685 h 3750845"/>
              <a:gd name="csX5" fmla="*/ 12653303 w 13849907"/>
              <a:gd name="csY5" fmla="*/ 2914588 h 3750845"/>
              <a:gd name="csX6" fmla="*/ 982091 w 13849907"/>
              <a:gd name="csY6" fmla="*/ 3750845 h 3750845"/>
              <a:gd name="csX7" fmla="*/ 0 w 13849907"/>
              <a:gd name="csY7" fmla="*/ 925229 h 3750845"/>
              <a:gd name="csX0" fmla="*/ 0 w 13814255"/>
              <a:gd name="csY0" fmla="*/ 925229 h 3750845"/>
              <a:gd name="csX1" fmla="*/ 12643495 w 13814255"/>
              <a:gd name="csY1" fmla="*/ 0 h 3750845"/>
              <a:gd name="csX2" fmla="*/ 13737319 w 13814255"/>
              <a:gd name="csY2" fmla="*/ 2749899 h 3750845"/>
              <a:gd name="csX3" fmla="*/ 13682737 w 13814255"/>
              <a:gd name="csY3" fmla="*/ 2945516 h 3750845"/>
              <a:gd name="csX4" fmla="*/ 13383150 w 13814255"/>
              <a:gd name="csY4" fmla="*/ 2883685 h 3750845"/>
              <a:gd name="csX5" fmla="*/ 12653303 w 13814255"/>
              <a:gd name="csY5" fmla="*/ 2914588 h 3750845"/>
              <a:gd name="csX6" fmla="*/ 982091 w 13814255"/>
              <a:gd name="csY6" fmla="*/ 3750845 h 3750845"/>
              <a:gd name="csX7" fmla="*/ 0 w 13814255"/>
              <a:gd name="csY7" fmla="*/ 925229 h 3750845"/>
              <a:gd name="csX0" fmla="*/ 0 w 13809295"/>
              <a:gd name="csY0" fmla="*/ 925229 h 3750845"/>
              <a:gd name="csX1" fmla="*/ 12643495 w 13809295"/>
              <a:gd name="csY1" fmla="*/ 0 h 3750845"/>
              <a:gd name="csX2" fmla="*/ 13737319 w 13809295"/>
              <a:gd name="csY2" fmla="*/ 2749899 h 3750845"/>
              <a:gd name="csX3" fmla="*/ 13682737 w 13809295"/>
              <a:gd name="csY3" fmla="*/ 2945516 h 3750845"/>
              <a:gd name="csX4" fmla="*/ 13383150 w 13809295"/>
              <a:gd name="csY4" fmla="*/ 2883685 h 3750845"/>
              <a:gd name="csX5" fmla="*/ 12653303 w 13809295"/>
              <a:gd name="csY5" fmla="*/ 2914588 h 3750845"/>
              <a:gd name="csX6" fmla="*/ 982091 w 13809295"/>
              <a:gd name="csY6" fmla="*/ 3750845 h 3750845"/>
              <a:gd name="csX7" fmla="*/ 0 w 13809295"/>
              <a:gd name="csY7" fmla="*/ 925229 h 3750845"/>
              <a:gd name="csX0" fmla="*/ 0 w 13834441"/>
              <a:gd name="csY0" fmla="*/ 925229 h 3750845"/>
              <a:gd name="csX1" fmla="*/ 12643495 w 13834441"/>
              <a:gd name="csY1" fmla="*/ 0 h 3750845"/>
              <a:gd name="csX2" fmla="*/ 13768738 w 13834441"/>
              <a:gd name="csY2" fmla="*/ 2727018 h 3750845"/>
              <a:gd name="csX3" fmla="*/ 13682737 w 13834441"/>
              <a:gd name="csY3" fmla="*/ 2945516 h 3750845"/>
              <a:gd name="csX4" fmla="*/ 13383150 w 13834441"/>
              <a:gd name="csY4" fmla="*/ 2883685 h 3750845"/>
              <a:gd name="csX5" fmla="*/ 12653303 w 13834441"/>
              <a:gd name="csY5" fmla="*/ 2914588 h 3750845"/>
              <a:gd name="csX6" fmla="*/ 982091 w 13834441"/>
              <a:gd name="csY6" fmla="*/ 3750845 h 3750845"/>
              <a:gd name="csX7" fmla="*/ 0 w 13834441"/>
              <a:gd name="csY7" fmla="*/ 925229 h 3750845"/>
              <a:gd name="csX0" fmla="*/ 0 w 13835682"/>
              <a:gd name="csY0" fmla="*/ 925229 h 3750845"/>
              <a:gd name="csX1" fmla="*/ 12643495 w 13835682"/>
              <a:gd name="csY1" fmla="*/ 0 h 3750845"/>
              <a:gd name="csX2" fmla="*/ 13768738 w 13835682"/>
              <a:gd name="csY2" fmla="*/ 2727018 h 3750845"/>
              <a:gd name="csX3" fmla="*/ 13689406 w 13835682"/>
              <a:gd name="csY3" fmla="*/ 2861465 h 3750845"/>
              <a:gd name="csX4" fmla="*/ 13383150 w 13835682"/>
              <a:gd name="csY4" fmla="*/ 2883685 h 3750845"/>
              <a:gd name="csX5" fmla="*/ 12653303 w 13835682"/>
              <a:gd name="csY5" fmla="*/ 2914588 h 3750845"/>
              <a:gd name="csX6" fmla="*/ 982091 w 13835682"/>
              <a:gd name="csY6" fmla="*/ 3750845 h 3750845"/>
              <a:gd name="csX7" fmla="*/ 0 w 13835682"/>
              <a:gd name="csY7" fmla="*/ 925229 h 3750845"/>
              <a:gd name="csX0" fmla="*/ 0 w 13850727"/>
              <a:gd name="csY0" fmla="*/ 925229 h 3750845"/>
              <a:gd name="csX1" fmla="*/ 12643495 w 13850727"/>
              <a:gd name="csY1" fmla="*/ 0 h 3750845"/>
              <a:gd name="csX2" fmla="*/ 13768738 w 13850727"/>
              <a:gd name="csY2" fmla="*/ 2727018 h 3750845"/>
              <a:gd name="csX3" fmla="*/ 13732499 w 13850727"/>
              <a:gd name="csY3" fmla="*/ 2791324 h 3750845"/>
              <a:gd name="csX4" fmla="*/ 13689406 w 13850727"/>
              <a:gd name="csY4" fmla="*/ 2861465 h 3750845"/>
              <a:gd name="csX5" fmla="*/ 13383150 w 13850727"/>
              <a:gd name="csY5" fmla="*/ 2883685 h 3750845"/>
              <a:gd name="csX6" fmla="*/ 12653303 w 13850727"/>
              <a:gd name="csY6" fmla="*/ 2914588 h 3750845"/>
              <a:gd name="csX7" fmla="*/ 982091 w 13850727"/>
              <a:gd name="csY7" fmla="*/ 3750845 h 3750845"/>
              <a:gd name="csX8" fmla="*/ 0 w 13850727"/>
              <a:gd name="csY8" fmla="*/ 925229 h 3750845"/>
              <a:gd name="csX0" fmla="*/ 0 w 13852616"/>
              <a:gd name="csY0" fmla="*/ 925229 h 3750845"/>
              <a:gd name="csX1" fmla="*/ 12643495 w 13852616"/>
              <a:gd name="csY1" fmla="*/ 0 h 3750845"/>
              <a:gd name="csX2" fmla="*/ 13768738 w 13852616"/>
              <a:gd name="csY2" fmla="*/ 2727018 h 3750845"/>
              <a:gd name="csX3" fmla="*/ 13746440 w 13852616"/>
              <a:gd name="csY3" fmla="*/ 2775514 h 3750845"/>
              <a:gd name="csX4" fmla="*/ 13732499 w 13852616"/>
              <a:gd name="csY4" fmla="*/ 2791324 h 3750845"/>
              <a:gd name="csX5" fmla="*/ 13689406 w 13852616"/>
              <a:gd name="csY5" fmla="*/ 2861465 h 3750845"/>
              <a:gd name="csX6" fmla="*/ 13383150 w 13852616"/>
              <a:gd name="csY6" fmla="*/ 2883685 h 3750845"/>
              <a:gd name="csX7" fmla="*/ 12653303 w 13852616"/>
              <a:gd name="csY7" fmla="*/ 2914588 h 3750845"/>
              <a:gd name="csX8" fmla="*/ 982091 w 13852616"/>
              <a:gd name="csY8" fmla="*/ 3750845 h 3750845"/>
              <a:gd name="csX9" fmla="*/ 0 w 13852616"/>
              <a:gd name="csY9" fmla="*/ 925229 h 3750845"/>
              <a:gd name="csX0" fmla="*/ 0 w 14001442"/>
              <a:gd name="csY0" fmla="*/ 862144 h 3750845"/>
              <a:gd name="csX1" fmla="*/ 12792321 w 14001442"/>
              <a:gd name="csY1" fmla="*/ 0 h 3750845"/>
              <a:gd name="csX2" fmla="*/ 13917564 w 14001442"/>
              <a:gd name="csY2" fmla="*/ 2727018 h 3750845"/>
              <a:gd name="csX3" fmla="*/ 13895266 w 14001442"/>
              <a:gd name="csY3" fmla="*/ 2775514 h 3750845"/>
              <a:gd name="csX4" fmla="*/ 13881325 w 14001442"/>
              <a:gd name="csY4" fmla="*/ 2791324 h 3750845"/>
              <a:gd name="csX5" fmla="*/ 13838232 w 14001442"/>
              <a:gd name="csY5" fmla="*/ 2861465 h 3750845"/>
              <a:gd name="csX6" fmla="*/ 13531976 w 14001442"/>
              <a:gd name="csY6" fmla="*/ 2883685 h 3750845"/>
              <a:gd name="csX7" fmla="*/ 12802129 w 14001442"/>
              <a:gd name="csY7" fmla="*/ 2914588 h 3750845"/>
              <a:gd name="csX8" fmla="*/ 1130917 w 14001442"/>
              <a:gd name="csY8" fmla="*/ 3750845 h 3750845"/>
              <a:gd name="csX9" fmla="*/ 0 w 14001442"/>
              <a:gd name="csY9" fmla="*/ 862144 h 37508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001442" h="3750845">
                <a:moveTo>
                  <a:pt x="0" y="862144"/>
                </a:moveTo>
                <a:lnTo>
                  <a:pt x="12792321" y="0"/>
                </a:lnTo>
                <a:lnTo>
                  <a:pt x="13917564" y="2727018"/>
                </a:lnTo>
                <a:cubicBezTo>
                  <a:pt x="14115776" y="3212595"/>
                  <a:pt x="13901306" y="2764796"/>
                  <a:pt x="13895266" y="2775514"/>
                </a:cubicBezTo>
                <a:cubicBezTo>
                  <a:pt x="13889226" y="2786232"/>
                  <a:pt x="13905218" y="2799990"/>
                  <a:pt x="13881325" y="2791324"/>
                </a:cubicBezTo>
                <a:cubicBezTo>
                  <a:pt x="13857432" y="2782658"/>
                  <a:pt x="13912890" y="2869930"/>
                  <a:pt x="13838232" y="2861465"/>
                </a:cubicBezTo>
                <a:cubicBezTo>
                  <a:pt x="13779204" y="2883763"/>
                  <a:pt x="13705594" y="2889707"/>
                  <a:pt x="13531976" y="2883685"/>
                </a:cubicBezTo>
                <a:cubicBezTo>
                  <a:pt x="13351307" y="2911133"/>
                  <a:pt x="14864258" y="2758410"/>
                  <a:pt x="12802129" y="2914588"/>
                </a:cubicBezTo>
                <a:lnTo>
                  <a:pt x="1130917" y="3750845"/>
                </a:lnTo>
                <a:lnTo>
                  <a:pt x="0" y="862144"/>
                </a:lnTo>
                <a:close/>
              </a:path>
            </a:pathLst>
          </a:custGeom>
          <a:solidFill>
            <a:srgbClr val="948F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C4152C1-9F10-9BB7-AA5B-58EDC11566EC}"/>
              </a:ext>
            </a:extLst>
          </p:cNvPr>
          <p:cNvSpPr txBox="1"/>
          <p:nvPr/>
        </p:nvSpPr>
        <p:spPr>
          <a:xfrm rot="20573612">
            <a:off x="1051571" y="5177141"/>
            <a:ext cx="2901221" cy="646331"/>
          </a:xfrm>
          <a:prstGeom prst="rect">
            <a:avLst/>
          </a:prstGeom>
          <a:noFill/>
        </p:spPr>
        <p:txBody>
          <a:bodyPr wrap="square" rtlCol="0">
            <a:spAutoFit/>
          </a:bodyPr>
          <a:lstStyle/>
          <a:p>
            <a:endParaRPr lang="en-US" dirty="0"/>
          </a:p>
          <a:p>
            <a:r>
              <a:rPr lang="en-US" dirty="0">
                <a:solidFill>
                  <a:schemeClr val="bg1"/>
                </a:solidFill>
                <a:latin typeface="Rockwell" panose="02060603020205020403" pitchFamily="18" charset="0"/>
              </a:rPr>
              <a:t>10 Seconds per Question</a:t>
            </a:r>
          </a:p>
        </p:txBody>
      </p:sp>
      <p:sp>
        <p:nvSpPr>
          <p:cNvPr id="6" name="TextBox 5">
            <a:extLst>
              <a:ext uri="{FF2B5EF4-FFF2-40B4-BE49-F238E27FC236}">
                <a16:creationId xmlns:a16="http://schemas.microsoft.com/office/drawing/2014/main" id="{4AA04D39-FD0F-6A5C-0608-2C77CBC8033E}"/>
              </a:ext>
            </a:extLst>
          </p:cNvPr>
          <p:cNvSpPr txBox="1"/>
          <p:nvPr/>
        </p:nvSpPr>
        <p:spPr>
          <a:xfrm rot="1340867">
            <a:off x="4764106" y="5711638"/>
            <a:ext cx="4160139" cy="369332"/>
          </a:xfrm>
          <a:prstGeom prst="rect">
            <a:avLst/>
          </a:prstGeom>
          <a:noFill/>
        </p:spPr>
        <p:txBody>
          <a:bodyPr wrap="square" rtlCol="0">
            <a:spAutoFit/>
          </a:bodyPr>
          <a:lstStyle/>
          <a:p>
            <a:r>
              <a:rPr lang="en-US" dirty="0">
                <a:solidFill>
                  <a:schemeClr val="bg1"/>
                </a:solidFill>
                <a:latin typeface="Rockwell" panose="02060603020205020403" pitchFamily="18" charset="0"/>
              </a:rPr>
              <a:t>No right or wrong answers</a:t>
            </a:r>
          </a:p>
        </p:txBody>
      </p:sp>
      <p:sp>
        <p:nvSpPr>
          <p:cNvPr id="8" name="TextBox 7">
            <a:extLst>
              <a:ext uri="{FF2B5EF4-FFF2-40B4-BE49-F238E27FC236}">
                <a16:creationId xmlns:a16="http://schemas.microsoft.com/office/drawing/2014/main" id="{52E5CC9C-52F4-948C-E7D6-835665B1A336}"/>
              </a:ext>
            </a:extLst>
          </p:cNvPr>
          <p:cNvSpPr txBox="1"/>
          <p:nvPr/>
        </p:nvSpPr>
        <p:spPr>
          <a:xfrm rot="21002005">
            <a:off x="8289147" y="890071"/>
            <a:ext cx="4532642" cy="369332"/>
          </a:xfrm>
          <a:prstGeom prst="rect">
            <a:avLst/>
          </a:prstGeom>
          <a:noFill/>
        </p:spPr>
        <p:txBody>
          <a:bodyPr wrap="square" rtlCol="0">
            <a:spAutoFit/>
          </a:bodyPr>
          <a:lstStyle/>
          <a:p>
            <a:r>
              <a:rPr lang="en-US" dirty="0">
                <a:solidFill>
                  <a:schemeClr val="bg1"/>
                </a:solidFill>
                <a:latin typeface="Rockwell" panose="02060603020205020403" pitchFamily="18" charset="0"/>
              </a:rPr>
              <a:t>Don’t Overthink it</a:t>
            </a:r>
          </a:p>
        </p:txBody>
      </p:sp>
      <p:pic>
        <p:nvPicPr>
          <p:cNvPr id="23" name="Graphic 22" descr="Airplane with solid fill">
            <a:extLst>
              <a:ext uri="{FF2B5EF4-FFF2-40B4-BE49-F238E27FC236}">
                <a16:creationId xmlns:a16="http://schemas.microsoft.com/office/drawing/2014/main" id="{CDF2E637-F18C-82A3-7C10-3BF3A7EA75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69864" y="7028626"/>
            <a:ext cx="914400" cy="914400"/>
          </a:xfrm>
          <a:prstGeom prst="rect">
            <a:avLst/>
          </a:prstGeom>
        </p:spPr>
      </p:pic>
      <p:sp>
        <p:nvSpPr>
          <p:cNvPr id="4" name="TextBox 3">
            <a:extLst>
              <a:ext uri="{FF2B5EF4-FFF2-40B4-BE49-F238E27FC236}">
                <a16:creationId xmlns:a16="http://schemas.microsoft.com/office/drawing/2014/main" id="{3E2D4444-5B98-248E-C725-D4EC4F311C3A}"/>
              </a:ext>
            </a:extLst>
          </p:cNvPr>
          <p:cNvSpPr txBox="1"/>
          <p:nvPr/>
        </p:nvSpPr>
        <p:spPr>
          <a:xfrm rot="1230674">
            <a:off x="3293190" y="3456293"/>
            <a:ext cx="5682024" cy="769441"/>
          </a:xfrm>
          <a:prstGeom prst="rect">
            <a:avLst/>
          </a:prstGeom>
          <a:noFill/>
        </p:spPr>
        <p:txBody>
          <a:bodyPr wrap="square" rtlCol="0">
            <a:spAutoFit/>
          </a:bodyPr>
          <a:lstStyle/>
          <a:p>
            <a:pPr algn="ctr"/>
            <a:r>
              <a:rPr lang="en-US" sz="4400" dirty="0">
                <a:latin typeface="Magneto" panose="04030805050802020D02" pitchFamily="82" charset="0"/>
              </a:rPr>
              <a:t>What’s the Game?</a:t>
            </a:r>
          </a:p>
        </p:txBody>
      </p:sp>
      <p:grpSp>
        <p:nvGrpSpPr>
          <p:cNvPr id="13" name="Group 12">
            <a:extLst>
              <a:ext uri="{FF2B5EF4-FFF2-40B4-BE49-F238E27FC236}">
                <a16:creationId xmlns:a16="http://schemas.microsoft.com/office/drawing/2014/main" id="{6348810B-DD1D-78AE-9250-71E1E7910804}"/>
              </a:ext>
            </a:extLst>
          </p:cNvPr>
          <p:cNvGrpSpPr/>
          <p:nvPr/>
        </p:nvGrpSpPr>
        <p:grpSpPr>
          <a:xfrm>
            <a:off x="-24727" y="-32666"/>
            <a:ext cx="12198932" cy="26123017"/>
            <a:chOff x="-14854832" y="7894112"/>
            <a:chExt cx="12198932" cy="26123017"/>
          </a:xfrm>
        </p:grpSpPr>
        <p:pic>
          <p:nvPicPr>
            <p:cNvPr id="14" name="Picture 13">
              <a:extLst>
                <a:ext uri="{FF2B5EF4-FFF2-40B4-BE49-F238E27FC236}">
                  <a16:creationId xmlns:a16="http://schemas.microsoft.com/office/drawing/2014/main" id="{1003CC1A-1FB5-E003-E097-3FA005A5C914}"/>
                </a:ext>
              </a:extLst>
            </p:cNvPr>
            <p:cNvPicPr>
              <a:picLocks noChangeAspect="1"/>
            </p:cNvPicPr>
            <p:nvPr/>
          </p:nvPicPr>
          <p:blipFill>
            <a:blip r:embed="rId4">
              <a:extLst>
                <a:ext uri="{28A0092B-C50C-407E-A947-70E740481C1C}">
                  <a14:useLocalDpi xmlns:a14="http://schemas.microsoft.com/office/drawing/2010/main" val="0"/>
                </a:ext>
              </a:extLst>
            </a:blip>
            <a:srcRect l="35614" t="18232" r="39512" b="1868"/>
            <a:stretch>
              <a:fillRect/>
            </a:stretch>
          </p:blipFill>
          <p:spPr>
            <a:xfrm>
              <a:off x="-14854832" y="7894112"/>
              <a:ext cx="12198932" cy="26123017"/>
            </a:xfrm>
            <a:prstGeom prst="rect">
              <a:avLst/>
            </a:prstGeom>
          </p:spPr>
        </p:pic>
        <p:grpSp>
          <p:nvGrpSpPr>
            <p:cNvPr id="15" name="Group 14">
              <a:extLst>
                <a:ext uri="{FF2B5EF4-FFF2-40B4-BE49-F238E27FC236}">
                  <a16:creationId xmlns:a16="http://schemas.microsoft.com/office/drawing/2014/main" id="{5716B077-810B-DCA6-7901-4510937E2FAD}"/>
                </a:ext>
              </a:extLst>
            </p:cNvPr>
            <p:cNvGrpSpPr/>
            <p:nvPr/>
          </p:nvGrpSpPr>
          <p:grpSpPr>
            <a:xfrm>
              <a:off x="-12495262" y="9886089"/>
              <a:ext cx="7479792" cy="3711284"/>
              <a:chOff x="-795528" y="10343176"/>
              <a:chExt cx="7479792" cy="3711284"/>
            </a:xfrm>
          </p:grpSpPr>
          <p:sp>
            <p:nvSpPr>
              <p:cNvPr id="61" name="Rectangle: Rounded Corners 60">
                <a:extLst>
                  <a:ext uri="{FF2B5EF4-FFF2-40B4-BE49-F238E27FC236}">
                    <a16:creationId xmlns:a16="http://schemas.microsoft.com/office/drawing/2014/main" id="{30F93A82-615C-44FE-6955-A086F2866FCB}"/>
                  </a:ext>
                </a:extLst>
              </p:cNvPr>
              <p:cNvSpPr/>
              <p:nvPr/>
            </p:nvSpPr>
            <p:spPr>
              <a:xfrm>
                <a:off x="-795528" y="10343176"/>
                <a:ext cx="7479792" cy="371128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TextBox 61">
                <a:extLst>
                  <a:ext uri="{FF2B5EF4-FFF2-40B4-BE49-F238E27FC236}">
                    <a16:creationId xmlns:a16="http://schemas.microsoft.com/office/drawing/2014/main" id="{A5ACF5D1-4DF5-A1DE-1897-CEC257EF73D4}"/>
                  </a:ext>
                </a:extLst>
              </p:cNvPr>
              <p:cNvSpPr txBox="1"/>
              <p:nvPr/>
            </p:nvSpPr>
            <p:spPr>
              <a:xfrm>
                <a:off x="-533126" y="11268184"/>
                <a:ext cx="1779939" cy="1569660"/>
              </a:xfrm>
              <a:prstGeom prst="rect">
                <a:avLst/>
              </a:prstGeom>
              <a:noFill/>
            </p:spPr>
            <p:txBody>
              <a:bodyPr wrap="square" rtlCol="0">
                <a:spAutoFit/>
              </a:bodyPr>
              <a:lstStyle/>
              <a:p>
                <a:r>
                  <a:rPr lang="en-US" sz="9600" dirty="0">
                    <a:solidFill>
                      <a:schemeClr val="bg2">
                        <a:lumMod val="10000"/>
                      </a:schemeClr>
                    </a:solidFill>
                    <a:latin typeface="Rockwell Extra Bold" panose="02060903040505020403" pitchFamily="18" charset="0"/>
                  </a:rPr>
                  <a:t>1.</a:t>
                </a:r>
              </a:p>
            </p:txBody>
          </p:sp>
          <p:sp>
            <p:nvSpPr>
              <p:cNvPr id="63" name="TextBox 62">
                <a:extLst>
                  <a:ext uri="{FF2B5EF4-FFF2-40B4-BE49-F238E27FC236}">
                    <a16:creationId xmlns:a16="http://schemas.microsoft.com/office/drawing/2014/main" id="{FD3087F9-B838-819F-CCA1-FC3D43EE97DE}"/>
                  </a:ext>
                </a:extLst>
              </p:cNvPr>
              <p:cNvSpPr txBox="1"/>
              <p:nvPr/>
            </p:nvSpPr>
            <p:spPr>
              <a:xfrm>
                <a:off x="1246813" y="10620664"/>
                <a:ext cx="5178309" cy="2062103"/>
              </a:xfrm>
              <a:prstGeom prst="rect">
                <a:avLst/>
              </a:prstGeom>
              <a:noFill/>
            </p:spPr>
            <p:txBody>
              <a:bodyPr wrap="square" rtlCol="0">
                <a:spAutoFit/>
              </a:bodyPr>
              <a:lstStyle/>
              <a:p>
                <a:endParaRPr lang="en-US" sz="3200" i="1" dirty="0"/>
              </a:p>
              <a:p>
                <a:r>
                  <a:rPr lang="en-US" sz="3200" i="1" dirty="0"/>
                  <a:t>AI is mostly only useful for generating text in tools like ChatGPT or Gemini.</a:t>
                </a:r>
                <a:endParaRPr lang="en-US" sz="3200" dirty="0"/>
              </a:p>
            </p:txBody>
          </p:sp>
          <p:sp>
            <p:nvSpPr>
              <p:cNvPr id="64" name="TextBox 63">
                <a:extLst>
                  <a:ext uri="{FF2B5EF4-FFF2-40B4-BE49-F238E27FC236}">
                    <a16:creationId xmlns:a16="http://schemas.microsoft.com/office/drawing/2014/main" id="{89BF7CC2-2852-EADE-63D3-C8D603A09861}"/>
                  </a:ext>
                </a:extLst>
              </p:cNvPr>
              <p:cNvSpPr txBox="1"/>
              <p:nvPr/>
            </p:nvSpPr>
            <p:spPr>
              <a:xfrm>
                <a:off x="646709" y="13001822"/>
                <a:ext cx="5487434" cy="461665"/>
              </a:xfrm>
              <a:prstGeom prst="rect">
                <a:avLst/>
              </a:prstGeom>
              <a:noFill/>
            </p:spPr>
            <p:txBody>
              <a:bodyPr wrap="square" rtlCol="0">
                <a:spAutoFit/>
              </a:bodyPr>
              <a:lstStyle/>
              <a:p>
                <a:r>
                  <a:rPr lang="en-US" sz="2400" b="1" dirty="0">
                    <a:latin typeface="Arial Black" panose="020B0A04020102020204" pitchFamily="34" charset="0"/>
                  </a:rPr>
                  <a:t>A) True                      B) False</a:t>
                </a:r>
              </a:p>
            </p:txBody>
          </p:sp>
        </p:grpSp>
        <p:grpSp>
          <p:nvGrpSpPr>
            <p:cNvPr id="20" name="Group 19">
              <a:extLst>
                <a:ext uri="{FF2B5EF4-FFF2-40B4-BE49-F238E27FC236}">
                  <a16:creationId xmlns:a16="http://schemas.microsoft.com/office/drawing/2014/main" id="{B18288D8-1E1B-EAC5-FD7A-978E8C8676B3}"/>
                </a:ext>
              </a:extLst>
            </p:cNvPr>
            <p:cNvGrpSpPr/>
            <p:nvPr/>
          </p:nvGrpSpPr>
          <p:grpSpPr>
            <a:xfrm>
              <a:off x="-12495262" y="16548824"/>
              <a:ext cx="7479792" cy="3711284"/>
              <a:chOff x="2523877" y="7784497"/>
              <a:chExt cx="7479792" cy="3711284"/>
            </a:xfrm>
          </p:grpSpPr>
          <p:sp>
            <p:nvSpPr>
              <p:cNvPr id="57" name="Rectangle: Rounded Corners 56">
                <a:extLst>
                  <a:ext uri="{FF2B5EF4-FFF2-40B4-BE49-F238E27FC236}">
                    <a16:creationId xmlns:a16="http://schemas.microsoft.com/office/drawing/2014/main" id="{93720CD8-6E74-6529-36B1-25A840433F1F}"/>
                  </a:ext>
                </a:extLst>
              </p:cNvPr>
              <p:cNvSpPr/>
              <p:nvPr/>
            </p:nvSpPr>
            <p:spPr>
              <a:xfrm>
                <a:off x="2523877" y="7784497"/>
                <a:ext cx="7479792" cy="371128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D4483123-29B0-BE3C-0AE4-6A3CF2DAA9D4}"/>
                  </a:ext>
                </a:extLst>
              </p:cNvPr>
              <p:cNvSpPr txBox="1"/>
              <p:nvPr/>
            </p:nvSpPr>
            <p:spPr>
              <a:xfrm>
                <a:off x="2764703" y="8893170"/>
                <a:ext cx="1779939" cy="1569660"/>
              </a:xfrm>
              <a:prstGeom prst="rect">
                <a:avLst/>
              </a:prstGeom>
              <a:noFill/>
            </p:spPr>
            <p:txBody>
              <a:bodyPr wrap="square" rtlCol="0">
                <a:spAutoFit/>
              </a:bodyPr>
              <a:lstStyle/>
              <a:p>
                <a:r>
                  <a:rPr lang="en-US" sz="9600" dirty="0">
                    <a:solidFill>
                      <a:schemeClr val="bg2">
                        <a:lumMod val="10000"/>
                      </a:schemeClr>
                    </a:solidFill>
                    <a:latin typeface="Rockwell Extra Bold" panose="02060903040505020403" pitchFamily="18" charset="0"/>
                  </a:rPr>
                  <a:t>2.</a:t>
                </a:r>
              </a:p>
            </p:txBody>
          </p:sp>
          <p:sp>
            <p:nvSpPr>
              <p:cNvPr id="59" name="TextBox 58">
                <a:extLst>
                  <a:ext uri="{FF2B5EF4-FFF2-40B4-BE49-F238E27FC236}">
                    <a16:creationId xmlns:a16="http://schemas.microsoft.com/office/drawing/2014/main" id="{3D338255-2FE6-F201-40F6-1A83A20D64BE}"/>
                  </a:ext>
                </a:extLst>
              </p:cNvPr>
              <p:cNvSpPr txBox="1"/>
              <p:nvPr/>
            </p:nvSpPr>
            <p:spPr>
              <a:xfrm>
                <a:off x="4596796" y="8298888"/>
                <a:ext cx="5178309" cy="1569660"/>
              </a:xfrm>
              <a:prstGeom prst="rect">
                <a:avLst/>
              </a:prstGeom>
              <a:noFill/>
            </p:spPr>
            <p:txBody>
              <a:bodyPr wrap="square" rtlCol="0">
                <a:spAutoFit/>
              </a:bodyPr>
              <a:lstStyle/>
              <a:p>
                <a:endParaRPr lang="en-US" sz="3200" i="1" dirty="0"/>
              </a:p>
              <a:p>
                <a:r>
                  <a:rPr lang="en-US" sz="3200" i="1" dirty="0"/>
                  <a:t>AI will replace most jobs in the future.</a:t>
                </a:r>
                <a:endParaRPr lang="en-US" sz="3200" dirty="0"/>
              </a:p>
            </p:txBody>
          </p:sp>
          <p:sp>
            <p:nvSpPr>
              <p:cNvPr id="60" name="TextBox 59">
                <a:extLst>
                  <a:ext uri="{FF2B5EF4-FFF2-40B4-BE49-F238E27FC236}">
                    <a16:creationId xmlns:a16="http://schemas.microsoft.com/office/drawing/2014/main" id="{CBCE9FF6-7711-EAD0-74CF-C80C2A33B6A7}"/>
                  </a:ext>
                </a:extLst>
              </p:cNvPr>
              <p:cNvSpPr txBox="1"/>
              <p:nvPr/>
            </p:nvSpPr>
            <p:spPr>
              <a:xfrm>
                <a:off x="4013737" y="10551052"/>
                <a:ext cx="5487434" cy="461665"/>
              </a:xfrm>
              <a:prstGeom prst="rect">
                <a:avLst/>
              </a:prstGeom>
              <a:noFill/>
            </p:spPr>
            <p:txBody>
              <a:bodyPr wrap="square" rtlCol="0">
                <a:spAutoFit/>
              </a:bodyPr>
              <a:lstStyle/>
              <a:p>
                <a:r>
                  <a:rPr lang="en-US" sz="2400" b="1" dirty="0">
                    <a:latin typeface="Arial Black" panose="020B0A04020102020204" pitchFamily="34" charset="0"/>
                  </a:rPr>
                  <a:t>A) True                      B) False</a:t>
                </a:r>
              </a:p>
            </p:txBody>
          </p:sp>
        </p:grpSp>
        <p:grpSp>
          <p:nvGrpSpPr>
            <p:cNvPr id="44" name="Group 43">
              <a:extLst>
                <a:ext uri="{FF2B5EF4-FFF2-40B4-BE49-F238E27FC236}">
                  <a16:creationId xmlns:a16="http://schemas.microsoft.com/office/drawing/2014/main" id="{9CBAFC8A-43F9-7D5D-BA50-DD4CDAD8A688}"/>
                </a:ext>
              </a:extLst>
            </p:cNvPr>
            <p:cNvGrpSpPr/>
            <p:nvPr/>
          </p:nvGrpSpPr>
          <p:grpSpPr>
            <a:xfrm>
              <a:off x="-12495262" y="22974320"/>
              <a:ext cx="7479792" cy="3711284"/>
              <a:chOff x="-14975864" y="12589286"/>
              <a:chExt cx="7479792" cy="3711284"/>
            </a:xfrm>
          </p:grpSpPr>
          <p:sp>
            <p:nvSpPr>
              <p:cNvPr id="53" name="Rectangle: Rounded Corners 52">
                <a:extLst>
                  <a:ext uri="{FF2B5EF4-FFF2-40B4-BE49-F238E27FC236}">
                    <a16:creationId xmlns:a16="http://schemas.microsoft.com/office/drawing/2014/main" id="{52105F2D-5382-B121-CF57-82CDEFE90A28}"/>
                  </a:ext>
                </a:extLst>
              </p:cNvPr>
              <p:cNvSpPr/>
              <p:nvPr/>
            </p:nvSpPr>
            <p:spPr>
              <a:xfrm>
                <a:off x="-14975864" y="12589286"/>
                <a:ext cx="7479792" cy="371128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TextBox 53">
                <a:extLst>
                  <a:ext uri="{FF2B5EF4-FFF2-40B4-BE49-F238E27FC236}">
                    <a16:creationId xmlns:a16="http://schemas.microsoft.com/office/drawing/2014/main" id="{2B43C7BF-F2D5-AE06-72DB-78AC26F5F930}"/>
                  </a:ext>
                </a:extLst>
              </p:cNvPr>
              <p:cNvSpPr txBox="1"/>
              <p:nvPr/>
            </p:nvSpPr>
            <p:spPr>
              <a:xfrm>
                <a:off x="-14667105" y="13631134"/>
                <a:ext cx="1779939" cy="1569660"/>
              </a:xfrm>
              <a:prstGeom prst="rect">
                <a:avLst/>
              </a:prstGeom>
              <a:noFill/>
            </p:spPr>
            <p:txBody>
              <a:bodyPr wrap="square" rtlCol="0">
                <a:spAutoFit/>
              </a:bodyPr>
              <a:lstStyle/>
              <a:p>
                <a:r>
                  <a:rPr lang="en-US" sz="9600" dirty="0">
                    <a:solidFill>
                      <a:schemeClr val="bg2">
                        <a:lumMod val="10000"/>
                      </a:schemeClr>
                    </a:solidFill>
                    <a:latin typeface="Rockwell Extra Bold" panose="02060903040505020403" pitchFamily="18" charset="0"/>
                  </a:rPr>
                  <a:t>3.</a:t>
                </a:r>
              </a:p>
            </p:txBody>
          </p:sp>
          <p:sp>
            <p:nvSpPr>
              <p:cNvPr id="55" name="TextBox 54">
                <a:extLst>
                  <a:ext uri="{FF2B5EF4-FFF2-40B4-BE49-F238E27FC236}">
                    <a16:creationId xmlns:a16="http://schemas.microsoft.com/office/drawing/2014/main" id="{7E79F51F-9C91-4B7C-2FAB-A649068E7B89}"/>
                  </a:ext>
                </a:extLst>
              </p:cNvPr>
              <p:cNvSpPr txBox="1"/>
              <p:nvPr/>
            </p:nvSpPr>
            <p:spPr>
              <a:xfrm>
                <a:off x="-12902946" y="12704638"/>
                <a:ext cx="5178309" cy="2431435"/>
              </a:xfrm>
              <a:prstGeom prst="rect">
                <a:avLst/>
              </a:prstGeom>
              <a:noFill/>
            </p:spPr>
            <p:txBody>
              <a:bodyPr wrap="square" rtlCol="0">
                <a:spAutoFit/>
              </a:bodyPr>
              <a:lstStyle/>
              <a:p>
                <a:endParaRPr lang="en-US" sz="2400" i="1" dirty="0"/>
              </a:p>
              <a:p>
                <a:r>
                  <a:rPr lang="en-US" sz="3200" i="1" dirty="0"/>
                  <a:t>AI-generated content (text, images, code) is now indistinguishable from human-created work.</a:t>
                </a:r>
                <a:endParaRPr lang="en-US" sz="3200" dirty="0"/>
              </a:p>
            </p:txBody>
          </p:sp>
          <p:sp>
            <p:nvSpPr>
              <p:cNvPr id="56" name="TextBox 55">
                <a:extLst>
                  <a:ext uri="{FF2B5EF4-FFF2-40B4-BE49-F238E27FC236}">
                    <a16:creationId xmlns:a16="http://schemas.microsoft.com/office/drawing/2014/main" id="{6B7C4BD8-E555-B309-DA9F-E418ED4A1EA4}"/>
                  </a:ext>
                </a:extLst>
              </p:cNvPr>
              <p:cNvSpPr txBox="1"/>
              <p:nvPr/>
            </p:nvSpPr>
            <p:spPr>
              <a:xfrm>
                <a:off x="-13564475" y="15314503"/>
                <a:ext cx="5487434" cy="461665"/>
              </a:xfrm>
              <a:prstGeom prst="rect">
                <a:avLst/>
              </a:prstGeom>
              <a:noFill/>
            </p:spPr>
            <p:txBody>
              <a:bodyPr wrap="square" rtlCol="0">
                <a:spAutoFit/>
              </a:bodyPr>
              <a:lstStyle/>
              <a:p>
                <a:r>
                  <a:rPr lang="en-US" sz="2400" b="1" dirty="0">
                    <a:latin typeface="Arial Black" panose="020B0A04020102020204" pitchFamily="34" charset="0"/>
                  </a:rPr>
                  <a:t>A) True                      B) False</a:t>
                </a:r>
              </a:p>
            </p:txBody>
          </p:sp>
        </p:grpSp>
        <p:grpSp>
          <p:nvGrpSpPr>
            <p:cNvPr id="46" name="Group 45">
              <a:extLst>
                <a:ext uri="{FF2B5EF4-FFF2-40B4-BE49-F238E27FC236}">
                  <a16:creationId xmlns:a16="http://schemas.microsoft.com/office/drawing/2014/main" id="{404F5BF4-CB3F-8C2A-670B-57721FAAC8B2}"/>
                </a:ext>
              </a:extLst>
            </p:cNvPr>
            <p:cNvGrpSpPr/>
            <p:nvPr/>
          </p:nvGrpSpPr>
          <p:grpSpPr>
            <a:xfrm>
              <a:off x="-12390279" y="29066616"/>
              <a:ext cx="7479792" cy="3711284"/>
              <a:chOff x="-15189416" y="19796761"/>
              <a:chExt cx="7479792" cy="3711284"/>
            </a:xfrm>
          </p:grpSpPr>
          <p:sp>
            <p:nvSpPr>
              <p:cNvPr id="48" name="Rectangle: Rounded Corners 47">
                <a:extLst>
                  <a:ext uri="{FF2B5EF4-FFF2-40B4-BE49-F238E27FC236}">
                    <a16:creationId xmlns:a16="http://schemas.microsoft.com/office/drawing/2014/main" id="{07DA1556-FAB0-8897-F2D1-EF7D74F894A7}"/>
                  </a:ext>
                </a:extLst>
              </p:cNvPr>
              <p:cNvSpPr/>
              <p:nvPr/>
            </p:nvSpPr>
            <p:spPr>
              <a:xfrm>
                <a:off x="-15189416" y="19796761"/>
                <a:ext cx="7479792" cy="371128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Box 48">
                <a:extLst>
                  <a:ext uri="{FF2B5EF4-FFF2-40B4-BE49-F238E27FC236}">
                    <a16:creationId xmlns:a16="http://schemas.microsoft.com/office/drawing/2014/main" id="{D7D5CB1E-3E28-28A5-322F-38E3B1F5EAD0}"/>
                  </a:ext>
                </a:extLst>
              </p:cNvPr>
              <p:cNvSpPr txBox="1"/>
              <p:nvPr/>
            </p:nvSpPr>
            <p:spPr>
              <a:xfrm>
                <a:off x="-14975102" y="20867573"/>
                <a:ext cx="1779939" cy="1569660"/>
              </a:xfrm>
              <a:prstGeom prst="rect">
                <a:avLst/>
              </a:prstGeom>
              <a:noFill/>
            </p:spPr>
            <p:txBody>
              <a:bodyPr wrap="square" rtlCol="0">
                <a:spAutoFit/>
              </a:bodyPr>
              <a:lstStyle/>
              <a:p>
                <a:r>
                  <a:rPr lang="en-US" sz="9600" dirty="0">
                    <a:solidFill>
                      <a:schemeClr val="bg2">
                        <a:lumMod val="10000"/>
                      </a:schemeClr>
                    </a:solidFill>
                    <a:latin typeface="Rockwell Extra Bold" panose="02060903040505020403" pitchFamily="18" charset="0"/>
                  </a:rPr>
                  <a:t>4.</a:t>
                </a:r>
              </a:p>
            </p:txBody>
          </p:sp>
          <p:sp>
            <p:nvSpPr>
              <p:cNvPr id="51" name="TextBox 50">
                <a:extLst>
                  <a:ext uri="{FF2B5EF4-FFF2-40B4-BE49-F238E27FC236}">
                    <a16:creationId xmlns:a16="http://schemas.microsoft.com/office/drawing/2014/main" id="{4B06C5C2-5B76-D043-26B4-6FF1B2CBA3D8}"/>
                  </a:ext>
                </a:extLst>
              </p:cNvPr>
              <p:cNvSpPr txBox="1"/>
              <p:nvPr/>
            </p:nvSpPr>
            <p:spPr>
              <a:xfrm>
                <a:off x="-13158262" y="21011169"/>
                <a:ext cx="5178309" cy="1569660"/>
              </a:xfrm>
              <a:prstGeom prst="rect">
                <a:avLst/>
              </a:prstGeom>
              <a:noFill/>
            </p:spPr>
            <p:txBody>
              <a:bodyPr wrap="square" rtlCol="0">
                <a:spAutoFit/>
              </a:bodyPr>
              <a:lstStyle/>
              <a:p>
                <a:r>
                  <a:rPr lang="en-US" sz="3200" i="1" dirty="0"/>
                  <a:t>AI is working like a human brain.</a:t>
                </a:r>
              </a:p>
              <a:p>
                <a:endParaRPr lang="en-US" sz="3200" dirty="0"/>
              </a:p>
            </p:txBody>
          </p:sp>
          <p:sp>
            <p:nvSpPr>
              <p:cNvPr id="52" name="TextBox 51">
                <a:extLst>
                  <a:ext uri="{FF2B5EF4-FFF2-40B4-BE49-F238E27FC236}">
                    <a16:creationId xmlns:a16="http://schemas.microsoft.com/office/drawing/2014/main" id="{47154D18-8A82-0141-4880-3946B2CF99AE}"/>
                  </a:ext>
                </a:extLst>
              </p:cNvPr>
              <p:cNvSpPr txBox="1"/>
              <p:nvPr/>
            </p:nvSpPr>
            <p:spPr>
              <a:xfrm>
                <a:off x="-13795267" y="22510973"/>
                <a:ext cx="5487434" cy="461665"/>
              </a:xfrm>
              <a:prstGeom prst="rect">
                <a:avLst/>
              </a:prstGeom>
              <a:noFill/>
            </p:spPr>
            <p:txBody>
              <a:bodyPr wrap="square" rtlCol="0">
                <a:spAutoFit/>
              </a:bodyPr>
              <a:lstStyle/>
              <a:p>
                <a:r>
                  <a:rPr lang="en-US" sz="2400" b="1" dirty="0">
                    <a:latin typeface="Arial Black" panose="020B0A04020102020204" pitchFamily="34" charset="0"/>
                  </a:rPr>
                  <a:t>A) True                      B) False</a:t>
                </a:r>
              </a:p>
            </p:txBody>
          </p:sp>
        </p:grpSp>
      </p:grpSp>
    </p:spTree>
    <p:extLst>
      <p:ext uri="{BB962C8B-B14F-4D97-AF65-F5344CB8AC3E}">
        <p14:creationId xmlns:p14="http://schemas.microsoft.com/office/powerpoint/2010/main" val="40192361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200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31AA1-95CF-8A85-A7DF-306A827B9A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763FF2-123F-1BEA-80AE-5DCFFEBE7E86}"/>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93859578-D940-EE5C-0A59-5CF41942D54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 r="1933" b="42238"/>
          <a:stretch>
            <a:fillRect/>
          </a:stretch>
        </p:blipFill>
        <p:spPr>
          <a:xfrm>
            <a:off x="-1" y="0"/>
            <a:ext cx="12198593" cy="4041647"/>
          </a:xfrm>
          <a:prstGeom prst="rect">
            <a:avLst/>
          </a:prstGeom>
        </p:spPr>
      </p:pic>
      <p:sp>
        <p:nvSpPr>
          <p:cNvPr id="9" name="TextBox 8">
            <a:extLst>
              <a:ext uri="{FF2B5EF4-FFF2-40B4-BE49-F238E27FC236}">
                <a16:creationId xmlns:a16="http://schemas.microsoft.com/office/drawing/2014/main" id="{FCC98093-D1B5-0AAC-45E2-62A579D57357}"/>
              </a:ext>
            </a:extLst>
          </p:cNvPr>
          <p:cNvSpPr txBox="1"/>
          <p:nvPr/>
        </p:nvSpPr>
        <p:spPr>
          <a:xfrm>
            <a:off x="676656" y="1527048"/>
            <a:ext cx="6007608" cy="1569660"/>
          </a:xfrm>
          <a:prstGeom prst="rect">
            <a:avLst/>
          </a:prstGeom>
          <a:noFill/>
        </p:spPr>
        <p:txBody>
          <a:bodyPr wrap="square" rtlCol="0">
            <a:spAutoFit/>
          </a:bodyPr>
          <a:lstStyle/>
          <a:p>
            <a:pPr algn="ctr"/>
            <a:r>
              <a:rPr lang="en-US" sz="9600" dirty="0">
                <a:solidFill>
                  <a:schemeClr val="bg1"/>
                </a:solidFill>
                <a:latin typeface="Rockwell Extra Bold" panose="02060903040505020403" pitchFamily="18" charset="0"/>
              </a:rPr>
              <a:t>AI </a:t>
            </a:r>
            <a:r>
              <a:rPr lang="en-US" sz="2000" dirty="0">
                <a:solidFill>
                  <a:schemeClr val="bg1"/>
                </a:solidFill>
                <a:latin typeface="Rockwell Extra Bold" panose="02060903040505020403" pitchFamily="18" charset="0"/>
              </a:rPr>
              <a:t>in</a:t>
            </a:r>
            <a:endParaRPr lang="en-US" sz="9600" dirty="0">
              <a:solidFill>
                <a:schemeClr val="bg1"/>
              </a:solidFill>
              <a:latin typeface="Rockwell Extra Bold" panose="02060903040505020403" pitchFamily="18" charset="0"/>
            </a:endParaRPr>
          </a:p>
        </p:txBody>
      </p:sp>
      <p:sp>
        <p:nvSpPr>
          <p:cNvPr id="10" name="TextBox 9">
            <a:extLst>
              <a:ext uri="{FF2B5EF4-FFF2-40B4-BE49-F238E27FC236}">
                <a16:creationId xmlns:a16="http://schemas.microsoft.com/office/drawing/2014/main" id="{154D9D9F-CE40-6EF5-0C5A-5083676D1549}"/>
              </a:ext>
            </a:extLst>
          </p:cNvPr>
          <p:cNvSpPr txBox="1"/>
          <p:nvPr/>
        </p:nvSpPr>
        <p:spPr>
          <a:xfrm>
            <a:off x="392545" y="4596878"/>
            <a:ext cx="6894576" cy="1569660"/>
          </a:xfrm>
          <a:prstGeom prst="rect">
            <a:avLst/>
          </a:prstGeom>
          <a:noFill/>
        </p:spPr>
        <p:txBody>
          <a:bodyPr wrap="square" rtlCol="0">
            <a:spAutoFit/>
          </a:bodyPr>
          <a:lstStyle/>
          <a:p>
            <a:r>
              <a:rPr lang="en-US" sz="9600" dirty="0">
                <a:gradFill>
                  <a:gsLst>
                    <a:gs pos="0">
                      <a:srgbClr val="00224F"/>
                    </a:gs>
                    <a:gs pos="74000">
                      <a:srgbClr val="2B55C4"/>
                    </a:gs>
                    <a:gs pos="83000">
                      <a:srgbClr val="AFD0FD"/>
                    </a:gs>
                    <a:gs pos="100000">
                      <a:schemeClr val="accent1">
                        <a:lumMod val="30000"/>
                        <a:lumOff val="70000"/>
                      </a:schemeClr>
                    </a:gs>
                  </a:gsLst>
                  <a:lin ang="5400000" scaled="1"/>
                </a:gradFill>
                <a:latin typeface="Rockwell Extra Bold" panose="02060903040505020403" pitchFamily="18" charset="0"/>
              </a:rPr>
              <a:t>Business</a:t>
            </a:r>
          </a:p>
        </p:txBody>
      </p:sp>
      <p:sp>
        <p:nvSpPr>
          <p:cNvPr id="11" name="Right Triangle 10">
            <a:extLst>
              <a:ext uri="{FF2B5EF4-FFF2-40B4-BE49-F238E27FC236}">
                <a16:creationId xmlns:a16="http://schemas.microsoft.com/office/drawing/2014/main" id="{76B694F9-18F5-6F4E-1626-6DFD7039078D}"/>
              </a:ext>
            </a:extLst>
          </p:cNvPr>
          <p:cNvSpPr/>
          <p:nvPr/>
        </p:nvSpPr>
        <p:spPr>
          <a:xfrm>
            <a:off x="-62092" y="3009620"/>
            <a:ext cx="12217445" cy="3945118"/>
          </a:xfrm>
          <a:custGeom>
            <a:avLst/>
            <a:gdLst>
              <a:gd name="csX0" fmla="*/ 0 w 12198592"/>
              <a:gd name="csY0" fmla="*/ 3916837 h 3916837"/>
              <a:gd name="csX1" fmla="*/ 0 w 12198592"/>
              <a:gd name="csY1" fmla="*/ 0 h 3916837"/>
              <a:gd name="csX2" fmla="*/ 12198592 w 12198592"/>
              <a:gd name="csY2" fmla="*/ 3916837 h 3916837"/>
              <a:gd name="csX3" fmla="*/ 0 w 12198592"/>
              <a:gd name="csY3" fmla="*/ 3916837 h 3916837"/>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198592"/>
              <a:gd name="csY0" fmla="*/ 3927769 h 3927769"/>
              <a:gd name="csX1" fmla="*/ 9427 w 12198592"/>
              <a:gd name="csY1" fmla="*/ 48639 h 3927769"/>
              <a:gd name="csX2" fmla="*/ 12198592 w 12198592"/>
              <a:gd name="csY2" fmla="*/ 3927769 h 3927769"/>
              <a:gd name="csX3" fmla="*/ 0 w 12198592"/>
              <a:gd name="csY3" fmla="*/ 3927769 h 3927769"/>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217445"/>
              <a:gd name="csY0" fmla="*/ 3879130 h 3945118"/>
              <a:gd name="csX1" fmla="*/ 9427 w 12217445"/>
              <a:gd name="csY1" fmla="*/ 0 h 3945118"/>
              <a:gd name="csX2" fmla="*/ 12217445 w 12217445"/>
              <a:gd name="csY2" fmla="*/ 3945118 h 3945118"/>
              <a:gd name="csX3" fmla="*/ 0 w 12217445"/>
              <a:gd name="csY3" fmla="*/ 3879130 h 3945118"/>
              <a:gd name="csX0" fmla="*/ 0 w 12217445"/>
              <a:gd name="csY0" fmla="*/ 3879130 h 3945118"/>
              <a:gd name="csX1" fmla="*/ 9427 w 12217445"/>
              <a:gd name="csY1" fmla="*/ 0 h 3945118"/>
              <a:gd name="csX2" fmla="*/ 12217445 w 12217445"/>
              <a:gd name="csY2" fmla="*/ 3945118 h 3945118"/>
              <a:gd name="csX3" fmla="*/ 0 w 12217445"/>
              <a:gd name="csY3" fmla="*/ 3879130 h 3945118"/>
            </a:gdLst>
            <a:ahLst/>
            <a:cxnLst>
              <a:cxn ang="0">
                <a:pos x="csX0" y="csY0"/>
              </a:cxn>
              <a:cxn ang="0">
                <a:pos x="csX1" y="csY1"/>
              </a:cxn>
              <a:cxn ang="0">
                <a:pos x="csX2" y="csY2"/>
              </a:cxn>
              <a:cxn ang="0">
                <a:pos x="csX3" y="csY3"/>
              </a:cxn>
            </a:cxnLst>
            <a:rect l="l" t="t" r="r" b="b"/>
            <a:pathLst>
              <a:path w="12217445" h="3945118">
                <a:moveTo>
                  <a:pt x="0" y="3879130"/>
                </a:moveTo>
                <a:cubicBezTo>
                  <a:pt x="3142" y="2586087"/>
                  <a:pt x="6285" y="1293043"/>
                  <a:pt x="9427" y="0"/>
                </a:cubicBezTo>
                <a:cubicBezTo>
                  <a:pt x="4185603" y="1570"/>
                  <a:pt x="8088403" y="2614368"/>
                  <a:pt x="12217445" y="3945118"/>
                </a:cubicBezTo>
                <a:lnTo>
                  <a:pt x="0" y="3879130"/>
                </a:lnTo>
                <a:close/>
              </a:path>
            </a:pathLst>
          </a:custGeom>
          <a:solidFill>
            <a:srgbClr val="4454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ight Triangle 10">
            <a:extLst>
              <a:ext uri="{FF2B5EF4-FFF2-40B4-BE49-F238E27FC236}">
                <a16:creationId xmlns:a16="http://schemas.microsoft.com/office/drawing/2014/main" id="{B738DE61-17A1-704A-299C-328E8F14423A}"/>
              </a:ext>
            </a:extLst>
          </p:cNvPr>
          <p:cNvSpPr/>
          <p:nvPr/>
        </p:nvSpPr>
        <p:spPr>
          <a:xfrm rot="10800000">
            <a:off x="-18853" y="-32665"/>
            <a:ext cx="12217445" cy="3945118"/>
          </a:xfrm>
          <a:custGeom>
            <a:avLst/>
            <a:gdLst>
              <a:gd name="csX0" fmla="*/ 0 w 12198592"/>
              <a:gd name="csY0" fmla="*/ 3916837 h 3916837"/>
              <a:gd name="csX1" fmla="*/ 0 w 12198592"/>
              <a:gd name="csY1" fmla="*/ 0 h 3916837"/>
              <a:gd name="csX2" fmla="*/ 12198592 w 12198592"/>
              <a:gd name="csY2" fmla="*/ 3916837 h 3916837"/>
              <a:gd name="csX3" fmla="*/ 0 w 12198592"/>
              <a:gd name="csY3" fmla="*/ 3916837 h 3916837"/>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198592"/>
              <a:gd name="csY0" fmla="*/ 3927769 h 3927769"/>
              <a:gd name="csX1" fmla="*/ 9427 w 12198592"/>
              <a:gd name="csY1" fmla="*/ 48639 h 3927769"/>
              <a:gd name="csX2" fmla="*/ 12198592 w 12198592"/>
              <a:gd name="csY2" fmla="*/ 3927769 h 3927769"/>
              <a:gd name="csX3" fmla="*/ 0 w 12198592"/>
              <a:gd name="csY3" fmla="*/ 3927769 h 3927769"/>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217445"/>
              <a:gd name="csY0" fmla="*/ 3879130 h 3945118"/>
              <a:gd name="csX1" fmla="*/ 9427 w 12217445"/>
              <a:gd name="csY1" fmla="*/ 0 h 3945118"/>
              <a:gd name="csX2" fmla="*/ 12217445 w 12217445"/>
              <a:gd name="csY2" fmla="*/ 3945118 h 3945118"/>
              <a:gd name="csX3" fmla="*/ 0 w 12217445"/>
              <a:gd name="csY3" fmla="*/ 3879130 h 3945118"/>
              <a:gd name="csX0" fmla="*/ 0 w 12217445"/>
              <a:gd name="csY0" fmla="*/ 3879130 h 3945118"/>
              <a:gd name="csX1" fmla="*/ 9427 w 12217445"/>
              <a:gd name="csY1" fmla="*/ 0 h 3945118"/>
              <a:gd name="csX2" fmla="*/ 12217445 w 12217445"/>
              <a:gd name="csY2" fmla="*/ 3945118 h 3945118"/>
              <a:gd name="csX3" fmla="*/ 0 w 12217445"/>
              <a:gd name="csY3" fmla="*/ 3879130 h 3945118"/>
            </a:gdLst>
            <a:ahLst/>
            <a:cxnLst>
              <a:cxn ang="0">
                <a:pos x="csX0" y="csY0"/>
              </a:cxn>
              <a:cxn ang="0">
                <a:pos x="csX1" y="csY1"/>
              </a:cxn>
              <a:cxn ang="0">
                <a:pos x="csX2" y="csY2"/>
              </a:cxn>
              <a:cxn ang="0">
                <a:pos x="csX3" y="csY3"/>
              </a:cxn>
            </a:cxnLst>
            <a:rect l="l" t="t" r="r" b="b"/>
            <a:pathLst>
              <a:path w="12217445" h="3945118">
                <a:moveTo>
                  <a:pt x="0" y="3879130"/>
                </a:moveTo>
                <a:cubicBezTo>
                  <a:pt x="3142" y="2586087"/>
                  <a:pt x="6285" y="1293043"/>
                  <a:pt x="9427" y="0"/>
                </a:cubicBezTo>
                <a:cubicBezTo>
                  <a:pt x="4185603" y="1570"/>
                  <a:pt x="8088403" y="2614368"/>
                  <a:pt x="12217445" y="3945118"/>
                </a:cubicBezTo>
                <a:lnTo>
                  <a:pt x="0" y="3879130"/>
                </a:lnTo>
                <a:close/>
              </a:path>
            </a:pathLst>
          </a:custGeom>
          <a:solidFill>
            <a:schemeClr val="tx2"/>
          </a:solidFill>
          <a:ln>
            <a:solidFill>
              <a:srgbClr val="002D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a:extLst>
              <a:ext uri="{FF2B5EF4-FFF2-40B4-BE49-F238E27FC236}">
                <a16:creationId xmlns:a16="http://schemas.microsoft.com/office/drawing/2014/main" id="{2B4B97D4-B183-7C80-4C2B-FE4BEF67CC28}"/>
              </a:ext>
            </a:extLst>
          </p:cNvPr>
          <p:cNvCxnSpPr/>
          <p:nvPr/>
        </p:nvCxnSpPr>
        <p:spPr>
          <a:xfrm>
            <a:off x="8734425" y="4596878"/>
            <a:ext cx="2619375" cy="0"/>
          </a:xfrm>
          <a:prstGeom prst="line">
            <a:avLst/>
          </a:prstGeom>
        </p:spPr>
        <p:style>
          <a:lnRef idx="3">
            <a:schemeClr val="accent5"/>
          </a:lnRef>
          <a:fillRef idx="0">
            <a:schemeClr val="accent5"/>
          </a:fillRef>
          <a:effectRef idx="2">
            <a:schemeClr val="accent5"/>
          </a:effectRef>
          <a:fontRef idx="minor">
            <a:schemeClr val="tx1"/>
          </a:fontRef>
        </p:style>
      </p:cxnSp>
      <p:sp>
        <p:nvSpPr>
          <p:cNvPr id="17" name="TextBox 16">
            <a:extLst>
              <a:ext uri="{FF2B5EF4-FFF2-40B4-BE49-F238E27FC236}">
                <a16:creationId xmlns:a16="http://schemas.microsoft.com/office/drawing/2014/main" id="{AE6F2F5A-803E-AAF9-C8D0-9573C08FCB01}"/>
              </a:ext>
            </a:extLst>
          </p:cNvPr>
          <p:cNvSpPr txBox="1"/>
          <p:nvPr/>
        </p:nvSpPr>
        <p:spPr>
          <a:xfrm>
            <a:off x="11353800" y="4442989"/>
            <a:ext cx="762000" cy="307777"/>
          </a:xfrm>
          <a:prstGeom prst="rect">
            <a:avLst/>
          </a:prstGeom>
          <a:noFill/>
        </p:spPr>
        <p:txBody>
          <a:bodyPr wrap="square" rtlCol="0">
            <a:spAutoFit/>
          </a:bodyPr>
          <a:lstStyle/>
          <a:p>
            <a:r>
              <a:rPr lang="en-US" sz="1400" dirty="0">
                <a:solidFill>
                  <a:schemeClr val="accent1">
                    <a:lumMod val="75000"/>
                  </a:schemeClr>
                </a:solidFill>
              </a:rPr>
              <a:t>&gt; &gt; &gt;</a:t>
            </a:r>
          </a:p>
        </p:txBody>
      </p:sp>
      <p:sp>
        <p:nvSpPr>
          <p:cNvPr id="18" name="TextBox 17">
            <a:extLst>
              <a:ext uri="{FF2B5EF4-FFF2-40B4-BE49-F238E27FC236}">
                <a16:creationId xmlns:a16="http://schemas.microsoft.com/office/drawing/2014/main" id="{A808A081-C0F6-5A82-71B9-AD2B334DBE78}"/>
              </a:ext>
            </a:extLst>
          </p:cNvPr>
          <p:cNvSpPr txBox="1"/>
          <p:nvPr/>
        </p:nvSpPr>
        <p:spPr>
          <a:xfrm>
            <a:off x="9137605" y="4612847"/>
            <a:ext cx="2114550" cy="369332"/>
          </a:xfrm>
          <a:prstGeom prst="rect">
            <a:avLst/>
          </a:prstGeom>
          <a:noFill/>
        </p:spPr>
        <p:txBody>
          <a:bodyPr wrap="square" rtlCol="0">
            <a:spAutoFit/>
          </a:bodyPr>
          <a:lstStyle/>
          <a:p>
            <a:r>
              <a:rPr lang="en-US" spc="300" dirty="0">
                <a:solidFill>
                  <a:schemeClr val="accent1">
                    <a:lumMod val="75000"/>
                  </a:schemeClr>
                </a:solidFill>
                <a:latin typeface="Ink Free" panose="03080402000500000000" pitchFamily="66" charset="0"/>
              </a:rPr>
              <a:t>Loading . . .</a:t>
            </a:r>
          </a:p>
        </p:txBody>
      </p:sp>
      <p:pic>
        <p:nvPicPr>
          <p:cNvPr id="22" name="Graphic 21" descr="Airplane with solid fill">
            <a:extLst>
              <a:ext uri="{FF2B5EF4-FFF2-40B4-BE49-F238E27FC236}">
                <a16:creationId xmlns:a16="http://schemas.microsoft.com/office/drawing/2014/main" id="{42BB1FD4-C3A2-84E8-9327-62DC90DA4B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7313200">
            <a:off x="12343904" y="4041647"/>
            <a:ext cx="914400" cy="914400"/>
          </a:xfrm>
          <a:prstGeom prst="rect">
            <a:avLst/>
          </a:prstGeom>
        </p:spPr>
      </p:pic>
      <p:pic>
        <p:nvPicPr>
          <p:cNvPr id="23" name="Graphic 22" descr="Airplane with solid fill">
            <a:extLst>
              <a:ext uri="{FF2B5EF4-FFF2-40B4-BE49-F238E27FC236}">
                <a16:creationId xmlns:a16="http://schemas.microsoft.com/office/drawing/2014/main" id="{E5298E6A-3904-D6F4-A4C3-DBAC182F4B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47879" y="6979712"/>
            <a:ext cx="914400" cy="914400"/>
          </a:xfrm>
          <a:prstGeom prst="rect">
            <a:avLst/>
          </a:prstGeom>
        </p:spPr>
      </p:pic>
      <p:pic>
        <p:nvPicPr>
          <p:cNvPr id="24" name="Graphic 23" descr="Airplane with solid fill">
            <a:extLst>
              <a:ext uri="{FF2B5EF4-FFF2-40B4-BE49-F238E27FC236}">
                <a16:creationId xmlns:a16="http://schemas.microsoft.com/office/drawing/2014/main" id="{626B8AFE-62B1-C163-ACC7-86288E1FD8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1517489" y="3985789"/>
            <a:ext cx="914400" cy="914400"/>
          </a:xfrm>
          <a:prstGeom prst="rect">
            <a:avLst/>
          </a:prstGeom>
        </p:spPr>
      </p:pic>
      <p:sp>
        <p:nvSpPr>
          <p:cNvPr id="25" name="TextBox 24">
            <a:extLst>
              <a:ext uri="{FF2B5EF4-FFF2-40B4-BE49-F238E27FC236}">
                <a16:creationId xmlns:a16="http://schemas.microsoft.com/office/drawing/2014/main" id="{2BE8FB34-69A6-504A-4CB7-BB4E37DD64A0}"/>
              </a:ext>
            </a:extLst>
          </p:cNvPr>
          <p:cNvSpPr txBox="1"/>
          <p:nvPr/>
        </p:nvSpPr>
        <p:spPr>
          <a:xfrm>
            <a:off x="8453799" y="5077761"/>
            <a:ext cx="3381375" cy="369332"/>
          </a:xfrm>
          <a:prstGeom prst="rect">
            <a:avLst/>
          </a:prstGeom>
          <a:noFill/>
        </p:spPr>
        <p:txBody>
          <a:bodyPr wrap="square" rtlCol="0">
            <a:spAutoFit/>
          </a:bodyPr>
          <a:lstStyle/>
          <a:p>
            <a:pPr algn="ctr"/>
            <a:r>
              <a:rPr lang="en-US" dirty="0"/>
              <a:t>By: </a:t>
            </a:r>
            <a:r>
              <a:rPr lang="en-US" dirty="0">
                <a:latin typeface="Courier New" panose="02070309020205020404" pitchFamily="49" charset="0"/>
                <a:cs typeface="Courier New" panose="02070309020205020404" pitchFamily="49" charset="0"/>
              </a:rPr>
              <a:t>Yashas Tayal</a:t>
            </a:r>
          </a:p>
        </p:txBody>
      </p:sp>
      <p:sp>
        <p:nvSpPr>
          <p:cNvPr id="3" name="Rectangle 2">
            <a:extLst>
              <a:ext uri="{FF2B5EF4-FFF2-40B4-BE49-F238E27FC236}">
                <a16:creationId xmlns:a16="http://schemas.microsoft.com/office/drawing/2014/main" id="{D1580ADB-238F-5C82-4BE0-D970A403EF09}"/>
              </a:ext>
            </a:extLst>
          </p:cNvPr>
          <p:cNvSpPr/>
          <p:nvPr/>
        </p:nvSpPr>
        <p:spPr>
          <a:xfrm rot="1321717">
            <a:off x="-884340" y="1670669"/>
            <a:ext cx="14001442" cy="3750845"/>
          </a:xfrm>
          <a:custGeom>
            <a:avLst/>
            <a:gdLst>
              <a:gd name="csX0" fmla="*/ 0 w 12844974"/>
              <a:gd name="csY0" fmla="*/ 0 h 1931490"/>
              <a:gd name="csX1" fmla="*/ 12844974 w 12844974"/>
              <a:gd name="csY1" fmla="*/ 0 h 1931490"/>
              <a:gd name="csX2" fmla="*/ 12844974 w 12844974"/>
              <a:gd name="csY2" fmla="*/ 1931490 h 1931490"/>
              <a:gd name="csX3" fmla="*/ 0 w 12844974"/>
              <a:gd name="csY3" fmla="*/ 1931490 h 1931490"/>
              <a:gd name="csX4" fmla="*/ 0 w 12844974"/>
              <a:gd name="csY4" fmla="*/ 0 h 1931490"/>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3714640"/>
              <a:gd name="csY0" fmla="*/ 0 h 2825616"/>
              <a:gd name="csX1" fmla="*/ 12844974 w 13714640"/>
              <a:gd name="csY1" fmla="*/ 0 h 2825616"/>
              <a:gd name="csX2" fmla="*/ 13714640 w 13714640"/>
              <a:gd name="csY2" fmla="*/ 1844017 h 2825616"/>
              <a:gd name="csX3" fmla="*/ 982091 w 13714640"/>
              <a:gd name="csY3" fmla="*/ 2825616 h 2825616"/>
              <a:gd name="csX4" fmla="*/ 0 w 13714640"/>
              <a:gd name="csY4" fmla="*/ 0 h 2825616"/>
              <a:gd name="csX0" fmla="*/ 0 w 13611644"/>
              <a:gd name="csY0" fmla="*/ 0 h 2825616"/>
              <a:gd name="csX1" fmla="*/ 12844974 w 13611644"/>
              <a:gd name="csY1" fmla="*/ 0 h 2825616"/>
              <a:gd name="csX2" fmla="*/ 13611644 w 13611644"/>
              <a:gd name="csY2" fmla="*/ 1916197 h 2825616"/>
              <a:gd name="csX3" fmla="*/ 982091 w 13611644"/>
              <a:gd name="csY3" fmla="*/ 2825616 h 2825616"/>
              <a:gd name="csX4" fmla="*/ 0 w 13611644"/>
              <a:gd name="csY4" fmla="*/ 0 h 2825616"/>
              <a:gd name="csX0" fmla="*/ 0 w 13611644"/>
              <a:gd name="csY0" fmla="*/ 925229 h 3750845"/>
              <a:gd name="csX1" fmla="*/ 12643495 w 13611644"/>
              <a:gd name="csY1" fmla="*/ 0 h 3750845"/>
              <a:gd name="csX2" fmla="*/ 13611644 w 13611644"/>
              <a:gd name="csY2" fmla="*/ 2841426 h 3750845"/>
              <a:gd name="csX3" fmla="*/ 982091 w 13611644"/>
              <a:gd name="csY3" fmla="*/ 3750845 h 3750845"/>
              <a:gd name="csX4" fmla="*/ 0 w 13611644"/>
              <a:gd name="csY4" fmla="*/ 925229 h 3750845"/>
              <a:gd name="csX0" fmla="*/ 0 w 13737319"/>
              <a:gd name="csY0" fmla="*/ 925229 h 3750845"/>
              <a:gd name="csX1" fmla="*/ 12643495 w 13737319"/>
              <a:gd name="csY1" fmla="*/ 0 h 3750845"/>
              <a:gd name="csX2" fmla="*/ 13737319 w 13737319"/>
              <a:gd name="csY2" fmla="*/ 2749899 h 3750845"/>
              <a:gd name="csX3" fmla="*/ 982091 w 13737319"/>
              <a:gd name="csY3" fmla="*/ 3750845 h 3750845"/>
              <a:gd name="csX4" fmla="*/ 0 w 13737319"/>
              <a:gd name="csY4" fmla="*/ 925229 h 3750845"/>
              <a:gd name="csX0" fmla="*/ 0 w 13737319"/>
              <a:gd name="csY0" fmla="*/ 925229 h 3750845"/>
              <a:gd name="csX1" fmla="*/ 12643495 w 13737319"/>
              <a:gd name="csY1" fmla="*/ 0 h 3750845"/>
              <a:gd name="csX2" fmla="*/ 13737319 w 13737319"/>
              <a:gd name="csY2" fmla="*/ 2749899 h 3750845"/>
              <a:gd name="csX3" fmla="*/ 12653303 w 13737319"/>
              <a:gd name="csY3" fmla="*/ 2914588 h 3750845"/>
              <a:gd name="csX4" fmla="*/ 982091 w 13737319"/>
              <a:gd name="csY4" fmla="*/ 3750845 h 3750845"/>
              <a:gd name="csX5" fmla="*/ 0 w 13737319"/>
              <a:gd name="csY5" fmla="*/ 925229 h 3750845"/>
              <a:gd name="csX0" fmla="*/ 0 w 13764831"/>
              <a:gd name="csY0" fmla="*/ 925229 h 3750845"/>
              <a:gd name="csX1" fmla="*/ 12643495 w 13764831"/>
              <a:gd name="csY1" fmla="*/ 0 h 3750845"/>
              <a:gd name="csX2" fmla="*/ 13737319 w 13764831"/>
              <a:gd name="csY2" fmla="*/ 2749899 h 3750845"/>
              <a:gd name="csX3" fmla="*/ 13383150 w 13764831"/>
              <a:gd name="csY3" fmla="*/ 2883685 h 3750845"/>
              <a:gd name="csX4" fmla="*/ 12653303 w 13764831"/>
              <a:gd name="csY4" fmla="*/ 2914588 h 3750845"/>
              <a:gd name="csX5" fmla="*/ 982091 w 13764831"/>
              <a:gd name="csY5" fmla="*/ 3750845 h 3750845"/>
              <a:gd name="csX6" fmla="*/ 0 w 13764831"/>
              <a:gd name="csY6" fmla="*/ 925229 h 3750845"/>
              <a:gd name="csX0" fmla="*/ 0 w 13763300"/>
              <a:gd name="csY0" fmla="*/ 925229 h 3750845"/>
              <a:gd name="csX1" fmla="*/ 12643495 w 13763300"/>
              <a:gd name="csY1" fmla="*/ 0 h 3750845"/>
              <a:gd name="csX2" fmla="*/ 13737319 w 13763300"/>
              <a:gd name="csY2" fmla="*/ 2749899 h 3750845"/>
              <a:gd name="csX3" fmla="*/ 13383150 w 13763300"/>
              <a:gd name="csY3" fmla="*/ 2883685 h 3750845"/>
              <a:gd name="csX4" fmla="*/ 12653303 w 13763300"/>
              <a:gd name="csY4" fmla="*/ 2914588 h 3750845"/>
              <a:gd name="csX5" fmla="*/ 982091 w 13763300"/>
              <a:gd name="csY5" fmla="*/ 3750845 h 3750845"/>
              <a:gd name="csX6" fmla="*/ 0 w 13763300"/>
              <a:gd name="csY6" fmla="*/ 925229 h 3750845"/>
              <a:gd name="csX0" fmla="*/ 0 w 13849907"/>
              <a:gd name="csY0" fmla="*/ 925229 h 3750845"/>
              <a:gd name="csX1" fmla="*/ 12643495 w 13849907"/>
              <a:gd name="csY1" fmla="*/ 0 h 3750845"/>
              <a:gd name="csX2" fmla="*/ 13737319 w 13849907"/>
              <a:gd name="csY2" fmla="*/ 2749899 h 3750845"/>
              <a:gd name="csX3" fmla="*/ 13786536 w 13849907"/>
              <a:gd name="csY3" fmla="*/ 3076394 h 3750845"/>
              <a:gd name="csX4" fmla="*/ 13383150 w 13849907"/>
              <a:gd name="csY4" fmla="*/ 2883685 h 3750845"/>
              <a:gd name="csX5" fmla="*/ 12653303 w 13849907"/>
              <a:gd name="csY5" fmla="*/ 2914588 h 3750845"/>
              <a:gd name="csX6" fmla="*/ 982091 w 13849907"/>
              <a:gd name="csY6" fmla="*/ 3750845 h 3750845"/>
              <a:gd name="csX7" fmla="*/ 0 w 13849907"/>
              <a:gd name="csY7" fmla="*/ 925229 h 3750845"/>
              <a:gd name="csX0" fmla="*/ 0 w 13814255"/>
              <a:gd name="csY0" fmla="*/ 925229 h 3750845"/>
              <a:gd name="csX1" fmla="*/ 12643495 w 13814255"/>
              <a:gd name="csY1" fmla="*/ 0 h 3750845"/>
              <a:gd name="csX2" fmla="*/ 13737319 w 13814255"/>
              <a:gd name="csY2" fmla="*/ 2749899 h 3750845"/>
              <a:gd name="csX3" fmla="*/ 13682737 w 13814255"/>
              <a:gd name="csY3" fmla="*/ 2945516 h 3750845"/>
              <a:gd name="csX4" fmla="*/ 13383150 w 13814255"/>
              <a:gd name="csY4" fmla="*/ 2883685 h 3750845"/>
              <a:gd name="csX5" fmla="*/ 12653303 w 13814255"/>
              <a:gd name="csY5" fmla="*/ 2914588 h 3750845"/>
              <a:gd name="csX6" fmla="*/ 982091 w 13814255"/>
              <a:gd name="csY6" fmla="*/ 3750845 h 3750845"/>
              <a:gd name="csX7" fmla="*/ 0 w 13814255"/>
              <a:gd name="csY7" fmla="*/ 925229 h 3750845"/>
              <a:gd name="csX0" fmla="*/ 0 w 13809295"/>
              <a:gd name="csY0" fmla="*/ 925229 h 3750845"/>
              <a:gd name="csX1" fmla="*/ 12643495 w 13809295"/>
              <a:gd name="csY1" fmla="*/ 0 h 3750845"/>
              <a:gd name="csX2" fmla="*/ 13737319 w 13809295"/>
              <a:gd name="csY2" fmla="*/ 2749899 h 3750845"/>
              <a:gd name="csX3" fmla="*/ 13682737 w 13809295"/>
              <a:gd name="csY3" fmla="*/ 2945516 h 3750845"/>
              <a:gd name="csX4" fmla="*/ 13383150 w 13809295"/>
              <a:gd name="csY4" fmla="*/ 2883685 h 3750845"/>
              <a:gd name="csX5" fmla="*/ 12653303 w 13809295"/>
              <a:gd name="csY5" fmla="*/ 2914588 h 3750845"/>
              <a:gd name="csX6" fmla="*/ 982091 w 13809295"/>
              <a:gd name="csY6" fmla="*/ 3750845 h 3750845"/>
              <a:gd name="csX7" fmla="*/ 0 w 13809295"/>
              <a:gd name="csY7" fmla="*/ 925229 h 3750845"/>
              <a:gd name="csX0" fmla="*/ 0 w 13834441"/>
              <a:gd name="csY0" fmla="*/ 925229 h 3750845"/>
              <a:gd name="csX1" fmla="*/ 12643495 w 13834441"/>
              <a:gd name="csY1" fmla="*/ 0 h 3750845"/>
              <a:gd name="csX2" fmla="*/ 13768738 w 13834441"/>
              <a:gd name="csY2" fmla="*/ 2727018 h 3750845"/>
              <a:gd name="csX3" fmla="*/ 13682737 w 13834441"/>
              <a:gd name="csY3" fmla="*/ 2945516 h 3750845"/>
              <a:gd name="csX4" fmla="*/ 13383150 w 13834441"/>
              <a:gd name="csY4" fmla="*/ 2883685 h 3750845"/>
              <a:gd name="csX5" fmla="*/ 12653303 w 13834441"/>
              <a:gd name="csY5" fmla="*/ 2914588 h 3750845"/>
              <a:gd name="csX6" fmla="*/ 982091 w 13834441"/>
              <a:gd name="csY6" fmla="*/ 3750845 h 3750845"/>
              <a:gd name="csX7" fmla="*/ 0 w 13834441"/>
              <a:gd name="csY7" fmla="*/ 925229 h 3750845"/>
              <a:gd name="csX0" fmla="*/ 0 w 13835682"/>
              <a:gd name="csY0" fmla="*/ 925229 h 3750845"/>
              <a:gd name="csX1" fmla="*/ 12643495 w 13835682"/>
              <a:gd name="csY1" fmla="*/ 0 h 3750845"/>
              <a:gd name="csX2" fmla="*/ 13768738 w 13835682"/>
              <a:gd name="csY2" fmla="*/ 2727018 h 3750845"/>
              <a:gd name="csX3" fmla="*/ 13689406 w 13835682"/>
              <a:gd name="csY3" fmla="*/ 2861465 h 3750845"/>
              <a:gd name="csX4" fmla="*/ 13383150 w 13835682"/>
              <a:gd name="csY4" fmla="*/ 2883685 h 3750845"/>
              <a:gd name="csX5" fmla="*/ 12653303 w 13835682"/>
              <a:gd name="csY5" fmla="*/ 2914588 h 3750845"/>
              <a:gd name="csX6" fmla="*/ 982091 w 13835682"/>
              <a:gd name="csY6" fmla="*/ 3750845 h 3750845"/>
              <a:gd name="csX7" fmla="*/ 0 w 13835682"/>
              <a:gd name="csY7" fmla="*/ 925229 h 3750845"/>
              <a:gd name="csX0" fmla="*/ 0 w 13850727"/>
              <a:gd name="csY0" fmla="*/ 925229 h 3750845"/>
              <a:gd name="csX1" fmla="*/ 12643495 w 13850727"/>
              <a:gd name="csY1" fmla="*/ 0 h 3750845"/>
              <a:gd name="csX2" fmla="*/ 13768738 w 13850727"/>
              <a:gd name="csY2" fmla="*/ 2727018 h 3750845"/>
              <a:gd name="csX3" fmla="*/ 13732499 w 13850727"/>
              <a:gd name="csY3" fmla="*/ 2791324 h 3750845"/>
              <a:gd name="csX4" fmla="*/ 13689406 w 13850727"/>
              <a:gd name="csY4" fmla="*/ 2861465 h 3750845"/>
              <a:gd name="csX5" fmla="*/ 13383150 w 13850727"/>
              <a:gd name="csY5" fmla="*/ 2883685 h 3750845"/>
              <a:gd name="csX6" fmla="*/ 12653303 w 13850727"/>
              <a:gd name="csY6" fmla="*/ 2914588 h 3750845"/>
              <a:gd name="csX7" fmla="*/ 982091 w 13850727"/>
              <a:gd name="csY7" fmla="*/ 3750845 h 3750845"/>
              <a:gd name="csX8" fmla="*/ 0 w 13850727"/>
              <a:gd name="csY8" fmla="*/ 925229 h 3750845"/>
              <a:gd name="csX0" fmla="*/ 0 w 13852616"/>
              <a:gd name="csY0" fmla="*/ 925229 h 3750845"/>
              <a:gd name="csX1" fmla="*/ 12643495 w 13852616"/>
              <a:gd name="csY1" fmla="*/ 0 h 3750845"/>
              <a:gd name="csX2" fmla="*/ 13768738 w 13852616"/>
              <a:gd name="csY2" fmla="*/ 2727018 h 3750845"/>
              <a:gd name="csX3" fmla="*/ 13746440 w 13852616"/>
              <a:gd name="csY3" fmla="*/ 2775514 h 3750845"/>
              <a:gd name="csX4" fmla="*/ 13732499 w 13852616"/>
              <a:gd name="csY4" fmla="*/ 2791324 h 3750845"/>
              <a:gd name="csX5" fmla="*/ 13689406 w 13852616"/>
              <a:gd name="csY5" fmla="*/ 2861465 h 3750845"/>
              <a:gd name="csX6" fmla="*/ 13383150 w 13852616"/>
              <a:gd name="csY6" fmla="*/ 2883685 h 3750845"/>
              <a:gd name="csX7" fmla="*/ 12653303 w 13852616"/>
              <a:gd name="csY7" fmla="*/ 2914588 h 3750845"/>
              <a:gd name="csX8" fmla="*/ 982091 w 13852616"/>
              <a:gd name="csY8" fmla="*/ 3750845 h 3750845"/>
              <a:gd name="csX9" fmla="*/ 0 w 13852616"/>
              <a:gd name="csY9" fmla="*/ 925229 h 3750845"/>
              <a:gd name="csX0" fmla="*/ 0 w 14001442"/>
              <a:gd name="csY0" fmla="*/ 862144 h 3750845"/>
              <a:gd name="csX1" fmla="*/ 12792321 w 14001442"/>
              <a:gd name="csY1" fmla="*/ 0 h 3750845"/>
              <a:gd name="csX2" fmla="*/ 13917564 w 14001442"/>
              <a:gd name="csY2" fmla="*/ 2727018 h 3750845"/>
              <a:gd name="csX3" fmla="*/ 13895266 w 14001442"/>
              <a:gd name="csY3" fmla="*/ 2775514 h 3750845"/>
              <a:gd name="csX4" fmla="*/ 13881325 w 14001442"/>
              <a:gd name="csY4" fmla="*/ 2791324 h 3750845"/>
              <a:gd name="csX5" fmla="*/ 13838232 w 14001442"/>
              <a:gd name="csY5" fmla="*/ 2861465 h 3750845"/>
              <a:gd name="csX6" fmla="*/ 13531976 w 14001442"/>
              <a:gd name="csY6" fmla="*/ 2883685 h 3750845"/>
              <a:gd name="csX7" fmla="*/ 12802129 w 14001442"/>
              <a:gd name="csY7" fmla="*/ 2914588 h 3750845"/>
              <a:gd name="csX8" fmla="*/ 1130917 w 14001442"/>
              <a:gd name="csY8" fmla="*/ 3750845 h 3750845"/>
              <a:gd name="csX9" fmla="*/ 0 w 14001442"/>
              <a:gd name="csY9" fmla="*/ 862144 h 37508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001442" h="3750845">
                <a:moveTo>
                  <a:pt x="0" y="862144"/>
                </a:moveTo>
                <a:lnTo>
                  <a:pt x="12792321" y="0"/>
                </a:lnTo>
                <a:lnTo>
                  <a:pt x="13917564" y="2727018"/>
                </a:lnTo>
                <a:cubicBezTo>
                  <a:pt x="14115776" y="3212595"/>
                  <a:pt x="13901306" y="2764796"/>
                  <a:pt x="13895266" y="2775514"/>
                </a:cubicBezTo>
                <a:cubicBezTo>
                  <a:pt x="13889226" y="2786232"/>
                  <a:pt x="13905218" y="2799990"/>
                  <a:pt x="13881325" y="2791324"/>
                </a:cubicBezTo>
                <a:cubicBezTo>
                  <a:pt x="13857432" y="2782658"/>
                  <a:pt x="13912890" y="2869930"/>
                  <a:pt x="13838232" y="2861465"/>
                </a:cubicBezTo>
                <a:cubicBezTo>
                  <a:pt x="13779204" y="2883763"/>
                  <a:pt x="13705594" y="2889707"/>
                  <a:pt x="13531976" y="2883685"/>
                </a:cubicBezTo>
                <a:cubicBezTo>
                  <a:pt x="13351307" y="2911133"/>
                  <a:pt x="14864258" y="2758410"/>
                  <a:pt x="12802129" y="2914588"/>
                </a:cubicBezTo>
                <a:lnTo>
                  <a:pt x="1130917" y="3750845"/>
                </a:lnTo>
                <a:lnTo>
                  <a:pt x="0" y="862144"/>
                </a:lnTo>
                <a:close/>
              </a:path>
            </a:pathLst>
          </a:custGeom>
          <a:solidFill>
            <a:srgbClr val="948F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6954E88-C630-B12F-3863-1E221D7F7FA2}"/>
              </a:ext>
            </a:extLst>
          </p:cNvPr>
          <p:cNvSpPr txBox="1"/>
          <p:nvPr/>
        </p:nvSpPr>
        <p:spPr>
          <a:xfrm rot="1230674">
            <a:off x="3097710" y="3056996"/>
            <a:ext cx="5682024" cy="769441"/>
          </a:xfrm>
          <a:prstGeom prst="rect">
            <a:avLst/>
          </a:prstGeom>
          <a:noFill/>
        </p:spPr>
        <p:txBody>
          <a:bodyPr wrap="square" rtlCol="0">
            <a:spAutoFit/>
          </a:bodyPr>
          <a:lstStyle/>
          <a:p>
            <a:pPr algn="ctr"/>
            <a:r>
              <a:rPr lang="en-US" sz="4400" dirty="0">
                <a:latin typeface="Magneto" panose="04030805050802020D02" pitchFamily="82" charset="0"/>
              </a:rPr>
              <a:t>What’s the Game?</a:t>
            </a:r>
          </a:p>
        </p:txBody>
      </p:sp>
      <p:sp>
        <p:nvSpPr>
          <p:cNvPr id="5" name="TextBox 4">
            <a:extLst>
              <a:ext uri="{FF2B5EF4-FFF2-40B4-BE49-F238E27FC236}">
                <a16:creationId xmlns:a16="http://schemas.microsoft.com/office/drawing/2014/main" id="{22B56E77-CF99-69D9-A1A2-9A64C500AA07}"/>
              </a:ext>
            </a:extLst>
          </p:cNvPr>
          <p:cNvSpPr txBox="1"/>
          <p:nvPr/>
        </p:nvSpPr>
        <p:spPr>
          <a:xfrm rot="20573612">
            <a:off x="67530" y="4191107"/>
            <a:ext cx="2901221" cy="646331"/>
          </a:xfrm>
          <a:prstGeom prst="rect">
            <a:avLst/>
          </a:prstGeom>
          <a:noFill/>
        </p:spPr>
        <p:txBody>
          <a:bodyPr wrap="square" rtlCol="0">
            <a:spAutoFit/>
          </a:bodyPr>
          <a:lstStyle/>
          <a:p>
            <a:endParaRPr lang="en-US" dirty="0"/>
          </a:p>
          <a:p>
            <a:r>
              <a:rPr lang="en-US" dirty="0">
                <a:solidFill>
                  <a:schemeClr val="bg1"/>
                </a:solidFill>
                <a:latin typeface="Rockwell" panose="02060603020205020403" pitchFamily="18" charset="0"/>
              </a:rPr>
              <a:t>10 Seconds per Question</a:t>
            </a:r>
          </a:p>
        </p:txBody>
      </p:sp>
      <p:sp>
        <p:nvSpPr>
          <p:cNvPr id="6" name="TextBox 5">
            <a:extLst>
              <a:ext uri="{FF2B5EF4-FFF2-40B4-BE49-F238E27FC236}">
                <a16:creationId xmlns:a16="http://schemas.microsoft.com/office/drawing/2014/main" id="{12C22595-6A49-5FAC-83E3-8E2826D42AB6}"/>
              </a:ext>
            </a:extLst>
          </p:cNvPr>
          <p:cNvSpPr txBox="1"/>
          <p:nvPr/>
        </p:nvSpPr>
        <p:spPr>
          <a:xfrm rot="1340867">
            <a:off x="4764106" y="5711638"/>
            <a:ext cx="4160139" cy="369332"/>
          </a:xfrm>
          <a:prstGeom prst="rect">
            <a:avLst/>
          </a:prstGeom>
          <a:noFill/>
        </p:spPr>
        <p:txBody>
          <a:bodyPr wrap="square" rtlCol="0">
            <a:spAutoFit/>
          </a:bodyPr>
          <a:lstStyle/>
          <a:p>
            <a:r>
              <a:rPr lang="en-US" dirty="0">
                <a:solidFill>
                  <a:schemeClr val="bg1"/>
                </a:solidFill>
                <a:latin typeface="Rockwell" panose="02060603020205020403" pitchFamily="18" charset="0"/>
              </a:rPr>
              <a:t>No right or wrong answers</a:t>
            </a:r>
          </a:p>
        </p:txBody>
      </p:sp>
      <p:sp>
        <p:nvSpPr>
          <p:cNvPr id="8" name="TextBox 7">
            <a:extLst>
              <a:ext uri="{FF2B5EF4-FFF2-40B4-BE49-F238E27FC236}">
                <a16:creationId xmlns:a16="http://schemas.microsoft.com/office/drawing/2014/main" id="{97505FE6-60DE-ADB4-CE1B-29852C9A4468}"/>
              </a:ext>
            </a:extLst>
          </p:cNvPr>
          <p:cNvSpPr txBox="1"/>
          <p:nvPr/>
        </p:nvSpPr>
        <p:spPr>
          <a:xfrm rot="21002005">
            <a:off x="7070382" y="1032219"/>
            <a:ext cx="4532642" cy="369332"/>
          </a:xfrm>
          <a:prstGeom prst="rect">
            <a:avLst/>
          </a:prstGeom>
          <a:noFill/>
        </p:spPr>
        <p:txBody>
          <a:bodyPr wrap="square" rtlCol="0">
            <a:spAutoFit/>
          </a:bodyPr>
          <a:lstStyle/>
          <a:p>
            <a:r>
              <a:rPr lang="en-US" dirty="0">
                <a:solidFill>
                  <a:schemeClr val="bg1"/>
                </a:solidFill>
                <a:latin typeface="Rockwell" panose="02060603020205020403" pitchFamily="18" charset="0"/>
              </a:rPr>
              <a:t>Don’t Overthink it</a:t>
            </a:r>
          </a:p>
        </p:txBody>
      </p:sp>
      <p:grpSp>
        <p:nvGrpSpPr>
          <p:cNvPr id="14" name="Group 13">
            <a:extLst>
              <a:ext uri="{FF2B5EF4-FFF2-40B4-BE49-F238E27FC236}">
                <a16:creationId xmlns:a16="http://schemas.microsoft.com/office/drawing/2014/main" id="{37DA72BB-475B-D388-2ADF-4A9DAC57C70A}"/>
              </a:ext>
            </a:extLst>
          </p:cNvPr>
          <p:cNvGrpSpPr/>
          <p:nvPr/>
        </p:nvGrpSpPr>
        <p:grpSpPr>
          <a:xfrm>
            <a:off x="-24727" y="-7165205"/>
            <a:ext cx="12198932" cy="26123017"/>
            <a:chOff x="-14854832" y="7894112"/>
            <a:chExt cx="12198932" cy="26123017"/>
          </a:xfrm>
        </p:grpSpPr>
        <p:pic>
          <p:nvPicPr>
            <p:cNvPr id="19" name="Picture 18">
              <a:extLst>
                <a:ext uri="{FF2B5EF4-FFF2-40B4-BE49-F238E27FC236}">
                  <a16:creationId xmlns:a16="http://schemas.microsoft.com/office/drawing/2014/main" id="{5AD164CC-0C8D-B0FB-04EC-E58601F1E087}"/>
                </a:ext>
              </a:extLst>
            </p:cNvPr>
            <p:cNvPicPr>
              <a:picLocks noChangeAspect="1"/>
            </p:cNvPicPr>
            <p:nvPr/>
          </p:nvPicPr>
          <p:blipFill>
            <a:blip r:embed="rId4">
              <a:extLst>
                <a:ext uri="{28A0092B-C50C-407E-A947-70E740481C1C}">
                  <a14:useLocalDpi xmlns:a14="http://schemas.microsoft.com/office/drawing/2010/main" val="0"/>
                </a:ext>
              </a:extLst>
            </a:blip>
            <a:srcRect l="35614" t="18232" r="39512" b="1868"/>
            <a:stretch>
              <a:fillRect/>
            </a:stretch>
          </p:blipFill>
          <p:spPr>
            <a:xfrm>
              <a:off x="-14854832" y="7894112"/>
              <a:ext cx="12198932" cy="26123017"/>
            </a:xfrm>
            <a:prstGeom prst="rect">
              <a:avLst/>
            </a:prstGeom>
          </p:spPr>
        </p:pic>
        <p:grpSp>
          <p:nvGrpSpPr>
            <p:cNvPr id="21" name="Group 20">
              <a:extLst>
                <a:ext uri="{FF2B5EF4-FFF2-40B4-BE49-F238E27FC236}">
                  <a16:creationId xmlns:a16="http://schemas.microsoft.com/office/drawing/2014/main" id="{77F64565-B207-FFA7-FB25-B18F44E9B308}"/>
                </a:ext>
              </a:extLst>
            </p:cNvPr>
            <p:cNvGrpSpPr/>
            <p:nvPr/>
          </p:nvGrpSpPr>
          <p:grpSpPr>
            <a:xfrm>
              <a:off x="-12495262" y="9886089"/>
              <a:ext cx="7479792" cy="3711284"/>
              <a:chOff x="-795528" y="10343176"/>
              <a:chExt cx="7479792" cy="3711284"/>
            </a:xfrm>
          </p:grpSpPr>
          <p:sp>
            <p:nvSpPr>
              <p:cNvPr id="61" name="Rectangle: Rounded Corners 60">
                <a:extLst>
                  <a:ext uri="{FF2B5EF4-FFF2-40B4-BE49-F238E27FC236}">
                    <a16:creationId xmlns:a16="http://schemas.microsoft.com/office/drawing/2014/main" id="{C7D7D2E5-1BA4-1292-5EE8-D2512338C53A}"/>
                  </a:ext>
                </a:extLst>
              </p:cNvPr>
              <p:cNvSpPr/>
              <p:nvPr/>
            </p:nvSpPr>
            <p:spPr>
              <a:xfrm>
                <a:off x="-795528" y="10343176"/>
                <a:ext cx="7479792" cy="371128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TextBox 61">
                <a:extLst>
                  <a:ext uri="{FF2B5EF4-FFF2-40B4-BE49-F238E27FC236}">
                    <a16:creationId xmlns:a16="http://schemas.microsoft.com/office/drawing/2014/main" id="{A4989A94-1D0F-C636-3CAE-F9CA3EC8B2F2}"/>
                  </a:ext>
                </a:extLst>
              </p:cNvPr>
              <p:cNvSpPr txBox="1"/>
              <p:nvPr/>
            </p:nvSpPr>
            <p:spPr>
              <a:xfrm>
                <a:off x="-533126" y="11268184"/>
                <a:ext cx="1779939" cy="1569660"/>
              </a:xfrm>
              <a:prstGeom prst="rect">
                <a:avLst/>
              </a:prstGeom>
              <a:noFill/>
            </p:spPr>
            <p:txBody>
              <a:bodyPr wrap="square" rtlCol="0">
                <a:spAutoFit/>
              </a:bodyPr>
              <a:lstStyle/>
              <a:p>
                <a:r>
                  <a:rPr lang="en-US" sz="9600" dirty="0">
                    <a:solidFill>
                      <a:schemeClr val="bg2">
                        <a:lumMod val="10000"/>
                      </a:schemeClr>
                    </a:solidFill>
                    <a:latin typeface="Rockwell Extra Bold" panose="02060903040505020403" pitchFamily="18" charset="0"/>
                  </a:rPr>
                  <a:t>1.</a:t>
                </a:r>
              </a:p>
            </p:txBody>
          </p:sp>
          <p:sp>
            <p:nvSpPr>
              <p:cNvPr id="63" name="TextBox 62">
                <a:extLst>
                  <a:ext uri="{FF2B5EF4-FFF2-40B4-BE49-F238E27FC236}">
                    <a16:creationId xmlns:a16="http://schemas.microsoft.com/office/drawing/2014/main" id="{FC25BBDB-787B-5C1E-518E-ABF3C64308E8}"/>
                  </a:ext>
                </a:extLst>
              </p:cNvPr>
              <p:cNvSpPr txBox="1"/>
              <p:nvPr/>
            </p:nvSpPr>
            <p:spPr>
              <a:xfrm>
                <a:off x="1246813" y="10620664"/>
                <a:ext cx="5178309" cy="2062103"/>
              </a:xfrm>
              <a:prstGeom prst="rect">
                <a:avLst/>
              </a:prstGeom>
              <a:noFill/>
            </p:spPr>
            <p:txBody>
              <a:bodyPr wrap="square" rtlCol="0">
                <a:spAutoFit/>
              </a:bodyPr>
              <a:lstStyle/>
              <a:p>
                <a:endParaRPr lang="en-US" sz="3200" i="1" dirty="0"/>
              </a:p>
              <a:p>
                <a:r>
                  <a:rPr lang="en-US" sz="3200" i="1" dirty="0"/>
                  <a:t>AI is mostly only useful for generating text in tools like ChatGPT or Gemini.</a:t>
                </a:r>
                <a:endParaRPr lang="en-US" sz="3200" dirty="0"/>
              </a:p>
            </p:txBody>
          </p:sp>
          <p:sp>
            <p:nvSpPr>
              <p:cNvPr id="64" name="TextBox 63">
                <a:extLst>
                  <a:ext uri="{FF2B5EF4-FFF2-40B4-BE49-F238E27FC236}">
                    <a16:creationId xmlns:a16="http://schemas.microsoft.com/office/drawing/2014/main" id="{3BD5CDF3-22B9-EF0A-5F5D-DFC42DFC5CB0}"/>
                  </a:ext>
                </a:extLst>
              </p:cNvPr>
              <p:cNvSpPr txBox="1"/>
              <p:nvPr/>
            </p:nvSpPr>
            <p:spPr>
              <a:xfrm>
                <a:off x="646709" y="13001822"/>
                <a:ext cx="5487434" cy="461665"/>
              </a:xfrm>
              <a:prstGeom prst="rect">
                <a:avLst/>
              </a:prstGeom>
              <a:noFill/>
            </p:spPr>
            <p:txBody>
              <a:bodyPr wrap="square" rtlCol="0">
                <a:spAutoFit/>
              </a:bodyPr>
              <a:lstStyle/>
              <a:p>
                <a:r>
                  <a:rPr lang="en-US" sz="2400" b="1" dirty="0">
                    <a:latin typeface="Arial Black" panose="020B0A04020102020204" pitchFamily="34" charset="0"/>
                  </a:rPr>
                  <a:t>A) True                      B) False</a:t>
                </a:r>
              </a:p>
            </p:txBody>
          </p:sp>
        </p:grpSp>
        <p:grpSp>
          <p:nvGrpSpPr>
            <p:cNvPr id="26" name="Group 25">
              <a:extLst>
                <a:ext uri="{FF2B5EF4-FFF2-40B4-BE49-F238E27FC236}">
                  <a16:creationId xmlns:a16="http://schemas.microsoft.com/office/drawing/2014/main" id="{43F58B2A-ABB9-8DF4-EAAD-155F5BB20182}"/>
                </a:ext>
              </a:extLst>
            </p:cNvPr>
            <p:cNvGrpSpPr/>
            <p:nvPr/>
          </p:nvGrpSpPr>
          <p:grpSpPr>
            <a:xfrm>
              <a:off x="-12495262" y="16548824"/>
              <a:ext cx="7479792" cy="3711284"/>
              <a:chOff x="2523877" y="7784497"/>
              <a:chExt cx="7479792" cy="3711284"/>
            </a:xfrm>
          </p:grpSpPr>
          <p:sp>
            <p:nvSpPr>
              <p:cNvPr id="41" name="Rectangle: Rounded Corners 40">
                <a:extLst>
                  <a:ext uri="{FF2B5EF4-FFF2-40B4-BE49-F238E27FC236}">
                    <a16:creationId xmlns:a16="http://schemas.microsoft.com/office/drawing/2014/main" id="{A2B3F8BD-1043-A0A4-8426-F4F6A9CAF5AB}"/>
                  </a:ext>
                </a:extLst>
              </p:cNvPr>
              <p:cNvSpPr/>
              <p:nvPr/>
            </p:nvSpPr>
            <p:spPr>
              <a:xfrm>
                <a:off x="2523877" y="7784497"/>
                <a:ext cx="7479792" cy="371128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9B2B5E2B-0DA8-FBEC-DA37-6EBA9A9D11D7}"/>
                  </a:ext>
                </a:extLst>
              </p:cNvPr>
              <p:cNvSpPr txBox="1"/>
              <p:nvPr/>
            </p:nvSpPr>
            <p:spPr>
              <a:xfrm>
                <a:off x="2764703" y="8893170"/>
                <a:ext cx="1779939" cy="1569660"/>
              </a:xfrm>
              <a:prstGeom prst="rect">
                <a:avLst/>
              </a:prstGeom>
              <a:noFill/>
            </p:spPr>
            <p:txBody>
              <a:bodyPr wrap="square" rtlCol="0">
                <a:spAutoFit/>
              </a:bodyPr>
              <a:lstStyle/>
              <a:p>
                <a:r>
                  <a:rPr lang="en-US" sz="9600" dirty="0">
                    <a:solidFill>
                      <a:schemeClr val="bg2">
                        <a:lumMod val="10000"/>
                      </a:schemeClr>
                    </a:solidFill>
                    <a:latin typeface="Rockwell Extra Bold" panose="02060903040505020403" pitchFamily="18" charset="0"/>
                  </a:rPr>
                  <a:t>2.</a:t>
                </a:r>
              </a:p>
            </p:txBody>
          </p:sp>
          <p:sp>
            <p:nvSpPr>
              <p:cNvPr id="43" name="TextBox 42">
                <a:extLst>
                  <a:ext uri="{FF2B5EF4-FFF2-40B4-BE49-F238E27FC236}">
                    <a16:creationId xmlns:a16="http://schemas.microsoft.com/office/drawing/2014/main" id="{A7451D41-5554-FA43-0111-64D3DD668B7F}"/>
                  </a:ext>
                </a:extLst>
              </p:cNvPr>
              <p:cNvSpPr txBox="1"/>
              <p:nvPr/>
            </p:nvSpPr>
            <p:spPr>
              <a:xfrm>
                <a:off x="4596796" y="8298888"/>
                <a:ext cx="5178309" cy="1569660"/>
              </a:xfrm>
              <a:prstGeom prst="rect">
                <a:avLst/>
              </a:prstGeom>
              <a:noFill/>
            </p:spPr>
            <p:txBody>
              <a:bodyPr wrap="square" rtlCol="0">
                <a:spAutoFit/>
              </a:bodyPr>
              <a:lstStyle/>
              <a:p>
                <a:endParaRPr lang="en-US" sz="3200" i="1" dirty="0"/>
              </a:p>
              <a:p>
                <a:r>
                  <a:rPr lang="en-US" sz="3200" i="1" dirty="0"/>
                  <a:t>AI will replace most jobs in the future.</a:t>
                </a:r>
                <a:endParaRPr lang="en-US" sz="3200" dirty="0"/>
              </a:p>
            </p:txBody>
          </p:sp>
          <p:sp>
            <p:nvSpPr>
              <p:cNvPr id="44" name="TextBox 43">
                <a:extLst>
                  <a:ext uri="{FF2B5EF4-FFF2-40B4-BE49-F238E27FC236}">
                    <a16:creationId xmlns:a16="http://schemas.microsoft.com/office/drawing/2014/main" id="{8D502373-CD8C-9EE7-7FF2-5EF8F6C8CF3F}"/>
                  </a:ext>
                </a:extLst>
              </p:cNvPr>
              <p:cNvSpPr txBox="1"/>
              <p:nvPr/>
            </p:nvSpPr>
            <p:spPr>
              <a:xfrm>
                <a:off x="4013737" y="10551052"/>
                <a:ext cx="5487434" cy="461665"/>
              </a:xfrm>
              <a:prstGeom prst="rect">
                <a:avLst/>
              </a:prstGeom>
              <a:noFill/>
            </p:spPr>
            <p:txBody>
              <a:bodyPr wrap="square" rtlCol="0">
                <a:spAutoFit/>
              </a:bodyPr>
              <a:lstStyle/>
              <a:p>
                <a:r>
                  <a:rPr lang="en-US" sz="2400" b="1" dirty="0">
                    <a:latin typeface="Arial Black" panose="020B0A04020102020204" pitchFamily="34" charset="0"/>
                  </a:rPr>
                  <a:t>A) True                      B) False</a:t>
                </a:r>
              </a:p>
            </p:txBody>
          </p:sp>
        </p:grpSp>
        <p:grpSp>
          <p:nvGrpSpPr>
            <p:cNvPr id="27" name="Group 26">
              <a:extLst>
                <a:ext uri="{FF2B5EF4-FFF2-40B4-BE49-F238E27FC236}">
                  <a16:creationId xmlns:a16="http://schemas.microsoft.com/office/drawing/2014/main" id="{CA9C9A0A-6D35-630C-ED60-0EFA9B7D32B0}"/>
                </a:ext>
              </a:extLst>
            </p:cNvPr>
            <p:cNvGrpSpPr/>
            <p:nvPr/>
          </p:nvGrpSpPr>
          <p:grpSpPr>
            <a:xfrm>
              <a:off x="-12495262" y="22974320"/>
              <a:ext cx="7479792" cy="3711284"/>
              <a:chOff x="-14975864" y="12589286"/>
              <a:chExt cx="7479792" cy="3711284"/>
            </a:xfrm>
          </p:grpSpPr>
          <p:sp>
            <p:nvSpPr>
              <p:cNvPr id="37" name="Rectangle: Rounded Corners 36">
                <a:extLst>
                  <a:ext uri="{FF2B5EF4-FFF2-40B4-BE49-F238E27FC236}">
                    <a16:creationId xmlns:a16="http://schemas.microsoft.com/office/drawing/2014/main" id="{9ADC5B4E-7271-23E1-5597-354986E7C98A}"/>
                  </a:ext>
                </a:extLst>
              </p:cNvPr>
              <p:cNvSpPr/>
              <p:nvPr/>
            </p:nvSpPr>
            <p:spPr>
              <a:xfrm>
                <a:off x="-14975864" y="12589286"/>
                <a:ext cx="7479792" cy="371128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CFDDFDDF-04EC-DF9B-3775-9381BA9B2296}"/>
                  </a:ext>
                </a:extLst>
              </p:cNvPr>
              <p:cNvSpPr txBox="1"/>
              <p:nvPr/>
            </p:nvSpPr>
            <p:spPr>
              <a:xfrm>
                <a:off x="-14667105" y="13631134"/>
                <a:ext cx="1779939" cy="1569660"/>
              </a:xfrm>
              <a:prstGeom prst="rect">
                <a:avLst/>
              </a:prstGeom>
              <a:noFill/>
            </p:spPr>
            <p:txBody>
              <a:bodyPr wrap="square" rtlCol="0">
                <a:spAutoFit/>
              </a:bodyPr>
              <a:lstStyle/>
              <a:p>
                <a:r>
                  <a:rPr lang="en-US" sz="9600" dirty="0">
                    <a:solidFill>
                      <a:schemeClr val="bg2">
                        <a:lumMod val="10000"/>
                      </a:schemeClr>
                    </a:solidFill>
                    <a:latin typeface="Rockwell Extra Bold" panose="02060903040505020403" pitchFamily="18" charset="0"/>
                  </a:rPr>
                  <a:t>3.</a:t>
                </a:r>
              </a:p>
            </p:txBody>
          </p:sp>
          <p:sp>
            <p:nvSpPr>
              <p:cNvPr id="39" name="TextBox 38">
                <a:extLst>
                  <a:ext uri="{FF2B5EF4-FFF2-40B4-BE49-F238E27FC236}">
                    <a16:creationId xmlns:a16="http://schemas.microsoft.com/office/drawing/2014/main" id="{772867D1-0287-9790-7A93-3B045A75A984}"/>
                  </a:ext>
                </a:extLst>
              </p:cNvPr>
              <p:cNvSpPr txBox="1"/>
              <p:nvPr/>
            </p:nvSpPr>
            <p:spPr>
              <a:xfrm>
                <a:off x="-12902946" y="12704638"/>
                <a:ext cx="5178309" cy="2431435"/>
              </a:xfrm>
              <a:prstGeom prst="rect">
                <a:avLst/>
              </a:prstGeom>
              <a:noFill/>
            </p:spPr>
            <p:txBody>
              <a:bodyPr wrap="square" rtlCol="0">
                <a:spAutoFit/>
              </a:bodyPr>
              <a:lstStyle/>
              <a:p>
                <a:endParaRPr lang="en-US" sz="2400" i="1" dirty="0"/>
              </a:p>
              <a:p>
                <a:r>
                  <a:rPr lang="en-US" sz="3200" i="1" dirty="0"/>
                  <a:t>AI-generated content (text, images, code) is now indistinguishable from human-created work.</a:t>
                </a:r>
                <a:endParaRPr lang="en-US" sz="3200" dirty="0"/>
              </a:p>
            </p:txBody>
          </p:sp>
          <p:sp>
            <p:nvSpPr>
              <p:cNvPr id="40" name="TextBox 39">
                <a:extLst>
                  <a:ext uri="{FF2B5EF4-FFF2-40B4-BE49-F238E27FC236}">
                    <a16:creationId xmlns:a16="http://schemas.microsoft.com/office/drawing/2014/main" id="{D1FDE734-34F7-ABD9-5E78-FFE989003ED8}"/>
                  </a:ext>
                </a:extLst>
              </p:cNvPr>
              <p:cNvSpPr txBox="1"/>
              <p:nvPr/>
            </p:nvSpPr>
            <p:spPr>
              <a:xfrm>
                <a:off x="-13564475" y="15314503"/>
                <a:ext cx="5487434" cy="461665"/>
              </a:xfrm>
              <a:prstGeom prst="rect">
                <a:avLst/>
              </a:prstGeom>
              <a:noFill/>
            </p:spPr>
            <p:txBody>
              <a:bodyPr wrap="square" rtlCol="0">
                <a:spAutoFit/>
              </a:bodyPr>
              <a:lstStyle/>
              <a:p>
                <a:r>
                  <a:rPr lang="en-US" sz="2400" b="1" dirty="0">
                    <a:latin typeface="Arial Black" panose="020B0A04020102020204" pitchFamily="34" charset="0"/>
                  </a:rPr>
                  <a:t>A) True                      B) False</a:t>
                </a:r>
              </a:p>
            </p:txBody>
          </p:sp>
        </p:grpSp>
        <p:grpSp>
          <p:nvGrpSpPr>
            <p:cNvPr id="30" name="Group 29">
              <a:extLst>
                <a:ext uri="{FF2B5EF4-FFF2-40B4-BE49-F238E27FC236}">
                  <a16:creationId xmlns:a16="http://schemas.microsoft.com/office/drawing/2014/main" id="{B053A21E-062A-93DD-0CB7-DC2C0238D128}"/>
                </a:ext>
              </a:extLst>
            </p:cNvPr>
            <p:cNvGrpSpPr/>
            <p:nvPr/>
          </p:nvGrpSpPr>
          <p:grpSpPr>
            <a:xfrm>
              <a:off x="-12390279" y="29066616"/>
              <a:ext cx="7479792" cy="3711284"/>
              <a:chOff x="-15189416" y="19796761"/>
              <a:chExt cx="7479792" cy="3711284"/>
            </a:xfrm>
          </p:grpSpPr>
          <p:sp>
            <p:nvSpPr>
              <p:cNvPr id="31" name="Rectangle: Rounded Corners 30">
                <a:extLst>
                  <a:ext uri="{FF2B5EF4-FFF2-40B4-BE49-F238E27FC236}">
                    <a16:creationId xmlns:a16="http://schemas.microsoft.com/office/drawing/2014/main" id="{A0D175FE-CE94-FE94-9ADC-F29890707F8D}"/>
                  </a:ext>
                </a:extLst>
              </p:cNvPr>
              <p:cNvSpPr/>
              <p:nvPr/>
            </p:nvSpPr>
            <p:spPr>
              <a:xfrm>
                <a:off x="-15189416" y="19796761"/>
                <a:ext cx="7479792" cy="371128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DDC0AE61-BAE2-0D50-9DD7-843465F9B9E0}"/>
                  </a:ext>
                </a:extLst>
              </p:cNvPr>
              <p:cNvSpPr txBox="1"/>
              <p:nvPr/>
            </p:nvSpPr>
            <p:spPr>
              <a:xfrm>
                <a:off x="-14975102" y="20867573"/>
                <a:ext cx="1779939" cy="1569660"/>
              </a:xfrm>
              <a:prstGeom prst="rect">
                <a:avLst/>
              </a:prstGeom>
              <a:noFill/>
            </p:spPr>
            <p:txBody>
              <a:bodyPr wrap="square" rtlCol="0">
                <a:spAutoFit/>
              </a:bodyPr>
              <a:lstStyle/>
              <a:p>
                <a:r>
                  <a:rPr lang="en-US" sz="9600" dirty="0">
                    <a:solidFill>
                      <a:schemeClr val="bg2">
                        <a:lumMod val="10000"/>
                      </a:schemeClr>
                    </a:solidFill>
                    <a:latin typeface="Rockwell Extra Bold" panose="02060903040505020403" pitchFamily="18" charset="0"/>
                  </a:rPr>
                  <a:t>4.</a:t>
                </a:r>
              </a:p>
            </p:txBody>
          </p:sp>
          <p:sp>
            <p:nvSpPr>
              <p:cNvPr id="35" name="TextBox 34">
                <a:extLst>
                  <a:ext uri="{FF2B5EF4-FFF2-40B4-BE49-F238E27FC236}">
                    <a16:creationId xmlns:a16="http://schemas.microsoft.com/office/drawing/2014/main" id="{279D95C0-373E-C085-1851-013DB08FBC18}"/>
                  </a:ext>
                </a:extLst>
              </p:cNvPr>
              <p:cNvSpPr txBox="1"/>
              <p:nvPr/>
            </p:nvSpPr>
            <p:spPr>
              <a:xfrm>
                <a:off x="-13158262" y="21011169"/>
                <a:ext cx="5178309" cy="1569660"/>
              </a:xfrm>
              <a:prstGeom prst="rect">
                <a:avLst/>
              </a:prstGeom>
              <a:noFill/>
            </p:spPr>
            <p:txBody>
              <a:bodyPr wrap="square" rtlCol="0">
                <a:spAutoFit/>
              </a:bodyPr>
              <a:lstStyle/>
              <a:p>
                <a:r>
                  <a:rPr lang="en-US" sz="3200" i="1" dirty="0"/>
                  <a:t>AI is working like a human brain.</a:t>
                </a:r>
              </a:p>
              <a:p>
                <a:endParaRPr lang="en-US" sz="3200" dirty="0"/>
              </a:p>
            </p:txBody>
          </p:sp>
          <p:sp>
            <p:nvSpPr>
              <p:cNvPr id="36" name="TextBox 35">
                <a:extLst>
                  <a:ext uri="{FF2B5EF4-FFF2-40B4-BE49-F238E27FC236}">
                    <a16:creationId xmlns:a16="http://schemas.microsoft.com/office/drawing/2014/main" id="{2D9CEF2A-0547-4A7B-486A-823A2028FB97}"/>
                  </a:ext>
                </a:extLst>
              </p:cNvPr>
              <p:cNvSpPr txBox="1"/>
              <p:nvPr/>
            </p:nvSpPr>
            <p:spPr>
              <a:xfrm>
                <a:off x="-13795267" y="22510973"/>
                <a:ext cx="5487434" cy="461665"/>
              </a:xfrm>
              <a:prstGeom prst="rect">
                <a:avLst/>
              </a:prstGeom>
              <a:noFill/>
            </p:spPr>
            <p:txBody>
              <a:bodyPr wrap="square" rtlCol="0">
                <a:spAutoFit/>
              </a:bodyPr>
              <a:lstStyle/>
              <a:p>
                <a:r>
                  <a:rPr lang="en-US" sz="2400" b="1" dirty="0">
                    <a:latin typeface="Arial Black" panose="020B0A04020102020204" pitchFamily="34" charset="0"/>
                  </a:rPr>
                  <a:t>A) True                      B) False</a:t>
                </a:r>
              </a:p>
            </p:txBody>
          </p:sp>
        </p:grpSp>
      </p:grpSp>
    </p:spTree>
    <p:extLst>
      <p:ext uri="{BB962C8B-B14F-4D97-AF65-F5344CB8AC3E}">
        <p14:creationId xmlns:p14="http://schemas.microsoft.com/office/powerpoint/2010/main" val="10382006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200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0EE6F-1CC6-3A6E-146E-D56CD14BB6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D6266A-08B9-F462-789E-9C51888152EF}"/>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69F54139-9138-1E38-CD18-C6F35A85024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 r="1933" b="42238"/>
          <a:stretch>
            <a:fillRect/>
          </a:stretch>
        </p:blipFill>
        <p:spPr>
          <a:xfrm>
            <a:off x="-1" y="0"/>
            <a:ext cx="12198593" cy="4041647"/>
          </a:xfrm>
          <a:prstGeom prst="rect">
            <a:avLst/>
          </a:prstGeom>
        </p:spPr>
      </p:pic>
      <p:sp>
        <p:nvSpPr>
          <p:cNvPr id="9" name="TextBox 8">
            <a:extLst>
              <a:ext uri="{FF2B5EF4-FFF2-40B4-BE49-F238E27FC236}">
                <a16:creationId xmlns:a16="http://schemas.microsoft.com/office/drawing/2014/main" id="{51031147-0DAB-F30F-4700-FCAA2C81BA4C}"/>
              </a:ext>
            </a:extLst>
          </p:cNvPr>
          <p:cNvSpPr txBox="1"/>
          <p:nvPr/>
        </p:nvSpPr>
        <p:spPr>
          <a:xfrm>
            <a:off x="676656" y="1527048"/>
            <a:ext cx="6007608" cy="1569660"/>
          </a:xfrm>
          <a:prstGeom prst="rect">
            <a:avLst/>
          </a:prstGeom>
          <a:noFill/>
        </p:spPr>
        <p:txBody>
          <a:bodyPr wrap="square" rtlCol="0">
            <a:spAutoFit/>
          </a:bodyPr>
          <a:lstStyle/>
          <a:p>
            <a:pPr algn="ctr"/>
            <a:r>
              <a:rPr lang="en-US" sz="9600" dirty="0">
                <a:solidFill>
                  <a:schemeClr val="bg1"/>
                </a:solidFill>
                <a:latin typeface="Rockwell Extra Bold" panose="02060903040505020403" pitchFamily="18" charset="0"/>
              </a:rPr>
              <a:t>AI </a:t>
            </a:r>
            <a:r>
              <a:rPr lang="en-US" sz="2000" dirty="0">
                <a:solidFill>
                  <a:schemeClr val="bg1"/>
                </a:solidFill>
                <a:latin typeface="Rockwell Extra Bold" panose="02060903040505020403" pitchFamily="18" charset="0"/>
              </a:rPr>
              <a:t>in</a:t>
            </a:r>
            <a:endParaRPr lang="en-US" sz="9600" dirty="0">
              <a:solidFill>
                <a:schemeClr val="bg1"/>
              </a:solidFill>
              <a:latin typeface="Rockwell Extra Bold" panose="02060903040505020403" pitchFamily="18" charset="0"/>
            </a:endParaRPr>
          </a:p>
        </p:txBody>
      </p:sp>
      <p:sp>
        <p:nvSpPr>
          <p:cNvPr id="10" name="TextBox 9">
            <a:extLst>
              <a:ext uri="{FF2B5EF4-FFF2-40B4-BE49-F238E27FC236}">
                <a16:creationId xmlns:a16="http://schemas.microsoft.com/office/drawing/2014/main" id="{D5482134-C815-7DF6-7CD9-02CCBC63A124}"/>
              </a:ext>
            </a:extLst>
          </p:cNvPr>
          <p:cNvSpPr txBox="1"/>
          <p:nvPr/>
        </p:nvSpPr>
        <p:spPr>
          <a:xfrm>
            <a:off x="392545" y="4596878"/>
            <a:ext cx="6894576" cy="1569660"/>
          </a:xfrm>
          <a:prstGeom prst="rect">
            <a:avLst/>
          </a:prstGeom>
          <a:noFill/>
        </p:spPr>
        <p:txBody>
          <a:bodyPr wrap="square" rtlCol="0">
            <a:spAutoFit/>
          </a:bodyPr>
          <a:lstStyle/>
          <a:p>
            <a:r>
              <a:rPr lang="en-US" sz="9600" dirty="0">
                <a:gradFill>
                  <a:gsLst>
                    <a:gs pos="0">
                      <a:srgbClr val="00224F"/>
                    </a:gs>
                    <a:gs pos="74000">
                      <a:srgbClr val="2B55C4"/>
                    </a:gs>
                    <a:gs pos="83000">
                      <a:srgbClr val="AFD0FD"/>
                    </a:gs>
                    <a:gs pos="100000">
                      <a:schemeClr val="accent1">
                        <a:lumMod val="30000"/>
                        <a:lumOff val="70000"/>
                      </a:schemeClr>
                    </a:gs>
                  </a:gsLst>
                  <a:lin ang="5400000" scaled="1"/>
                </a:gradFill>
                <a:latin typeface="Rockwell Extra Bold" panose="02060903040505020403" pitchFamily="18" charset="0"/>
              </a:rPr>
              <a:t>Business</a:t>
            </a:r>
          </a:p>
        </p:txBody>
      </p:sp>
      <p:sp>
        <p:nvSpPr>
          <p:cNvPr id="11" name="Right Triangle 10">
            <a:extLst>
              <a:ext uri="{FF2B5EF4-FFF2-40B4-BE49-F238E27FC236}">
                <a16:creationId xmlns:a16="http://schemas.microsoft.com/office/drawing/2014/main" id="{F548B20B-6D9C-C323-2827-1EE80501A838}"/>
              </a:ext>
            </a:extLst>
          </p:cNvPr>
          <p:cNvSpPr/>
          <p:nvPr/>
        </p:nvSpPr>
        <p:spPr>
          <a:xfrm>
            <a:off x="-62092" y="3009620"/>
            <a:ext cx="12217445" cy="3945118"/>
          </a:xfrm>
          <a:custGeom>
            <a:avLst/>
            <a:gdLst>
              <a:gd name="csX0" fmla="*/ 0 w 12198592"/>
              <a:gd name="csY0" fmla="*/ 3916837 h 3916837"/>
              <a:gd name="csX1" fmla="*/ 0 w 12198592"/>
              <a:gd name="csY1" fmla="*/ 0 h 3916837"/>
              <a:gd name="csX2" fmla="*/ 12198592 w 12198592"/>
              <a:gd name="csY2" fmla="*/ 3916837 h 3916837"/>
              <a:gd name="csX3" fmla="*/ 0 w 12198592"/>
              <a:gd name="csY3" fmla="*/ 3916837 h 3916837"/>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198592"/>
              <a:gd name="csY0" fmla="*/ 3927769 h 3927769"/>
              <a:gd name="csX1" fmla="*/ 9427 w 12198592"/>
              <a:gd name="csY1" fmla="*/ 48639 h 3927769"/>
              <a:gd name="csX2" fmla="*/ 12198592 w 12198592"/>
              <a:gd name="csY2" fmla="*/ 3927769 h 3927769"/>
              <a:gd name="csX3" fmla="*/ 0 w 12198592"/>
              <a:gd name="csY3" fmla="*/ 3927769 h 3927769"/>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217445"/>
              <a:gd name="csY0" fmla="*/ 3879130 h 3945118"/>
              <a:gd name="csX1" fmla="*/ 9427 w 12217445"/>
              <a:gd name="csY1" fmla="*/ 0 h 3945118"/>
              <a:gd name="csX2" fmla="*/ 12217445 w 12217445"/>
              <a:gd name="csY2" fmla="*/ 3945118 h 3945118"/>
              <a:gd name="csX3" fmla="*/ 0 w 12217445"/>
              <a:gd name="csY3" fmla="*/ 3879130 h 3945118"/>
              <a:gd name="csX0" fmla="*/ 0 w 12217445"/>
              <a:gd name="csY0" fmla="*/ 3879130 h 3945118"/>
              <a:gd name="csX1" fmla="*/ 9427 w 12217445"/>
              <a:gd name="csY1" fmla="*/ 0 h 3945118"/>
              <a:gd name="csX2" fmla="*/ 12217445 w 12217445"/>
              <a:gd name="csY2" fmla="*/ 3945118 h 3945118"/>
              <a:gd name="csX3" fmla="*/ 0 w 12217445"/>
              <a:gd name="csY3" fmla="*/ 3879130 h 3945118"/>
            </a:gdLst>
            <a:ahLst/>
            <a:cxnLst>
              <a:cxn ang="0">
                <a:pos x="csX0" y="csY0"/>
              </a:cxn>
              <a:cxn ang="0">
                <a:pos x="csX1" y="csY1"/>
              </a:cxn>
              <a:cxn ang="0">
                <a:pos x="csX2" y="csY2"/>
              </a:cxn>
              <a:cxn ang="0">
                <a:pos x="csX3" y="csY3"/>
              </a:cxn>
            </a:cxnLst>
            <a:rect l="l" t="t" r="r" b="b"/>
            <a:pathLst>
              <a:path w="12217445" h="3945118">
                <a:moveTo>
                  <a:pt x="0" y="3879130"/>
                </a:moveTo>
                <a:cubicBezTo>
                  <a:pt x="3142" y="2586087"/>
                  <a:pt x="6285" y="1293043"/>
                  <a:pt x="9427" y="0"/>
                </a:cubicBezTo>
                <a:cubicBezTo>
                  <a:pt x="4185603" y="1570"/>
                  <a:pt x="8088403" y="2614368"/>
                  <a:pt x="12217445" y="3945118"/>
                </a:cubicBezTo>
                <a:lnTo>
                  <a:pt x="0" y="3879130"/>
                </a:lnTo>
                <a:close/>
              </a:path>
            </a:pathLst>
          </a:custGeom>
          <a:solidFill>
            <a:srgbClr val="4454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ight Triangle 10">
            <a:extLst>
              <a:ext uri="{FF2B5EF4-FFF2-40B4-BE49-F238E27FC236}">
                <a16:creationId xmlns:a16="http://schemas.microsoft.com/office/drawing/2014/main" id="{85136C8D-59E2-D651-0CAF-64021F175B05}"/>
              </a:ext>
            </a:extLst>
          </p:cNvPr>
          <p:cNvSpPr/>
          <p:nvPr/>
        </p:nvSpPr>
        <p:spPr>
          <a:xfrm rot="10800000">
            <a:off x="-18853" y="-32665"/>
            <a:ext cx="12217445" cy="3945118"/>
          </a:xfrm>
          <a:custGeom>
            <a:avLst/>
            <a:gdLst>
              <a:gd name="csX0" fmla="*/ 0 w 12198592"/>
              <a:gd name="csY0" fmla="*/ 3916837 h 3916837"/>
              <a:gd name="csX1" fmla="*/ 0 w 12198592"/>
              <a:gd name="csY1" fmla="*/ 0 h 3916837"/>
              <a:gd name="csX2" fmla="*/ 12198592 w 12198592"/>
              <a:gd name="csY2" fmla="*/ 3916837 h 3916837"/>
              <a:gd name="csX3" fmla="*/ 0 w 12198592"/>
              <a:gd name="csY3" fmla="*/ 3916837 h 3916837"/>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198592"/>
              <a:gd name="csY0" fmla="*/ 3927769 h 3927769"/>
              <a:gd name="csX1" fmla="*/ 9427 w 12198592"/>
              <a:gd name="csY1" fmla="*/ 48639 h 3927769"/>
              <a:gd name="csX2" fmla="*/ 12198592 w 12198592"/>
              <a:gd name="csY2" fmla="*/ 3927769 h 3927769"/>
              <a:gd name="csX3" fmla="*/ 0 w 12198592"/>
              <a:gd name="csY3" fmla="*/ 3927769 h 3927769"/>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217445"/>
              <a:gd name="csY0" fmla="*/ 3879130 h 3945118"/>
              <a:gd name="csX1" fmla="*/ 9427 w 12217445"/>
              <a:gd name="csY1" fmla="*/ 0 h 3945118"/>
              <a:gd name="csX2" fmla="*/ 12217445 w 12217445"/>
              <a:gd name="csY2" fmla="*/ 3945118 h 3945118"/>
              <a:gd name="csX3" fmla="*/ 0 w 12217445"/>
              <a:gd name="csY3" fmla="*/ 3879130 h 3945118"/>
              <a:gd name="csX0" fmla="*/ 0 w 12217445"/>
              <a:gd name="csY0" fmla="*/ 3879130 h 3945118"/>
              <a:gd name="csX1" fmla="*/ 9427 w 12217445"/>
              <a:gd name="csY1" fmla="*/ 0 h 3945118"/>
              <a:gd name="csX2" fmla="*/ 12217445 w 12217445"/>
              <a:gd name="csY2" fmla="*/ 3945118 h 3945118"/>
              <a:gd name="csX3" fmla="*/ 0 w 12217445"/>
              <a:gd name="csY3" fmla="*/ 3879130 h 3945118"/>
            </a:gdLst>
            <a:ahLst/>
            <a:cxnLst>
              <a:cxn ang="0">
                <a:pos x="csX0" y="csY0"/>
              </a:cxn>
              <a:cxn ang="0">
                <a:pos x="csX1" y="csY1"/>
              </a:cxn>
              <a:cxn ang="0">
                <a:pos x="csX2" y="csY2"/>
              </a:cxn>
              <a:cxn ang="0">
                <a:pos x="csX3" y="csY3"/>
              </a:cxn>
            </a:cxnLst>
            <a:rect l="l" t="t" r="r" b="b"/>
            <a:pathLst>
              <a:path w="12217445" h="3945118">
                <a:moveTo>
                  <a:pt x="0" y="3879130"/>
                </a:moveTo>
                <a:cubicBezTo>
                  <a:pt x="3142" y="2586087"/>
                  <a:pt x="6285" y="1293043"/>
                  <a:pt x="9427" y="0"/>
                </a:cubicBezTo>
                <a:cubicBezTo>
                  <a:pt x="4185603" y="1570"/>
                  <a:pt x="8088403" y="2614368"/>
                  <a:pt x="12217445" y="3945118"/>
                </a:cubicBezTo>
                <a:lnTo>
                  <a:pt x="0" y="3879130"/>
                </a:lnTo>
                <a:close/>
              </a:path>
            </a:pathLst>
          </a:custGeom>
          <a:solidFill>
            <a:schemeClr val="tx2"/>
          </a:solidFill>
          <a:ln>
            <a:solidFill>
              <a:srgbClr val="002D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a:extLst>
              <a:ext uri="{FF2B5EF4-FFF2-40B4-BE49-F238E27FC236}">
                <a16:creationId xmlns:a16="http://schemas.microsoft.com/office/drawing/2014/main" id="{CD8473C1-F13B-0C9F-B777-834920C80CAB}"/>
              </a:ext>
            </a:extLst>
          </p:cNvPr>
          <p:cNvCxnSpPr/>
          <p:nvPr/>
        </p:nvCxnSpPr>
        <p:spPr>
          <a:xfrm>
            <a:off x="8734425" y="4596878"/>
            <a:ext cx="2619375" cy="0"/>
          </a:xfrm>
          <a:prstGeom prst="line">
            <a:avLst/>
          </a:prstGeom>
        </p:spPr>
        <p:style>
          <a:lnRef idx="3">
            <a:schemeClr val="accent5"/>
          </a:lnRef>
          <a:fillRef idx="0">
            <a:schemeClr val="accent5"/>
          </a:fillRef>
          <a:effectRef idx="2">
            <a:schemeClr val="accent5"/>
          </a:effectRef>
          <a:fontRef idx="minor">
            <a:schemeClr val="tx1"/>
          </a:fontRef>
        </p:style>
      </p:cxnSp>
      <p:sp>
        <p:nvSpPr>
          <p:cNvPr id="17" name="TextBox 16">
            <a:extLst>
              <a:ext uri="{FF2B5EF4-FFF2-40B4-BE49-F238E27FC236}">
                <a16:creationId xmlns:a16="http://schemas.microsoft.com/office/drawing/2014/main" id="{67CD203D-0AE4-2F7F-A1C5-A63D9D32461E}"/>
              </a:ext>
            </a:extLst>
          </p:cNvPr>
          <p:cNvSpPr txBox="1"/>
          <p:nvPr/>
        </p:nvSpPr>
        <p:spPr>
          <a:xfrm>
            <a:off x="11353800" y="4442989"/>
            <a:ext cx="762000" cy="307777"/>
          </a:xfrm>
          <a:prstGeom prst="rect">
            <a:avLst/>
          </a:prstGeom>
          <a:noFill/>
        </p:spPr>
        <p:txBody>
          <a:bodyPr wrap="square" rtlCol="0">
            <a:spAutoFit/>
          </a:bodyPr>
          <a:lstStyle/>
          <a:p>
            <a:r>
              <a:rPr lang="en-US" sz="1400" dirty="0">
                <a:solidFill>
                  <a:schemeClr val="accent1">
                    <a:lumMod val="75000"/>
                  </a:schemeClr>
                </a:solidFill>
              </a:rPr>
              <a:t>&gt; &gt; &gt;</a:t>
            </a:r>
          </a:p>
        </p:txBody>
      </p:sp>
      <p:sp>
        <p:nvSpPr>
          <p:cNvPr id="18" name="TextBox 17">
            <a:extLst>
              <a:ext uri="{FF2B5EF4-FFF2-40B4-BE49-F238E27FC236}">
                <a16:creationId xmlns:a16="http://schemas.microsoft.com/office/drawing/2014/main" id="{E2CE8BD2-D54A-636D-AA72-835F7D59AE74}"/>
              </a:ext>
            </a:extLst>
          </p:cNvPr>
          <p:cNvSpPr txBox="1"/>
          <p:nvPr/>
        </p:nvSpPr>
        <p:spPr>
          <a:xfrm>
            <a:off x="9137605" y="4612847"/>
            <a:ext cx="2114550" cy="369332"/>
          </a:xfrm>
          <a:prstGeom prst="rect">
            <a:avLst/>
          </a:prstGeom>
          <a:noFill/>
        </p:spPr>
        <p:txBody>
          <a:bodyPr wrap="square" rtlCol="0">
            <a:spAutoFit/>
          </a:bodyPr>
          <a:lstStyle/>
          <a:p>
            <a:r>
              <a:rPr lang="en-US" spc="300" dirty="0">
                <a:solidFill>
                  <a:schemeClr val="accent1">
                    <a:lumMod val="75000"/>
                  </a:schemeClr>
                </a:solidFill>
                <a:latin typeface="Ink Free" panose="03080402000500000000" pitchFamily="66" charset="0"/>
              </a:rPr>
              <a:t>Loading . . .</a:t>
            </a:r>
          </a:p>
        </p:txBody>
      </p:sp>
      <p:pic>
        <p:nvPicPr>
          <p:cNvPr id="22" name="Graphic 21" descr="Airplane with solid fill">
            <a:extLst>
              <a:ext uri="{FF2B5EF4-FFF2-40B4-BE49-F238E27FC236}">
                <a16:creationId xmlns:a16="http://schemas.microsoft.com/office/drawing/2014/main" id="{894134AF-6273-EE02-0B28-3A52BA1541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7313200">
            <a:off x="12343904" y="4041647"/>
            <a:ext cx="914400" cy="914400"/>
          </a:xfrm>
          <a:prstGeom prst="rect">
            <a:avLst/>
          </a:prstGeom>
        </p:spPr>
      </p:pic>
      <p:pic>
        <p:nvPicPr>
          <p:cNvPr id="23" name="Graphic 22" descr="Airplane with solid fill">
            <a:extLst>
              <a:ext uri="{FF2B5EF4-FFF2-40B4-BE49-F238E27FC236}">
                <a16:creationId xmlns:a16="http://schemas.microsoft.com/office/drawing/2014/main" id="{60A987D2-A6DD-0B45-494B-13CA246516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47879" y="6979712"/>
            <a:ext cx="914400" cy="914400"/>
          </a:xfrm>
          <a:prstGeom prst="rect">
            <a:avLst/>
          </a:prstGeom>
        </p:spPr>
      </p:pic>
      <p:pic>
        <p:nvPicPr>
          <p:cNvPr id="24" name="Graphic 23" descr="Airplane with solid fill">
            <a:extLst>
              <a:ext uri="{FF2B5EF4-FFF2-40B4-BE49-F238E27FC236}">
                <a16:creationId xmlns:a16="http://schemas.microsoft.com/office/drawing/2014/main" id="{A2097D77-5AB1-A9A2-D3AF-8DFD671E09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1517489" y="3985789"/>
            <a:ext cx="914400" cy="914400"/>
          </a:xfrm>
          <a:prstGeom prst="rect">
            <a:avLst/>
          </a:prstGeom>
        </p:spPr>
      </p:pic>
      <p:sp>
        <p:nvSpPr>
          <p:cNvPr id="25" name="TextBox 24">
            <a:extLst>
              <a:ext uri="{FF2B5EF4-FFF2-40B4-BE49-F238E27FC236}">
                <a16:creationId xmlns:a16="http://schemas.microsoft.com/office/drawing/2014/main" id="{4205E091-5507-0E95-08E3-3FA0A253EC72}"/>
              </a:ext>
            </a:extLst>
          </p:cNvPr>
          <p:cNvSpPr txBox="1"/>
          <p:nvPr/>
        </p:nvSpPr>
        <p:spPr>
          <a:xfrm>
            <a:off x="8453799" y="5077761"/>
            <a:ext cx="3381375" cy="369332"/>
          </a:xfrm>
          <a:prstGeom prst="rect">
            <a:avLst/>
          </a:prstGeom>
          <a:noFill/>
        </p:spPr>
        <p:txBody>
          <a:bodyPr wrap="square" rtlCol="0">
            <a:spAutoFit/>
          </a:bodyPr>
          <a:lstStyle/>
          <a:p>
            <a:pPr algn="ctr"/>
            <a:r>
              <a:rPr lang="en-US" dirty="0"/>
              <a:t>By: </a:t>
            </a:r>
            <a:r>
              <a:rPr lang="en-US" dirty="0">
                <a:latin typeface="Courier New" panose="02070309020205020404" pitchFamily="49" charset="0"/>
                <a:cs typeface="Courier New" panose="02070309020205020404" pitchFamily="49" charset="0"/>
              </a:rPr>
              <a:t>Yashas Tayal</a:t>
            </a:r>
          </a:p>
        </p:txBody>
      </p:sp>
      <p:sp>
        <p:nvSpPr>
          <p:cNvPr id="3" name="Rectangle 2">
            <a:extLst>
              <a:ext uri="{FF2B5EF4-FFF2-40B4-BE49-F238E27FC236}">
                <a16:creationId xmlns:a16="http://schemas.microsoft.com/office/drawing/2014/main" id="{8E56D3AB-438B-3117-9796-C64E6A414385}"/>
              </a:ext>
            </a:extLst>
          </p:cNvPr>
          <p:cNvSpPr/>
          <p:nvPr/>
        </p:nvSpPr>
        <p:spPr>
          <a:xfrm rot="1321717">
            <a:off x="-884340" y="1670669"/>
            <a:ext cx="14001442" cy="3750845"/>
          </a:xfrm>
          <a:custGeom>
            <a:avLst/>
            <a:gdLst>
              <a:gd name="csX0" fmla="*/ 0 w 12844974"/>
              <a:gd name="csY0" fmla="*/ 0 h 1931490"/>
              <a:gd name="csX1" fmla="*/ 12844974 w 12844974"/>
              <a:gd name="csY1" fmla="*/ 0 h 1931490"/>
              <a:gd name="csX2" fmla="*/ 12844974 w 12844974"/>
              <a:gd name="csY2" fmla="*/ 1931490 h 1931490"/>
              <a:gd name="csX3" fmla="*/ 0 w 12844974"/>
              <a:gd name="csY3" fmla="*/ 1931490 h 1931490"/>
              <a:gd name="csX4" fmla="*/ 0 w 12844974"/>
              <a:gd name="csY4" fmla="*/ 0 h 1931490"/>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3714640"/>
              <a:gd name="csY0" fmla="*/ 0 h 2825616"/>
              <a:gd name="csX1" fmla="*/ 12844974 w 13714640"/>
              <a:gd name="csY1" fmla="*/ 0 h 2825616"/>
              <a:gd name="csX2" fmla="*/ 13714640 w 13714640"/>
              <a:gd name="csY2" fmla="*/ 1844017 h 2825616"/>
              <a:gd name="csX3" fmla="*/ 982091 w 13714640"/>
              <a:gd name="csY3" fmla="*/ 2825616 h 2825616"/>
              <a:gd name="csX4" fmla="*/ 0 w 13714640"/>
              <a:gd name="csY4" fmla="*/ 0 h 2825616"/>
              <a:gd name="csX0" fmla="*/ 0 w 13611644"/>
              <a:gd name="csY0" fmla="*/ 0 h 2825616"/>
              <a:gd name="csX1" fmla="*/ 12844974 w 13611644"/>
              <a:gd name="csY1" fmla="*/ 0 h 2825616"/>
              <a:gd name="csX2" fmla="*/ 13611644 w 13611644"/>
              <a:gd name="csY2" fmla="*/ 1916197 h 2825616"/>
              <a:gd name="csX3" fmla="*/ 982091 w 13611644"/>
              <a:gd name="csY3" fmla="*/ 2825616 h 2825616"/>
              <a:gd name="csX4" fmla="*/ 0 w 13611644"/>
              <a:gd name="csY4" fmla="*/ 0 h 2825616"/>
              <a:gd name="csX0" fmla="*/ 0 w 13611644"/>
              <a:gd name="csY0" fmla="*/ 925229 h 3750845"/>
              <a:gd name="csX1" fmla="*/ 12643495 w 13611644"/>
              <a:gd name="csY1" fmla="*/ 0 h 3750845"/>
              <a:gd name="csX2" fmla="*/ 13611644 w 13611644"/>
              <a:gd name="csY2" fmla="*/ 2841426 h 3750845"/>
              <a:gd name="csX3" fmla="*/ 982091 w 13611644"/>
              <a:gd name="csY3" fmla="*/ 3750845 h 3750845"/>
              <a:gd name="csX4" fmla="*/ 0 w 13611644"/>
              <a:gd name="csY4" fmla="*/ 925229 h 3750845"/>
              <a:gd name="csX0" fmla="*/ 0 w 13737319"/>
              <a:gd name="csY0" fmla="*/ 925229 h 3750845"/>
              <a:gd name="csX1" fmla="*/ 12643495 w 13737319"/>
              <a:gd name="csY1" fmla="*/ 0 h 3750845"/>
              <a:gd name="csX2" fmla="*/ 13737319 w 13737319"/>
              <a:gd name="csY2" fmla="*/ 2749899 h 3750845"/>
              <a:gd name="csX3" fmla="*/ 982091 w 13737319"/>
              <a:gd name="csY3" fmla="*/ 3750845 h 3750845"/>
              <a:gd name="csX4" fmla="*/ 0 w 13737319"/>
              <a:gd name="csY4" fmla="*/ 925229 h 3750845"/>
              <a:gd name="csX0" fmla="*/ 0 w 13737319"/>
              <a:gd name="csY0" fmla="*/ 925229 h 3750845"/>
              <a:gd name="csX1" fmla="*/ 12643495 w 13737319"/>
              <a:gd name="csY1" fmla="*/ 0 h 3750845"/>
              <a:gd name="csX2" fmla="*/ 13737319 w 13737319"/>
              <a:gd name="csY2" fmla="*/ 2749899 h 3750845"/>
              <a:gd name="csX3" fmla="*/ 12653303 w 13737319"/>
              <a:gd name="csY3" fmla="*/ 2914588 h 3750845"/>
              <a:gd name="csX4" fmla="*/ 982091 w 13737319"/>
              <a:gd name="csY4" fmla="*/ 3750845 h 3750845"/>
              <a:gd name="csX5" fmla="*/ 0 w 13737319"/>
              <a:gd name="csY5" fmla="*/ 925229 h 3750845"/>
              <a:gd name="csX0" fmla="*/ 0 w 13764831"/>
              <a:gd name="csY0" fmla="*/ 925229 h 3750845"/>
              <a:gd name="csX1" fmla="*/ 12643495 w 13764831"/>
              <a:gd name="csY1" fmla="*/ 0 h 3750845"/>
              <a:gd name="csX2" fmla="*/ 13737319 w 13764831"/>
              <a:gd name="csY2" fmla="*/ 2749899 h 3750845"/>
              <a:gd name="csX3" fmla="*/ 13383150 w 13764831"/>
              <a:gd name="csY3" fmla="*/ 2883685 h 3750845"/>
              <a:gd name="csX4" fmla="*/ 12653303 w 13764831"/>
              <a:gd name="csY4" fmla="*/ 2914588 h 3750845"/>
              <a:gd name="csX5" fmla="*/ 982091 w 13764831"/>
              <a:gd name="csY5" fmla="*/ 3750845 h 3750845"/>
              <a:gd name="csX6" fmla="*/ 0 w 13764831"/>
              <a:gd name="csY6" fmla="*/ 925229 h 3750845"/>
              <a:gd name="csX0" fmla="*/ 0 w 13763300"/>
              <a:gd name="csY0" fmla="*/ 925229 h 3750845"/>
              <a:gd name="csX1" fmla="*/ 12643495 w 13763300"/>
              <a:gd name="csY1" fmla="*/ 0 h 3750845"/>
              <a:gd name="csX2" fmla="*/ 13737319 w 13763300"/>
              <a:gd name="csY2" fmla="*/ 2749899 h 3750845"/>
              <a:gd name="csX3" fmla="*/ 13383150 w 13763300"/>
              <a:gd name="csY3" fmla="*/ 2883685 h 3750845"/>
              <a:gd name="csX4" fmla="*/ 12653303 w 13763300"/>
              <a:gd name="csY4" fmla="*/ 2914588 h 3750845"/>
              <a:gd name="csX5" fmla="*/ 982091 w 13763300"/>
              <a:gd name="csY5" fmla="*/ 3750845 h 3750845"/>
              <a:gd name="csX6" fmla="*/ 0 w 13763300"/>
              <a:gd name="csY6" fmla="*/ 925229 h 3750845"/>
              <a:gd name="csX0" fmla="*/ 0 w 13849907"/>
              <a:gd name="csY0" fmla="*/ 925229 h 3750845"/>
              <a:gd name="csX1" fmla="*/ 12643495 w 13849907"/>
              <a:gd name="csY1" fmla="*/ 0 h 3750845"/>
              <a:gd name="csX2" fmla="*/ 13737319 w 13849907"/>
              <a:gd name="csY2" fmla="*/ 2749899 h 3750845"/>
              <a:gd name="csX3" fmla="*/ 13786536 w 13849907"/>
              <a:gd name="csY3" fmla="*/ 3076394 h 3750845"/>
              <a:gd name="csX4" fmla="*/ 13383150 w 13849907"/>
              <a:gd name="csY4" fmla="*/ 2883685 h 3750845"/>
              <a:gd name="csX5" fmla="*/ 12653303 w 13849907"/>
              <a:gd name="csY5" fmla="*/ 2914588 h 3750845"/>
              <a:gd name="csX6" fmla="*/ 982091 w 13849907"/>
              <a:gd name="csY6" fmla="*/ 3750845 h 3750845"/>
              <a:gd name="csX7" fmla="*/ 0 w 13849907"/>
              <a:gd name="csY7" fmla="*/ 925229 h 3750845"/>
              <a:gd name="csX0" fmla="*/ 0 w 13814255"/>
              <a:gd name="csY0" fmla="*/ 925229 h 3750845"/>
              <a:gd name="csX1" fmla="*/ 12643495 w 13814255"/>
              <a:gd name="csY1" fmla="*/ 0 h 3750845"/>
              <a:gd name="csX2" fmla="*/ 13737319 w 13814255"/>
              <a:gd name="csY2" fmla="*/ 2749899 h 3750845"/>
              <a:gd name="csX3" fmla="*/ 13682737 w 13814255"/>
              <a:gd name="csY3" fmla="*/ 2945516 h 3750845"/>
              <a:gd name="csX4" fmla="*/ 13383150 w 13814255"/>
              <a:gd name="csY4" fmla="*/ 2883685 h 3750845"/>
              <a:gd name="csX5" fmla="*/ 12653303 w 13814255"/>
              <a:gd name="csY5" fmla="*/ 2914588 h 3750845"/>
              <a:gd name="csX6" fmla="*/ 982091 w 13814255"/>
              <a:gd name="csY6" fmla="*/ 3750845 h 3750845"/>
              <a:gd name="csX7" fmla="*/ 0 w 13814255"/>
              <a:gd name="csY7" fmla="*/ 925229 h 3750845"/>
              <a:gd name="csX0" fmla="*/ 0 w 13809295"/>
              <a:gd name="csY0" fmla="*/ 925229 h 3750845"/>
              <a:gd name="csX1" fmla="*/ 12643495 w 13809295"/>
              <a:gd name="csY1" fmla="*/ 0 h 3750845"/>
              <a:gd name="csX2" fmla="*/ 13737319 w 13809295"/>
              <a:gd name="csY2" fmla="*/ 2749899 h 3750845"/>
              <a:gd name="csX3" fmla="*/ 13682737 w 13809295"/>
              <a:gd name="csY3" fmla="*/ 2945516 h 3750845"/>
              <a:gd name="csX4" fmla="*/ 13383150 w 13809295"/>
              <a:gd name="csY4" fmla="*/ 2883685 h 3750845"/>
              <a:gd name="csX5" fmla="*/ 12653303 w 13809295"/>
              <a:gd name="csY5" fmla="*/ 2914588 h 3750845"/>
              <a:gd name="csX6" fmla="*/ 982091 w 13809295"/>
              <a:gd name="csY6" fmla="*/ 3750845 h 3750845"/>
              <a:gd name="csX7" fmla="*/ 0 w 13809295"/>
              <a:gd name="csY7" fmla="*/ 925229 h 3750845"/>
              <a:gd name="csX0" fmla="*/ 0 w 13834441"/>
              <a:gd name="csY0" fmla="*/ 925229 h 3750845"/>
              <a:gd name="csX1" fmla="*/ 12643495 w 13834441"/>
              <a:gd name="csY1" fmla="*/ 0 h 3750845"/>
              <a:gd name="csX2" fmla="*/ 13768738 w 13834441"/>
              <a:gd name="csY2" fmla="*/ 2727018 h 3750845"/>
              <a:gd name="csX3" fmla="*/ 13682737 w 13834441"/>
              <a:gd name="csY3" fmla="*/ 2945516 h 3750845"/>
              <a:gd name="csX4" fmla="*/ 13383150 w 13834441"/>
              <a:gd name="csY4" fmla="*/ 2883685 h 3750845"/>
              <a:gd name="csX5" fmla="*/ 12653303 w 13834441"/>
              <a:gd name="csY5" fmla="*/ 2914588 h 3750845"/>
              <a:gd name="csX6" fmla="*/ 982091 w 13834441"/>
              <a:gd name="csY6" fmla="*/ 3750845 h 3750845"/>
              <a:gd name="csX7" fmla="*/ 0 w 13834441"/>
              <a:gd name="csY7" fmla="*/ 925229 h 3750845"/>
              <a:gd name="csX0" fmla="*/ 0 w 13835682"/>
              <a:gd name="csY0" fmla="*/ 925229 h 3750845"/>
              <a:gd name="csX1" fmla="*/ 12643495 w 13835682"/>
              <a:gd name="csY1" fmla="*/ 0 h 3750845"/>
              <a:gd name="csX2" fmla="*/ 13768738 w 13835682"/>
              <a:gd name="csY2" fmla="*/ 2727018 h 3750845"/>
              <a:gd name="csX3" fmla="*/ 13689406 w 13835682"/>
              <a:gd name="csY3" fmla="*/ 2861465 h 3750845"/>
              <a:gd name="csX4" fmla="*/ 13383150 w 13835682"/>
              <a:gd name="csY4" fmla="*/ 2883685 h 3750845"/>
              <a:gd name="csX5" fmla="*/ 12653303 w 13835682"/>
              <a:gd name="csY5" fmla="*/ 2914588 h 3750845"/>
              <a:gd name="csX6" fmla="*/ 982091 w 13835682"/>
              <a:gd name="csY6" fmla="*/ 3750845 h 3750845"/>
              <a:gd name="csX7" fmla="*/ 0 w 13835682"/>
              <a:gd name="csY7" fmla="*/ 925229 h 3750845"/>
              <a:gd name="csX0" fmla="*/ 0 w 13850727"/>
              <a:gd name="csY0" fmla="*/ 925229 h 3750845"/>
              <a:gd name="csX1" fmla="*/ 12643495 w 13850727"/>
              <a:gd name="csY1" fmla="*/ 0 h 3750845"/>
              <a:gd name="csX2" fmla="*/ 13768738 w 13850727"/>
              <a:gd name="csY2" fmla="*/ 2727018 h 3750845"/>
              <a:gd name="csX3" fmla="*/ 13732499 w 13850727"/>
              <a:gd name="csY3" fmla="*/ 2791324 h 3750845"/>
              <a:gd name="csX4" fmla="*/ 13689406 w 13850727"/>
              <a:gd name="csY4" fmla="*/ 2861465 h 3750845"/>
              <a:gd name="csX5" fmla="*/ 13383150 w 13850727"/>
              <a:gd name="csY5" fmla="*/ 2883685 h 3750845"/>
              <a:gd name="csX6" fmla="*/ 12653303 w 13850727"/>
              <a:gd name="csY6" fmla="*/ 2914588 h 3750845"/>
              <a:gd name="csX7" fmla="*/ 982091 w 13850727"/>
              <a:gd name="csY7" fmla="*/ 3750845 h 3750845"/>
              <a:gd name="csX8" fmla="*/ 0 w 13850727"/>
              <a:gd name="csY8" fmla="*/ 925229 h 3750845"/>
              <a:gd name="csX0" fmla="*/ 0 w 13852616"/>
              <a:gd name="csY0" fmla="*/ 925229 h 3750845"/>
              <a:gd name="csX1" fmla="*/ 12643495 w 13852616"/>
              <a:gd name="csY1" fmla="*/ 0 h 3750845"/>
              <a:gd name="csX2" fmla="*/ 13768738 w 13852616"/>
              <a:gd name="csY2" fmla="*/ 2727018 h 3750845"/>
              <a:gd name="csX3" fmla="*/ 13746440 w 13852616"/>
              <a:gd name="csY3" fmla="*/ 2775514 h 3750845"/>
              <a:gd name="csX4" fmla="*/ 13732499 w 13852616"/>
              <a:gd name="csY4" fmla="*/ 2791324 h 3750845"/>
              <a:gd name="csX5" fmla="*/ 13689406 w 13852616"/>
              <a:gd name="csY5" fmla="*/ 2861465 h 3750845"/>
              <a:gd name="csX6" fmla="*/ 13383150 w 13852616"/>
              <a:gd name="csY6" fmla="*/ 2883685 h 3750845"/>
              <a:gd name="csX7" fmla="*/ 12653303 w 13852616"/>
              <a:gd name="csY7" fmla="*/ 2914588 h 3750845"/>
              <a:gd name="csX8" fmla="*/ 982091 w 13852616"/>
              <a:gd name="csY8" fmla="*/ 3750845 h 3750845"/>
              <a:gd name="csX9" fmla="*/ 0 w 13852616"/>
              <a:gd name="csY9" fmla="*/ 925229 h 3750845"/>
              <a:gd name="csX0" fmla="*/ 0 w 14001442"/>
              <a:gd name="csY0" fmla="*/ 862144 h 3750845"/>
              <a:gd name="csX1" fmla="*/ 12792321 w 14001442"/>
              <a:gd name="csY1" fmla="*/ 0 h 3750845"/>
              <a:gd name="csX2" fmla="*/ 13917564 w 14001442"/>
              <a:gd name="csY2" fmla="*/ 2727018 h 3750845"/>
              <a:gd name="csX3" fmla="*/ 13895266 w 14001442"/>
              <a:gd name="csY3" fmla="*/ 2775514 h 3750845"/>
              <a:gd name="csX4" fmla="*/ 13881325 w 14001442"/>
              <a:gd name="csY4" fmla="*/ 2791324 h 3750845"/>
              <a:gd name="csX5" fmla="*/ 13838232 w 14001442"/>
              <a:gd name="csY5" fmla="*/ 2861465 h 3750845"/>
              <a:gd name="csX6" fmla="*/ 13531976 w 14001442"/>
              <a:gd name="csY6" fmla="*/ 2883685 h 3750845"/>
              <a:gd name="csX7" fmla="*/ 12802129 w 14001442"/>
              <a:gd name="csY7" fmla="*/ 2914588 h 3750845"/>
              <a:gd name="csX8" fmla="*/ 1130917 w 14001442"/>
              <a:gd name="csY8" fmla="*/ 3750845 h 3750845"/>
              <a:gd name="csX9" fmla="*/ 0 w 14001442"/>
              <a:gd name="csY9" fmla="*/ 862144 h 37508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001442" h="3750845">
                <a:moveTo>
                  <a:pt x="0" y="862144"/>
                </a:moveTo>
                <a:lnTo>
                  <a:pt x="12792321" y="0"/>
                </a:lnTo>
                <a:lnTo>
                  <a:pt x="13917564" y="2727018"/>
                </a:lnTo>
                <a:cubicBezTo>
                  <a:pt x="14115776" y="3212595"/>
                  <a:pt x="13901306" y="2764796"/>
                  <a:pt x="13895266" y="2775514"/>
                </a:cubicBezTo>
                <a:cubicBezTo>
                  <a:pt x="13889226" y="2786232"/>
                  <a:pt x="13905218" y="2799990"/>
                  <a:pt x="13881325" y="2791324"/>
                </a:cubicBezTo>
                <a:cubicBezTo>
                  <a:pt x="13857432" y="2782658"/>
                  <a:pt x="13912890" y="2869930"/>
                  <a:pt x="13838232" y="2861465"/>
                </a:cubicBezTo>
                <a:cubicBezTo>
                  <a:pt x="13779204" y="2883763"/>
                  <a:pt x="13705594" y="2889707"/>
                  <a:pt x="13531976" y="2883685"/>
                </a:cubicBezTo>
                <a:cubicBezTo>
                  <a:pt x="13351307" y="2911133"/>
                  <a:pt x="14864258" y="2758410"/>
                  <a:pt x="12802129" y="2914588"/>
                </a:cubicBezTo>
                <a:lnTo>
                  <a:pt x="1130917" y="3750845"/>
                </a:lnTo>
                <a:lnTo>
                  <a:pt x="0" y="862144"/>
                </a:lnTo>
                <a:close/>
              </a:path>
            </a:pathLst>
          </a:custGeom>
          <a:solidFill>
            <a:srgbClr val="948F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5CBEA40-2C33-FB17-828D-B2F8284A8159}"/>
              </a:ext>
            </a:extLst>
          </p:cNvPr>
          <p:cNvSpPr txBox="1"/>
          <p:nvPr/>
        </p:nvSpPr>
        <p:spPr>
          <a:xfrm rot="1230674">
            <a:off x="3097710" y="3056996"/>
            <a:ext cx="5682024" cy="769441"/>
          </a:xfrm>
          <a:prstGeom prst="rect">
            <a:avLst/>
          </a:prstGeom>
          <a:noFill/>
        </p:spPr>
        <p:txBody>
          <a:bodyPr wrap="square" rtlCol="0">
            <a:spAutoFit/>
          </a:bodyPr>
          <a:lstStyle/>
          <a:p>
            <a:pPr algn="ctr"/>
            <a:r>
              <a:rPr lang="en-US" sz="4400" dirty="0">
                <a:latin typeface="Magneto" panose="04030805050802020D02" pitchFamily="82" charset="0"/>
              </a:rPr>
              <a:t>What’s the Game?</a:t>
            </a:r>
          </a:p>
        </p:txBody>
      </p:sp>
      <p:sp>
        <p:nvSpPr>
          <p:cNvPr id="5" name="TextBox 4">
            <a:extLst>
              <a:ext uri="{FF2B5EF4-FFF2-40B4-BE49-F238E27FC236}">
                <a16:creationId xmlns:a16="http://schemas.microsoft.com/office/drawing/2014/main" id="{0BD1727E-1A3F-1B05-6E46-23D130C26EDA}"/>
              </a:ext>
            </a:extLst>
          </p:cNvPr>
          <p:cNvSpPr txBox="1"/>
          <p:nvPr/>
        </p:nvSpPr>
        <p:spPr>
          <a:xfrm rot="20573612">
            <a:off x="67530" y="4191107"/>
            <a:ext cx="2901221" cy="646331"/>
          </a:xfrm>
          <a:prstGeom prst="rect">
            <a:avLst/>
          </a:prstGeom>
          <a:noFill/>
        </p:spPr>
        <p:txBody>
          <a:bodyPr wrap="square" rtlCol="0">
            <a:spAutoFit/>
          </a:bodyPr>
          <a:lstStyle/>
          <a:p>
            <a:endParaRPr lang="en-US" dirty="0"/>
          </a:p>
          <a:p>
            <a:r>
              <a:rPr lang="en-US" dirty="0">
                <a:solidFill>
                  <a:schemeClr val="bg1"/>
                </a:solidFill>
                <a:latin typeface="Rockwell" panose="02060603020205020403" pitchFamily="18" charset="0"/>
              </a:rPr>
              <a:t>10 Seconds per Question</a:t>
            </a:r>
          </a:p>
        </p:txBody>
      </p:sp>
      <p:sp>
        <p:nvSpPr>
          <p:cNvPr id="6" name="TextBox 5">
            <a:extLst>
              <a:ext uri="{FF2B5EF4-FFF2-40B4-BE49-F238E27FC236}">
                <a16:creationId xmlns:a16="http://schemas.microsoft.com/office/drawing/2014/main" id="{005EEE09-D875-A367-6AA0-1359976A56ED}"/>
              </a:ext>
            </a:extLst>
          </p:cNvPr>
          <p:cNvSpPr txBox="1"/>
          <p:nvPr/>
        </p:nvSpPr>
        <p:spPr>
          <a:xfrm rot="1340867">
            <a:off x="4764106" y="5711638"/>
            <a:ext cx="4160139" cy="369332"/>
          </a:xfrm>
          <a:prstGeom prst="rect">
            <a:avLst/>
          </a:prstGeom>
          <a:noFill/>
        </p:spPr>
        <p:txBody>
          <a:bodyPr wrap="square" rtlCol="0">
            <a:spAutoFit/>
          </a:bodyPr>
          <a:lstStyle/>
          <a:p>
            <a:r>
              <a:rPr lang="en-US" dirty="0">
                <a:solidFill>
                  <a:schemeClr val="bg1"/>
                </a:solidFill>
                <a:latin typeface="Rockwell" panose="02060603020205020403" pitchFamily="18" charset="0"/>
              </a:rPr>
              <a:t>No right or wrong answers</a:t>
            </a:r>
          </a:p>
        </p:txBody>
      </p:sp>
      <p:sp>
        <p:nvSpPr>
          <p:cNvPr id="8" name="TextBox 7">
            <a:extLst>
              <a:ext uri="{FF2B5EF4-FFF2-40B4-BE49-F238E27FC236}">
                <a16:creationId xmlns:a16="http://schemas.microsoft.com/office/drawing/2014/main" id="{99FC236C-1635-E1E5-53D2-087E5CA709B3}"/>
              </a:ext>
            </a:extLst>
          </p:cNvPr>
          <p:cNvSpPr txBox="1"/>
          <p:nvPr/>
        </p:nvSpPr>
        <p:spPr>
          <a:xfrm rot="21002005">
            <a:off x="7070382" y="1032219"/>
            <a:ext cx="4532642" cy="369332"/>
          </a:xfrm>
          <a:prstGeom prst="rect">
            <a:avLst/>
          </a:prstGeom>
          <a:noFill/>
        </p:spPr>
        <p:txBody>
          <a:bodyPr wrap="square" rtlCol="0">
            <a:spAutoFit/>
          </a:bodyPr>
          <a:lstStyle/>
          <a:p>
            <a:r>
              <a:rPr lang="en-US" dirty="0">
                <a:solidFill>
                  <a:schemeClr val="bg1"/>
                </a:solidFill>
                <a:latin typeface="Rockwell" panose="02060603020205020403" pitchFamily="18" charset="0"/>
              </a:rPr>
              <a:t>Don’t Overthink it</a:t>
            </a:r>
          </a:p>
        </p:txBody>
      </p:sp>
      <p:grpSp>
        <p:nvGrpSpPr>
          <p:cNvPr id="42" name="Group 41">
            <a:extLst>
              <a:ext uri="{FF2B5EF4-FFF2-40B4-BE49-F238E27FC236}">
                <a16:creationId xmlns:a16="http://schemas.microsoft.com/office/drawing/2014/main" id="{0E5E0CE4-2505-4780-2BBF-A9DCC33A73EC}"/>
              </a:ext>
            </a:extLst>
          </p:cNvPr>
          <p:cNvGrpSpPr/>
          <p:nvPr/>
        </p:nvGrpSpPr>
        <p:grpSpPr>
          <a:xfrm>
            <a:off x="-10160" y="-13506803"/>
            <a:ext cx="12198932" cy="26123017"/>
            <a:chOff x="-14854832" y="7894112"/>
            <a:chExt cx="12198932" cy="26123017"/>
          </a:xfrm>
        </p:grpSpPr>
        <p:pic>
          <p:nvPicPr>
            <p:cNvPr id="43" name="Picture 42">
              <a:extLst>
                <a:ext uri="{FF2B5EF4-FFF2-40B4-BE49-F238E27FC236}">
                  <a16:creationId xmlns:a16="http://schemas.microsoft.com/office/drawing/2014/main" id="{1F0EE884-C88D-8E12-15CE-553C8A93EAE4}"/>
                </a:ext>
              </a:extLst>
            </p:cNvPr>
            <p:cNvPicPr>
              <a:picLocks noChangeAspect="1"/>
            </p:cNvPicPr>
            <p:nvPr/>
          </p:nvPicPr>
          <p:blipFill>
            <a:blip r:embed="rId4">
              <a:extLst>
                <a:ext uri="{28A0092B-C50C-407E-A947-70E740481C1C}">
                  <a14:useLocalDpi xmlns:a14="http://schemas.microsoft.com/office/drawing/2010/main" val="0"/>
                </a:ext>
              </a:extLst>
            </a:blip>
            <a:srcRect l="35614" t="18232" r="39512" b="1868"/>
            <a:stretch>
              <a:fillRect/>
            </a:stretch>
          </p:blipFill>
          <p:spPr>
            <a:xfrm>
              <a:off x="-14854832" y="7894112"/>
              <a:ext cx="12198932" cy="26123017"/>
            </a:xfrm>
            <a:prstGeom prst="rect">
              <a:avLst/>
            </a:prstGeom>
          </p:spPr>
        </p:pic>
        <p:grpSp>
          <p:nvGrpSpPr>
            <p:cNvPr id="44" name="Group 43">
              <a:extLst>
                <a:ext uri="{FF2B5EF4-FFF2-40B4-BE49-F238E27FC236}">
                  <a16:creationId xmlns:a16="http://schemas.microsoft.com/office/drawing/2014/main" id="{34DD6758-5370-1381-B00C-7A0294CAC0EC}"/>
                </a:ext>
              </a:extLst>
            </p:cNvPr>
            <p:cNvGrpSpPr/>
            <p:nvPr/>
          </p:nvGrpSpPr>
          <p:grpSpPr>
            <a:xfrm>
              <a:off x="-12495262" y="9886089"/>
              <a:ext cx="7479792" cy="3711284"/>
              <a:chOff x="-795528" y="10343176"/>
              <a:chExt cx="7479792" cy="3711284"/>
            </a:xfrm>
          </p:grpSpPr>
          <p:sp>
            <p:nvSpPr>
              <p:cNvPr id="61" name="Rectangle: Rounded Corners 60">
                <a:extLst>
                  <a:ext uri="{FF2B5EF4-FFF2-40B4-BE49-F238E27FC236}">
                    <a16:creationId xmlns:a16="http://schemas.microsoft.com/office/drawing/2014/main" id="{8B32C1E6-2624-F567-5426-B919D20FD6DE}"/>
                  </a:ext>
                </a:extLst>
              </p:cNvPr>
              <p:cNvSpPr/>
              <p:nvPr/>
            </p:nvSpPr>
            <p:spPr>
              <a:xfrm>
                <a:off x="-795528" y="10343176"/>
                <a:ext cx="7479792" cy="371128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TextBox 61">
                <a:extLst>
                  <a:ext uri="{FF2B5EF4-FFF2-40B4-BE49-F238E27FC236}">
                    <a16:creationId xmlns:a16="http://schemas.microsoft.com/office/drawing/2014/main" id="{A7D9F500-EA28-A89F-D97D-80BCB1652F69}"/>
                  </a:ext>
                </a:extLst>
              </p:cNvPr>
              <p:cNvSpPr txBox="1"/>
              <p:nvPr/>
            </p:nvSpPr>
            <p:spPr>
              <a:xfrm>
                <a:off x="-533126" y="11268184"/>
                <a:ext cx="1779939" cy="1569660"/>
              </a:xfrm>
              <a:prstGeom prst="rect">
                <a:avLst/>
              </a:prstGeom>
              <a:noFill/>
            </p:spPr>
            <p:txBody>
              <a:bodyPr wrap="square" rtlCol="0">
                <a:spAutoFit/>
              </a:bodyPr>
              <a:lstStyle/>
              <a:p>
                <a:r>
                  <a:rPr lang="en-US" sz="9600" dirty="0">
                    <a:solidFill>
                      <a:schemeClr val="bg2">
                        <a:lumMod val="10000"/>
                      </a:schemeClr>
                    </a:solidFill>
                    <a:latin typeface="Rockwell Extra Bold" panose="02060903040505020403" pitchFamily="18" charset="0"/>
                  </a:rPr>
                  <a:t>1.</a:t>
                </a:r>
              </a:p>
            </p:txBody>
          </p:sp>
          <p:sp>
            <p:nvSpPr>
              <p:cNvPr id="63" name="TextBox 62">
                <a:extLst>
                  <a:ext uri="{FF2B5EF4-FFF2-40B4-BE49-F238E27FC236}">
                    <a16:creationId xmlns:a16="http://schemas.microsoft.com/office/drawing/2014/main" id="{E816E919-F7DD-A409-4EAC-AF56F0CF023E}"/>
                  </a:ext>
                </a:extLst>
              </p:cNvPr>
              <p:cNvSpPr txBox="1"/>
              <p:nvPr/>
            </p:nvSpPr>
            <p:spPr>
              <a:xfrm>
                <a:off x="1246813" y="10620664"/>
                <a:ext cx="5178309" cy="2062103"/>
              </a:xfrm>
              <a:prstGeom prst="rect">
                <a:avLst/>
              </a:prstGeom>
              <a:noFill/>
            </p:spPr>
            <p:txBody>
              <a:bodyPr wrap="square" rtlCol="0">
                <a:spAutoFit/>
              </a:bodyPr>
              <a:lstStyle/>
              <a:p>
                <a:endParaRPr lang="en-US" sz="3200" i="1" dirty="0"/>
              </a:p>
              <a:p>
                <a:r>
                  <a:rPr lang="en-US" sz="3200" i="1" dirty="0"/>
                  <a:t>AI is mostly only useful for generating text in tools like ChatGPT or Gemini.</a:t>
                </a:r>
                <a:endParaRPr lang="en-US" sz="3200" dirty="0"/>
              </a:p>
            </p:txBody>
          </p:sp>
          <p:sp>
            <p:nvSpPr>
              <p:cNvPr id="64" name="TextBox 63">
                <a:extLst>
                  <a:ext uri="{FF2B5EF4-FFF2-40B4-BE49-F238E27FC236}">
                    <a16:creationId xmlns:a16="http://schemas.microsoft.com/office/drawing/2014/main" id="{36ED62EF-2153-E6D9-1173-B3C7ED1D7AD8}"/>
                  </a:ext>
                </a:extLst>
              </p:cNvPr>
              <p:cNvSpPr txBox="1"/>
              <p:nvPr/>
            </p:nvSpPr>
            <p:spPr>
              <a:xfrm>
                <a:off x="646709" y="13001822"/>
                <a:ext cx="5487434" cy="461665"/>
              </a:xfrm>
              <a:prstGeom prst="rect">
                <a:avLst/>
              </a:prstGeom>
              <a:noFill/>
            </p:spPr>
            <p:txBody>
              <a:bodyPr wrap="square" rtlCol="0">
                <a:spAutoFit/>
              </a:bodyPr>
              <a:lstStyle/>
              <a:p>
                <a:r>
                  <a:rPr lang="en-US" sz="2400" b="1" dirty="0">
                    <a:latin typeface="Arial Black" panose="020B0A04020102020204" pitchFamily="34" charset="0"/>
                  </a:rPr>
                  <a:t>A) True                      B) False</a:t>
                </a:r>
              </a:p>
            </p:txBody>
          </p:sp>
        </p:grpSp>
        <p:grpSp>
          <p:nvGrpSpPr>
            <p:cNvPr id="45" name="Group 44">
              <a:extLst>
                <a:ext uri="{FF2B5EF4-FFF2-40B4-BE49-F238E27FC236}">
                  <a16:creationId xmlns:a16="http://schemas.microsoft.com/office/drawing/2014/main" id="{B407FC46-B868-BDC8-6CF1-1AA341A17B3F}"/>
                </a:ext>
              </a:extLst>
            </p:cNvPr>
            <p:cNvGrpSpPr/>
            <p:nvPr/>
          </p:nvGrpSpPr>
          <p:grpSpPr>
            <a:xfrm>
              <a:off x="-12495262" y="16548824"/>
              <a:ext cx="7479792" cy="3711284"/>
              <a:chOff x="2523877" y="7784497"/>
              <a:chExt cx="7479792" cy="3711284"/>
            </a:xfrm>
          </p:grpSpPr>
          <p:sp>
            <p:nvSpPr>
              <p:cNvPr id="57" name="Rectangle: Rounded Corners 56">
                <a:extLst>
                  <a:ext uri="{FF2B5EF4-FFF2-40B4-BE49-F238E27FC236}">
                    <a16:creationId xmlns:a16="http://schemas.microsoft.com/office/drawing/2014/main" id="{91EDC86C-54EA-696F-2C82-E96EA95806C2}"/>
                  </a:ext>
                </a:extLst>
              </p:cNvPr>
              <p:cNvSpPr/>
              <p:nvPr/>
            </p:nvSpPr>
            <p:spPr>
              <a:xfrm>
                <a:off x="2523877" y="7784497"/>
                <a:ext cx="7479792" cy="371128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039A5B04-87CD-51EB-9A17-B9B2BAA580FB}"/>
                  </a:ext>
                </a:extLst>
              </p:cNvPr>
              <p:cNvSpPr txBox="1"/>
              <p:nvPr/>
            </p:nvSpPr>
            <p:spPr>
              <a:xfrm>
                <a:off x="2764703" y="8893170"/>
                <a:ext cx="1779939" cy="1569660"/>
              </a:xfrm>
              <a:prstGeom prst="rect">
                <a:avLst/>
              </a:prstGeom>
              <a:noFill/>
            </p:spPr>
            <p:txBody>
              <a:bodyPr wrap="square" rtlCol="0">
                <a:spAutoFit/>
              </a:bodyPr>
              <a:lstStyle/>
              <a:p>
                <a:r>
                  <a:rPr lang="en-US" sz="9600" dirty="0">
                    <a:solidFill>
                      <a:schemeClr val="bg2">
                        <a:lumMod val="10000"/>
                      </a:schemeClr>
                    </a:solidFill>
                    <a:latin typeface="Rockwell Extra Bold" panose="02060903040505020403" pitchFamily="18" charset="0"/>
                  </a:rPr>
                  <a:t>2.</a:t>
                </a:r>
              </a:p>
            </p:txBody>
          </p:sp>
          <p:sp>
            <p:nvSpPr>
              <p:cNvPr id="59" name="TextBox 58">
                <a:extLst>
                  <a:ext uri="{FF2B5EF4-FFF2-40B4-BE49-F238E27FC236}">
                    <a16:creationId xmlns:a16="http://schemas.microsoft.com/office/drawing/2014/main" id="{DC2F7A01-FCB8-932F-7975-DC3E29EC8941}"/>
                  </a:ext>
                </a:extLst>
              </p:cNvPr>
              <p:cNvSpPr txBox="1"/>
              <p:nvPr/>
            </p:nvSpPr>
            <p:spPr>
              <a:xfrm>
                <a:off x="4596796" y="8298888"/>
                <a:ext cx="5178309" cy="1569660"/>
              </a:xfrm>
              <a:prstGeom prst="rect">
                <a:avLst/>
              </a:prstGeom>
              <a:noFill/>
            </p:spPr>
            <p:txBody>
              <a:bodyPr wrap="square" rtlCol="0">
                <a:spAutoFit/>
              </a:bodyPr>
              <a:lstStyle/>
              <a:p>
                <a:endParaRPr lang="en-US" sz="3200" i="1" dirty="0"/>
              </a:p>
              <a:p>
                <a:r>
                  <a:rPr lang="en-US" sz="3200" i="1" dirty="0"/>
                  <a:t>AI will replace most jobs in the future.</a:t>
                </a:r>
                <a:endParaRPr lang="en-US" sz="3200" dirty="0"/>
              </a:p>
            </p:txBody>
          </p:sp>
          <p:sp>
            <p:nvSpPr>
              <p:cNvPr id="60" name="TextBox 59">
                <a:extLst>
                  <a:ext uri="{FF2B5EF4-FFF2-40B4-BE49-F238E27FC236}">
                    <a16:creationId xmlns:a16="http://schemas.microsoft.com/office/drawing/2014/main" id="{E9176C69-B10A-43CC-F298-F191D6DBA67B}"/>
                  </a:ext>
                </a:extLst>
              </p:cNvPr>
              <p:cNvSpPr txBox="1"/>
              <p:nvPr/>
            </p:nvSpPr>
            <p:spPr>
              <a:xfrm>
                <a:off x="4013737" y="10551052"/>
                <a:ext cx="5487434" cy="461665"/>
              </a:xfrm>
              <a:prstGeom prst="rect">
                <a:avLst/>
              </a:prstGeom>
              <a:noFill/>
            </p:spPr>
            <p:txBody>
              <a:bodyPr wrap="square" rtlCol="0">
                <a:spAutoFit/>
              </a:bodyPr>
              <a:lstStyle/>
              <a:p>
                <a:r>
                  <a:rPr lang="en-US" sz="2400" b="1" dirty="0">
                    <a:latin typeface="Arial Black" panose="020B0A04020102020204" pitchFamily="34" charset="0"/>
                  </a:rPr>
                  <a:t>A) True                      B) False</a:t>
                </a:r>
              </a:p>
            </p:txBody>
          </p:sp>
        </p:grpSp>
        <p:grpSp>
          <p:nvGrpSpPr>
            <p:cNvPr id="46" name="Group 45">
              <a:extLst>
                <a:ext uri="{FF2B5EF4-FFF2-40B4-BE49-F238E27FC236}">
                  <a16:creationId xmlns:a16="http://schemas.microsoft.com/office/drawing/2014/main" id="{ED8BF029-83FC-2914-5703-7BE86C5EE8F6}"/>
                </a:ext>
              </a:extLst>
            </p:cNvPr>
            <p:cNvGrpSpPr/>
            <p:nvPr/>
          </p:nvGrpSpPr>
          <p:grpSpPr>
            <a:xfrm>
              <a:off x="-12495262" y="22974320"/>
              <a:ext cx="7479792" cy="3711284"/>
              <a:chOff x="-14975864" y="12589286"/>
              <a:chExt cx="7479792" cy="3711284"/>
            </a:xfrm>
          </p:grpSpPr>
          <p:sp>
            <p:nvSpPr>
              <p:cNvPr id="53" name="Rectangle: Rounded Corners 52">
                <a:extLst>
                  <a:ext uri="{FF2B5EF4-FFF2-40B4-BE49-F238E27FC236}">
                    <a16:creationId xmlns:a16="http://schemas.microsoft.com/office/drawing/2014/main" id="{55B9D745-C4FF-E991-1FAA-DDD2A9A1BAFD}"/>
                  </a:ext>
                </a:extLst>
              </p:cNvPr>
              <p:cNvSpPr/>
              <p:nvPr/>
            </p:nvSpPr>
            <p:spPr>
              <a:xfrm>
                <a:off x="-14975864" y="12589286"/>
                <a:ext cx="7479792" cy="371128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TextBox 53">
                <a:extLst>
                  <a:ext uri="{FF2B5EF4-FFF2-40B4-BE49-F238E27FC236}">
                    <a16:creationId xmlns:a16="http://schemas.microsoft.com/office/drawing/2014/main" id="{A724E9D4-0564-547E-8B24-B6A14A102C66}"/>
                  </a:ext>
                </a:extLst>
              </p:cNvPr>
              <p:cNvSpPr txBox="1"/>
              <p:nvPr/>
            </p:nvSpPr>
            <p:spPr>
              <a:xfrm>
                <a:off x="-14667105" y="13631134"/>
                <a:ext cx="1779939" cy="1569660"/>
              </a:xfrm>
              <a:prstGeom prst="rect">
                <a:avLst/>
              </a:prstGeom>
              <a:noFill/>
            </p:spPr>
            <p:txBody>
              <a:bodyPr wrap="square" rtlCol="0">
                <a:spAutoFit/>
              </a:bodyPr>
              <a:lstStyle/>
              <a:p>
                <a:r>
                  <a:rPr lang="en-US" sz="9600" dirty="0">
                    <a:solidFill>
                      <a:schemeClr val="bg2">
                        <a:lumMod val="10000"/>
                      </a:schemeClr>
                    </a:solidFill>
                    <a:latin typeface="Rockwell Extra Bold" panose="02060903040505020403" pitchFamily="18" charset="0"/>
                  </a:rPr>
                  <a:t>3.</a:t>
                </a:r>
              </a:p>
            </p:txBody>
          </p:sp>
          <p:sp>
            <p:nvSpPr>
              <p:cNvPr id="55" name="TextBox 54">
                <a:extLst>
                  <a:ext uri="{FF2B5EF4-FFF2-40B4-BE49-F238E27FC236}">
                    <a16:creationId xmlns:a16="http://schemas.microsoft.com/office/drawing/2014/main" id="{363E1AF4-5B5E-B181-77E3-F1C27672F7AF}"/>
                  </a:ext>
                </a:extLst>
              </p:cNvPr>
              <p:cNvSpPr txBox="1"/>
              <p:nvPr/>
            </p:nvSpPr>
            <p:spPr>
              <a:xfrm>
                <a:off x="-12902946" y="12704638"/>
                <a:ext cx="5178309" cy="2431435"/>
              </a:xfrm>
              <a:prstGeom prst="rect">
                <a:avLst/>
              </a:prstGeom>
              <a:noFill/>
            </p:spPr>
            <p:txBody>
              <a:bodyPr wrap="square" rtlCol="0">
                <a:spAutoFit/>
              </a:bodyPr>
              <a:lstStyle/>
              <a:p>
                <a:endParaRPr lang="en-US" sz="2400" i="1" dirty="0"/>
              </a:p>
              <a:p>
                <a:r>
                  <a:rPr lang="en-US" sz="3200" i="1" dirty="0"/>
                  <a:t>AI-generated content (text, images, code) is now indistinguishable from human-created work.</a:t>
                </a:r>
                <a:endParaRPr lang="en-US" sz="3200" dirty="0"/>
              </a:p>
            </p:txBody>
          </p:sp>
          <p:sp>
            <p:nvSpPr>
              <p:cNvPr id="56" name="TextBox 55">
                <a:extLst>
                  <a:ext uri="{FF2B5EF4-FFF2-40B4-BE49-F238E27FC236}">
                    <a16:creationId xmlns:a16="http://schemas.microsoft.com/office/drawing/2014/main" id="{B877B375-73C7-27DA-86D9-1D702E689EF7}"/>
                  </a:ext>
                </a:extLst>
              </p:cNvPr>
              <p:cNvSpPr txBox="1"/>
              <p:nvPr/>
            </p:nvSpPr>
            <p:spPr>
              <a:xfrm>
                <a:off x="-13564475" y="15314503"/>
                <a:ext cx="5487434" cy="461665"/>
              </a:xfrm>
              <a:prstGeom prst="rect">
                <a:avLst/>
              </a:prstGeom>
              <a:noFill/>
            </p:spPr>
            <p:txBody>
              <a:bodyPr wrap="square" rtlCol="0">
                <a:spAutoFit/>
              </a:bodyPr>
              <a:lstStyle/>
              <a:p>
                <a:r>
                  <a:rPr lang="en-US" sz="2400" b="1" dirty="0">
                    <a:latin typeface="Arial Black" panose="020B0A04020102020204" pitchFamily="34" charset="0"/>
                  </a:rPr>
                  <a:t>A) True                      B) False</a:t>
                </a:r>
              </a:p>
            </p:txBody>
          </p:sp>
        </p:grpSp>
        <p:grpSp>
          <p:nvGrpSpPr>
            <p:cNvPr id="47" name="Group 46">
              <a:extLst>
                <a:ext uri="{FF2B5EF4-FFF2-40B4-BE49-F238E27FC236}">
                  <a16:creationId xmlns:a16="http://schemas.microsoft.com/office/drawing/2014/main" id="{5558DAE4-8342-5C4A-2CAC-62B3B116102D}"/>
                </a:ext>
              </a:extLst>
            </p:cNvPr>
            <p:cNvGrpSpPr/>
            <p:nvPr/>
          </p:nvGrpSpPr>
          <p:grpSpPr>
            <a:xfrm>
              <a:off x="-12390279" y="29066616"/>
              <a:ext cx="7479792" cy="3711284"/>
              <a:chOff x="-15189416" y="19796761"/>
              <a:chExt cx="7479792" cy="3711284"/>
            </a:xfrm>
          </p:grpSpPr>
          <p:sp>
            <p:nvSpPr>
              <p:cNvPr id="48" name="Rectangle: Rounded Corners 47">
                <a:extLst>
                  <a:ext uri="{FF2B5EF4-FFF2-40B4-BE49-F238E27FC236}">
                    <a16:creationId xmlns:a16="http://schemas.microsoft.com/office/drawing/2014/main" id="{8DCEC642-D97C-31D2-6BC4-2A5437990FE3}"/>
                  </a:ext>
                </a:extLst>
              </p:cNvPr>
              <p:cNvSpPr/>
              <p:nvPr/>
            </p:nvSpPr>
            <p:spPr>
              <a:xfrm>
                <a:off x="-15189416" y="19796761"/>
                <a:ext cx="7479792" cy="371128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Box 48">
                <a:extLst>
                  <a:ext uri="{FF2B5EF4-FFF2-40B4-BE49-F238E27FC236}">
                    <a16:creationId xmlns:a16="http://schemas.microsoft.com/office/drawing/2014/main" id="{7C0F60C1-9BAA-D205-2E28-377C25BBD3D8}"/>
                  </a:ext>
                </a:extLst>
              </p:cNvPr>
              <p:cNvSpPr txBox="1"/>
              <p:nvPr/>
            </p:nvSpPr>
            <p:spPr>
              <a:xfrm>
                <a:off x="-14975102" y="20867573"/>
                <a:ext cx="1779939" cy="1569660"/>
              </a:xfrm>
              <a:prstGeom prst="rect">
                <a:avLst/>
              </a:prstGeom>
              <a:noFill/>
            </p:spPr>
            <p:txBody>
              <a:bodyPr wrap="square" rtlCol="0">
                <a:spAutoFit/>
              </a:bodyPr>
              <a:lstStyle/>
              <a:p>
                <a:r>
                  <a:rPr lang="en-US" sz="9600" dirty="0">
                    <a:solidFill>
                      <a:schemeClr val="bg2">
                        <a:lumMod val="10000"/>
                      </a:schemeClr>
                    </a:solidFill>
                    <a:latin typeface="Rockwell Extra Bold" panose="02060903040505020403" pitchFamily="18" charset="0"/>
                  </a:rPr>
                  <a:t>4.</a:t>
                </a:r>
              </a:p>
            </p:txBody>
          </p:sp>
          <p:sp>
            <p:nvSpPr>
              <p:cNvPr id="51" name="TextBox 50">
                <a:extLst>
                  <a:ext uri="{FF2B5EF4-FFF2-40B4-BE49-F238E27FC236}">
                    <a16:creationId xmlns:a16="http://schemas.microsoft.com/office/drawing/2014/main" id="{C115F8A7-CAD5-912C-E9C3-7AB8D6A761B6}"/>
                  </a:ext>
                </a:extLst>
              </p:cNvPr>
              <p:cNvSpPr txBox="1"/>
              <p:nvPr/>
            </p:nvSpPr>
            <p:spPr>
              <a:xfrm>
                <a:off x="-13158262" y="21011169"/>
                <a:ext cx="5178309" cy="1569660"/>
              </a:xfrm>
              <a:prstGeom prst="rect">
                <a:avLst/>
              </a:prstGeom>
              <a:noFill/>
            </p:spPr>
            <p:txBody>
              <a:bodyPr wrap="square" rtlCol="0">
                <a:spAutoFit/>
              </a:bodyPr>
              <a:lstStyle/>
              <a:p>
                <a:r>
                  <a:rPr lang="en-US" sz="3200" i="1" dirty="0"/>
                  <a:t>AI is working like a human brain.</a:t>
                </a:r>
              </a:p>
              <a:p>
                <a:endParaRPr lang="en-US" sz="3200" dirty="0"/>
              </a:p>
            </p:txBody>
          </p:sp>
          <p:sp>
            <p:nvSpPr>
              <p:cNvPr id="52" name="TextBox 51">
                <a:extLst>
                  <a:ext uri="{FF2B5EF4-FFF2-40B4-BE49-F238E27FC236}">
                    <a16:creationId xmlns:a16="http://schemas.microsoft.com/office/drawing/2014/main" id="{34B85E00-0FD5-940F-FD4F-444B1F0448BE}"/>
                  </a:ext>
                </a:extLst>
              </p:cNvPr>
              <p:cNvSpPr txBox="1"/>
              <p:nvPr/>
            </p:nvSpPr>
            <p:spPr>
              <a:xfrm>
                <a:off x="-13795267" y="22510973"/>
                <a:ext cx="5487434" cy="461665"/>
              </a:xfrm>
              <a:prstGeom prst="rect">
                <a:avLst/>
              </a:prstGeom>
              <a:noFill/>
            </p:spPr>
            <p:txBody>
              <a:bodyPr wrap="square" rtlCol="0">
                <a:spAutoFit/>
              </a:bodyPr>
              <a:lstStyle/>
              <a:p>
                <a:r>
                  <a:rPr lang="en-US" sz="2400" b="1" dirty="0">
                    <a:latin typeface="Arial Black" panose="020B0A04020102020204" pitchFamily="34" charset="0"/>
                  </a:rPr>
                  <a:t>A) True                      B) False</a:t>
                </a:r>
              </a:p>
            </p:txBody>
          </p:sp>
        </p:grpSp>
      </p:grpSp>
    </p:spTree>
    <p:extLst>
      <p:ext uri="{BB962C8B-B14F-4D97-AF65-F5344CB8AC3E}">
        <p14:creationId xmlns:p14="http://schemas.microsoft.com/office/powerpoint/2010/main" val="434848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200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C952A-6149-7E5C-EE46-7879250731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C27E6D-66A4-AC57-436F-ADFC375DDD2C}"/>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4B98EA86-7F1B-5BE0-76D1-D5ED1DC18BD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 r="1933" b="42238"/>
          <a:stretch>
            <a:fillRect/>
          </a:stretch>
        </p:blipFill>
        <p:spPr>
          <a:xfrm>
            <a:off x="-1" y="0"/>
            <a:ext cx="12198593" cy="4041647"/>
          </a:xfrm>
          <a:prstGeom prst="rect">
            <a:avLst/>
          </a:prstGeom>
        </p:spPr>
      </p:pic>
      <p:sp>
        <p:nvSpPr>
          <p:cNvPr id="9" name="TextBox 8">
            <a:extLst>
              <a:ext uri="{FF2B5EF4-FFF2-40B4-BE49-F238E27FC236}">
                <a16:creationId xmlns:a16="http://schemas.microsoft.com/office/drawing/2014/main" id="{8D9AD445-C2E7-C28A-B26C-033DA3F1FCFA}"/>
              </a:ext>
            </a:extLst>
          </p:cNvPr>
          <p:cNvSpPr txBox="1"/>
          <p:nvPr/>
        </p:nvSpPr>
        <p:spPr>
          <a:xfrm>
            <a:off x="676656" y="1527048"/>
            <a:ext cx="6007608" cy="1569660"/>
          </a:xfrm>
          <a:prstGeom prst="rect">
            <a:avLst/>
          </a:prstGeom>
          <a:noFill/>
        </p:spPr>
        <p:txBody>
          <a:bodyPr wrap="square" rtlCol="0">
            <a:spAutoFit/>
          </a:bodyPr>
          <a:lstStyle/>
          <a:p>
            <a:pPr algn="ctr"/>
            <a:r>
              <a:rPr lang="en-US" sz="9600" dirty="0">
                <a:solidFill>
                  <a:schemeClr val="bg1"/>
                </a:solidFill>
                <a:latin typeface="Rockwell Extra Bold" panose="02060903040505020403" pitchFamily="18" charset="0"/>
              </a:rPr>
              <a:t>AI </a:t>
            </a:r>
            <a:r>
              <a:rPr lang="en-US" sz="2000" dirty="0">
                <a:solidFill>
                  <a:schemeClr val="bg1"/>
                </a:solidFill>
                <a:latin typeface="Rockwell Extra Bold" panose="02060903040505020403" pitchFamily="18" charset="0"/>
              </a:rPr>
              <a:t>in</a:t>
            </a:r>
            <a:endParaRPr lang="en-US" sz="9600" dirty="0">
              <a:solidFill>
                <a:schemeClr val="bg1"/>
              </a:solidFill>
              <a:latin typeface="Rockwell Extra Bold" panose="02060903040505020403" pitchFamily="18" charset="0"/>
            </a:endParaRPr>
          </a:p>
        </p:txBody>
      </p:sp>
      <p:sp>
        <p:nvSpPr>
          <p:cNvPr id="10" name="TextBox 9">
            <a:extLst>
              <a:ext uri="{FF2B5EF4-FFF2-40B4-BE49-F238E27FC236}">
                <a16:creationId xmlns:a16="http://schemas.microsoft.com/office/drawing/2014/main" id="{F668304D-3016-E0F5-70AD-E796557BE688}"/>
              </a:ext>
            </a:extLst>
          </p:cNvPr>
          <p:cNvSpPr txBox="1"/>
          <p:nvPr/>
        </p:nvSpPr>
        <p:spPr>
          <a:xfrm>
            <a:off x="392545" y="4596878"/>
            <a:ext cx="6894576" cy="1569660"/>
          </a:xfrm>
          <a:prstGeom prst="rect">
            <a:avLst/>
          </a:prstGeom>
          <a:noFill/>
        </p:spPr>
        <p:txBody>
          <a:bodyPr wrap="square" rtlCol="0">
            <a:spAutoFit/>
          </a:bodyPr>
          <a:lstStyle/>
          <a:p>
            <a:r>
              <a:rPr lang="en-US" sz="9600" dirty="0">
                <a:gradFill>
                  <a:gsLst>
                    <a:gs pos="0">
                      <a:srgbClr val="00224F"/>
                    </a:gs>
                    <a:gs pos="74000">
                      <a:srgbClr val="2B55C4"/>
                    </a:gs>
                    <a:gs pos="83000">
                      <a:srgbClr val="AFD0FD"/>
                    </a:gs>
                    <a:gs pos="100000">
                      <a:schemeClr val="accent1">
                        <a:lumMod val="30000"/>
                        <a:lumOff val="70000"/>
                      </a:schemeClr>
                    </a:gs>
                  </a:gsLst>
                  <a:lin ang="5400000" scaled="1"/>
                </a:gradFill>
                <a:latin typeface="Rockwell Extra Bold" panose="02060903040505020403" pitchFamily="18" charset="0"/>
              </a:rPr>
              <a:t>Business</a:t>
            </a:r>
          </a:p>
        </p:txBody>
      </p:sp>
      <p:sp>
        <p:nvSpPr>
          <p:cNvPr id="11" name="Right Triangle 10">
            <a:extLst>
              <a:ext uri="{FF2B5EF4-FFF2-40B4-BE49-F238E27FC236}">
                <a16:creationId xmlns:a16="http://schemas.microsoft.com/office/drawing/2014/main" id="{9A2D8198-14BB-21BA-ACE9-1664A0DA11E3}"/>
              </a:ext>
            </a:extLst>
          </p:cNvPr>
          <p:cNvSpPr/>
          <p:nvPr/>
        </p:nvSpPr>
        <p:spPr>
          <a:xfrm>
            <a:off x="-62092" y="3009620"/>
            <a:ext cx="12217445" cy="3945118"/>
          </a:xfrm>
          <a:custGeom>
            <a:avLst/>
            <a:gdLst>
              <a:gd name="csX0" fmla="*/ 0 w 12198592"/>
              <a:gd name="csY0" fmla="*/ 3916837 h 3916837"/>
              <a:gd name="csX1" fmla="*/ 0 w 12198592"/>
              <a:gd name="csY1" fmla="*/ 0 h 3916837"/>
              <a:gd name="csX2" fmla="*/ 12198592 w 12198592"/>
              <a:gd name="csY2" fmla="*/ 3916837 h 3916837"/>
              <a:gd name="csX3" fmla="*/ 0 w 12198592"/>
              <a:gd name="csY3" fmla="*/ 3916837 h 3916837"/>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198592"/>
              <a:gd name="csY0" fmla="*/ 3927769 h 3927769"/>
              <a:gd name="csX1" fmla="*/ 9427 w 12198592"/>
              <a:gd name="csY1" fmla="*/ 48639 h 3927769"/>
              <a:gd name="csX2" fmla="*/ 12198592 w 12198592"/>
              <a:gd name="csY2" fmla="*/ 3927769 h 3927769"/>
              <a:gd name="csX3" fmla="*/ 0 w 12198592"/>
              <a:gd name="csY3" fmla="*/ 3927769 h 3927769"/>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217445"/>
              <a:gd name="csY0" fmla="*/ 3879130 h 3945118"/>
              <a:gd name="csX1" fmla="*/ 9427 w 12217445"/>
              <a:gd name="csY1" fmla="*/ 0 h 3945118"/>
              <a:gd name="csX2" fmla="*/ 12217445 w 12217445"/>
              <a:gd name="csY2" fmla="*/ 3945118 h 3945118"/>
              <a:gd name="csX3" fmla="*/ 0 w 12217445"/>
              <a:gd name="csY3" fmla="*/ 3879130 h 3945118"/>
              <a:gd name="csX0" fmla="*/ 0 w 12217445"/>
              <a:gd name="csY0" fmla="*/ 3879130 h 3945118"/>
              <a:gd name="csX1" fmla="*/ 9427 w 12217445"/>
              <a:gd name="csY1" fmla="*/ 0 h 3945118"/>
              <a:gd name="csX2" fmla="*/ 12217445 w 12217445"/>
              <a:gd name="csY2" fmla="*/ 3945118 h 3945118"/>
              <a:gd name="csX3" fmla="*/ 0 w 12217445"/>
              <a:gd name="csY3" fmla="*/ 3879130 h 3945118"/>
            </a:gdLst>
            <a:ahLst/>
            <a:cxnLst>
              <a:cxn ang="0">
                <a:pos x="csX0" y="csY0"/>
              </a:cxn>
              <a:cxn ang="0">
                <a:pos x="csX1" y="csY1"/>
              </a:cxn>
              <a:cxn ang="0">
                <a:pos x="csX2" y="csY2"/>
              </a:cxn>
              <a:cxn ang="0">
                <a:pos x="csX3" y="csY3"/>
              </a:cxn>
            </a:cxnLst>
            <a:rect l="l" t="t" r="r" b="b"/>
            <a:pathLst>
              <a:path w="12217445" h="3945118">
                <a:moveTo>
                  <a:pt x="0" y="3879130"/>
                </a:moveTo>
                <a:cubicBezTo>
                  <a:pt x="3142" y="2586087"/>
                  <a:pt x="6285" y="1293043"/>
                  <a:pt x="9427" y="0"/>
                </a:cubicBezTo>
                <a:cubicBezTo>
                  <a:pt x="4185603" y="1570"/>
                  <a:pt x="8088403" y="2614368"/>
                  <a:pt x="12217445" y="3945118"/>
                </a:cubicBezTo>
                <a:lnTo>
                  <a:pt x="0" y="3879130"/>
                </a:lnTo>
                <a:close/>
              </a:path>
            </a:pathLst>
          </a:custGeom>
          <a:solidFill>
            <a:srgbClr val="4454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ight Triangle 10">
            <a:extLst>
              <a:ext uri="{FF2B5EF4-FFF2-40B4-BE49-F238E27FC236}">
                <a16:creationId xmlns:a16="http://schemas.microsoft.com/office/drawing/2014/main" id="{27E2653A-EFD5-E3C3-C690-BFE12B178FC5}"/>
              </a:ext>
            </a:extLst>
          </p:cNvPr>
          <p:cNvSpPr/>
          <p:nvPr/>
        </p:nvSpPr>
        <p:spPr>
          <a:xfrm rot="10800000">
            <a:off x="-18853" y="-32665"/>
            <a:ext cx="12217445" cy="3945118"/>
          </a:xfrm>
          <a:custGeom>
            <a:avLst/>
            <a:gdLst>
              <a:gd name="csX0" fmla="*/ 0 w 12198592"/>
              <a:gd name="csY0" fmla="*/ 3916837 h 3916837"/>
              <a:gd name="csX1" fmla="*/ 0 w 12198592"/>
              <a:gd name="csY1" fmla="*/ 0 h 3916837"/>
              <a:gd name="csX2" fmla="*/ 12198592 w 12198592"/>
              <a:gd name="csY2" fmla="*/ 3916837 h 3916837"/>
              <a:gd name="csX3" fmla="*/ 0 w 12198592"/>
              <a:gd name="csY3" fmla="*/ 3916837 h 3916837"/>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198592"/>
              <a:gd name="csY0" fmla="*/ 3927769 h 3927769"/>
              <a:gd name="csX1" fmla="*/ 9427 w 12198592"/>
              <a:gd name="csY1" fmla="*/ 48639 h 3927769"/>
              <a:gd name="csX2" fmla="*/ 12198592 w 12198592"/>
              <a:gd name="csY2" fmla="*/ 3927769 h 3927769"/>
              <a:gd name="csX3" fmla="*/ 0 w 12198592"/>
              <a:gd name="csY3" fmla="*/ 3927769 h 3927769"/>
              <a:gd name="csX0" fmla="*/ 0 w 12198592"/>
              <a:gd name="csY0" fmla="*/ 3879130 h 3879130"/>
              <a:gd name="csX1" fmla="*/ 9427 w 12198592"/>
              <a:gd name="csY1" fmla="*/ 0 h 3879130"/>
              <a:gd name="csX2" fmla="*/ 12198592 w 12198592"/>
              <a:gd name="csY2" fmla="*/ 3879130 h 3879130"/>
              <a:gd name="csX3" fmla="*/ 0 w 12198592"/>
              <a:gd name="csY3" fmla="*/ 3879130 h 3879130"/>
              <a:gd name="csX0" fmla="*/ 0 w 12217445"/>
              <a:gd name="csY0" fmla="*/ 3879130 h 3945118"/>
              <a:gd name="csX1" fmla="*/ 9427 w 12217445"/>
              <a:gd name="csY1" fmla="*/ 0 h 3945118"/>
              <a:gd name="csX2" fmla="*/ 12217445 w 12217445"/>
              <a:gd name="csY2" fmla="*/ 3945118 h 3945118"/>
              <a:gd name="csX3" fmla="*/ 0 w 12217445"/>
              <a:gd name="csY3" fmla="*/ 3879130 h 3945118"/>
              <a:gd name="csX0" fmla="*/ 0 w 12217445"/>
              <a:gd name="csY0" fmla="*/ 3879130 h 3945118"/>
              <a:gd name="csX1" fmla="*/ 9427 w 12217445"/>
              <a:gd name="csY1" fmla="*/ 0 h 3945118"/>
              <a:gd name="csX2" fmla="*/ 12217445 w 12217445"/>
              <a:gd name="csY2" fmla="*/ 3945118 h 3945118"/>
              <a:gd name="csX3" fmla="*/ 0 w 12217445"/>
              <a:gd name="csY3" fmla="*/ 3879130 h 3945118"/>
            </a:gdLst>
            <a:ahLst/>
            <a:cxnLst>
              <a:cxn ang="0">
                <a:pos x="csX0" y="csY0"/>
              </a:cxn>
              <a:cxn ang="0">
                <a:pos x="csX1" y="csY1"/>
              </a:cxn>
              <a:cxn ang="0">
                <a:pos x="csX2" y="csY2"/>
              </a:cxn>
              <a:cxn ang="0">
                <a:pos x="csX3" y="csY3"/>
              </a:cxn>
            </a:cxnLst>
            <a:rect l="l" t="t" r="r" b="b"/>
            <a:pathLst>
              <a:path w="12217445" h="3945118">
                <a:moveTo>
                  <a:pt x="0" y="3879130"/>
                </a:moveTo>
                <a:cubicBezTo>
                  <a:pt x="3142" y="2586087"/>
                  <a:pt x="6285" y="1293043"/>
                  <a:pt x="9427" y="0"/>
                </a:cubicBezTo>
                <a:cubicBezTo>
                  <a:pt x="4185603" y="1570"/>
                  <a:pt x="8088403" y="2614368"/>
                  <a:pt x="12217445" y="3945118"/>
                </a:cubicBezTo>
                <a:lnTo>
                  <a:pt x="0" y="3879130"/>
                </a:lnTo>
                <a:close/>
              </a:path>
            </a:pathLst>
          </a:custGeom>
          <a:solidFill>
            <a:schemeClr val="tx2"/>
          </a:solidFill>
          <a:ln>
            <a:solidFill>
              <a:srgbClr val="002D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a:extLst>
              <a:ext uri="{FF2B5EF4-FFF2-40B4-BE49-F238E27FC236}">
                <a16:creationId xmlns:a16="http://schemas.microsoft.com/office/drawing/2014/main" id="{DB8458E0-B77D-266E-9D50-8BCF4FAA2597}"/>
              </a:ext>
            </a:extLst>
          </p:cNvPr>
          <p:cNvCxnSpPr/>
          <p:nvPr/>
        </p:nvCxnSpPr>
        <p:spPr>
          <a:xfrm>
            <a:off x="8734425" y="4596878"/>
            <a:ext cx="2619375" cy="0"/>
          </a:xfrm>
          <a:prstGeom prst="line">
            <a:avLst/>
          </a:prstGeom>
        </p:spPr>
        <p:style>
          <a:lnRef idx="3">
            <a:schemeClr val="accent5"/>
          </a:lnRef>
          <a:fillRef idx="0">
            <a:schemeClr val="accent5"/>
          </a:fillRef>
          <a:effectRef idx="2">
            <a:schemeClr val="accent5"/>
          </a:effectRef>
          <a:fontRef idx="minor">
            <a:schemeClr val="tx1"/>
          </a:fontRef>
        </p:style>
      </p:cxnSp>
      <p:sp>
        <p:nvSpPr>
          <p:cNvPr id="17" name="TextBox 16">
            <a:extLst>
              <a:ext uri="{FF2B5EF4-FFF2-40B4-BE49-F238E27FC236}">
                <a16:creationId xmlns:a16="http://schemas.microsoft.com/office/drawing/2014/main" id="{65F996F6-9932-8417-6AD1-CF34ABE8AE5E}"/>
              </a:ext>
            </a:extLst>
          </p:cNvPr>
          <p:cNvSpPr txBox="1"/>
          <p:nvPr/>
        </p:nvSpPr>
        <p:spPr>
          <a:xfrm>
            <a:off x="11353800" y="4442989"/>
            <a:ext cx="762000" cy="307777"/>
          </a:xfrm>
          <a:prstGeom prst="rect">
            <a:avLst/>
          </a:prstGeom>
          <a:noFill/>
        </p:spPr>
        <p:txBody>
          <a:bodyPr wrap="square" rtlCol="0">
            <a:spAutoFit/>
          </a:bodyPr>
          <a:lstStyle/>
          <a:p>
            <a:r>
              <a:rPr lang="en-US" sz="1400" dirty="0">
                <a:solidFill>
                  <a:schemeClr val="accent1">
                    <a:lumMod val="75000"/>
                  </a:schemeClr>
                </a:solidFill>
              </a:rPr>
              <a:t>&gt; &gt; &gt;</a:t>
            </a:r>
          </a:p>
        </p:txBody>
      </p:sp>
      <p:sp>
        <p:nvSpPr>
          <p:cNvPr id="18" name="TextBox 17">
            <a:extLst>
              <a:ext uri="{FF2B5EF4-FFF2-40B4-BE49-F238E27FC236}">
                <a16:creationId xmlns:a16="http://schemas.microsoft.com/office/drawing/2014/main" id="{5898E70E-0AE0-94AF-DC16-B8D9C77ECFF7}"/>
              </a:ext>
            </a:extLst>
          </p:cNvPr>
          <p:cNvSpPr txBox="1"/>
          <p:nvPr/>
        </p:nvSpPr>
        <p:spPr>
          <a:xfrm>
            <a:off x="9137605" y="4612847"/>
            <a:ext cx="2114550" cy="369332"/>
          </a:xfrm>
          <a:prstGeom prst="rect">
            <a:avLst/>
          </a:prstGeom>
          <a:noFill/>
        </p:spPr>
        <p:txBody>
          <a:bodyPr wrap="square" rtlCol="0">
            <a:spAutoFit/>
          </a:bodyPr>
          <a:lstStyle/>
          <a:p>
            <a:r>
              <a:rPr lang="en-US" spc="300" dirty="0">
                <a:solidFill>
                  <a:schemeClr val="accent1">
                    <a:lumMod val="75000"/>
                  </a:schemeClr>
                </a:solidFill>
                <a:latin typeface="Ink Free" panose="03080402000500000000" pitchFamily="66" charset="0"/>
              </a:rPr>
              <a:t>Loading . . .</a:t>
            </a:r>
          </a:p>
        </p:txBody>
      </p:sp>
      <p:pic>
        <p:nvPicPr>
          <p:cNvPr id="22" name="Graphic 21" descr="Airplane with solid fill">
            <a:extLst>
              <a:ext uri="{FF2B5EF4-FFF2-40B4-BE49-F238E27FC236}">
                <a16:creationId xmlns:a16="http://schemas.microsoft.com/office/drawing/2014/main" id="{DFEB4D3E-2A5D-233D-17E7-03A0655FDF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7313200">
            <a:off x="12343904" y="4041647"/>
            <a:ext cx="914400" cy="914400"/>
          </a:xfrm>
          <a:prstGeom prst="rect">
            <a:avLst/>
          </a:prstGeom>
        </p:spPr>
      </p:pic>
      <p:pic>
        <p:nvPicPr>
          <p:cNvPr id="23" name="Graphic 22" descr="Airplane with solid fill">
            <a:extLst>
              <a:ext uri="{FF2B5EF4-FFF2-40B4-BE49-F238E27FC236}">
                <a16:creationId xmlns:a16="http://schemas.microsoft.com/office/drawing/2014/main" id="{B7533BFF-7AC0-2D31-34C5-9F80269097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47879" y="6979712"/>
            <a:ext cx="914400" cy="914400"/>
          </a:xfrm>
          <a:prstGeom prst="rect">
            <a:avLst/>
          </a:prstGeom>
        </p:spPr>
      </p:pic>
      <p:sp>
        <p:nvSpPr>
          <p:cNvPr id="25" name="TextBox 24">
            <a:extLst>
              <a:ext uri="{FF2B5EF4-FFF2-40B4-BE49-F238E27FC236}">
                <a16:creationId xmlns:a16="http://schemas.microsoft.com/office/drawing/2014/main" id="{87850EF8-DF23-B320-047C-5A4BA574EB3D}"/>
              </a:ext>
            </a:extLst>
          </p:cNvPr>
          <p:cNvSpPr txBox="1"/>
          <p:nvPr/>
        </p:nvSpPr>
        <p:spPr>
          <a:xfrm>
            <a:off x="8453799" y="5077761"/>
            <a:ext cx="3381375" cy="369332"/>
          </a:xfrm>
          <a:prstGeom prst="rect">
            <a:avLst/>
          </a:prstGeom>
          <a:noFill/>
        </p:spPr>
        <p:txBody>
          <a:bodyPr wrap="square" rtlCol="0">
            <a:spAutoFit/>
          </a:bodyPr>
          <a:lstStyle/>
          <a:p>
            <a:pPr algn="ctr"/>
            <a:r>
              <a:rPr lang="en-US" dirty="0"/>
              <a:t>By: </a:t>
            </a:r>
            <a:r>
              <a:rPr lang="en-US" dirty="0">
                <a:latin typeface="Courier New" panose="02070309020205020404" pitchFamily="49" charset="0"/>
                <a:cs typeface="Courier New" panose="02070309020205020404" pitchFamily="49" charset="0"/>
              </a:rPr>
              <a:t>Yashas Tayal</a:t>
            </a:r>
          </a:p>
        </p:txBody>
      </p:sp>
      <p:sp>
        <p:nvSpPr>
          <p:cNvPr id="3" name="Rectangle 2">
            <a:extLst>
              <a:ext uri="{FF2B5EF4-FFF2-40B4-BE49-F238E27FC236}">
                <a16:creationId xmlns:a16="http://schemas.microsoft.com/office/drawing/2014/main" id="{AD0C8103-E3D3-381C-0ABD-E9970D41022B}"/>
              </a:ext>
            </a:extLst>
          </p:cNvPr>
          <p:cNvSpPr/>
          <p:nvPr/>
        </p:nvSpPr>
        <p:spPr>
          <a:xfrm rot="1321717">
            <a:off x="-884340" y="1670669"/>
            <a:ext cx="14001442" cy="3750845"/>
          </a:xfrm>
          <a:custGeom>
            <a:avLst/>
            <a:gdLst>
              <a:gd name="csX0" fmla="*/ 0 w 12844974"/>
              <a:gd name="csY0" fmla="*/ 0 h 1931490"/>
              <a:gd name="csX1" fmla="*/ 12844974 w 12844974"/>
              <a:gd name="csY1" fmla="*/ 0 h 1931490"/>
              <a:gd name="csX2" fmla="*/ 12844974 w 12844974"/>
              <a:gd name="csY2" fmla="*/ 1931490 h 1931490"/>
              <a:gd name="csX3" fmla="*/ 0 w 12844974"/>
              <a:gd name="csY3" fmla="*/ 1931490 h 1931490"/>
              <a:gd name="csX4" fmla="*/ 0 w 12844974"/>
              <a:gd name="csY4" fmla="*/ 0 h 1931490"/>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2844974"/>
              <a:gd name="csY0" fmla="*/ 0 h 2825616"/>
              <a:gd name="csX1" fmla="*/ 12844974 w 12844974"/>
              <a:gd name="csY1" fmla="*/ 0 h 2825616"/>
              <a:gd name="csX2" fmla="*/ 12844974 w 12844974"/>
              <a:gd name="csY2" fmla="*/ 1931490 h 2825616"/>
              <a:gd name="csX3" fmla="*/ 982091 w 12844974"/>
              <a:gd name="csY3" fmla="*/ 2825616 h 2825616"/>
              <a:gd name="csX4" fmla="*/ 0 w 12844974"/>
              <a:gd name="csY4" fmla="*/ 0 h 2825616"/>
              <a:gd name="csX0" fmla="*/ 0 w 13714640"/>
              <a:gd name="csY0" fmla="*/ 0 h 2825616"/>
              <a:gd name="csX1" fmla="*/ 12844974 w 13714640"/>
              <a:gd name="csY1" fmla="*/ 0 h 2825616"/>
              <a:gd name="csX2" fmla="*/ 13714640 w 13714640"/>
              <a:gd name="csY2" fmla="*/ 1844017 h 2825616"/>
              <a:gd name="csX3" fmla="*/ 982091 w 13714640"/>
              <a:gd name="csY3" fmla="*/ 2825616 h 2825616"/>
              <a:gd name="csX4" fmla="*/ 0 w 13714640"/>
              <a:gd name="csY4" fmla="*/ 0 h 2825616"/>
              <a:gd name="csX0" fmla="*/ 0 w 13611644"/>
              <a:gd name="csY0" fmla="*/ 0 h 2825616"/>
              <a:gd name="csX1" fmla="*/ 12844974 w 13611644"/>
              <a:gd name="csY1" fmla="*/ 0 h 2825616"/>
              <a:gd name="csX2" fmla="*/ 13611644 w 13611644"/>
              <a:gd name="csY2" fmla="*/ 1916197 h 2825616"/>
              <a:gd name="csX3" fmla="*/ 982091 w 13611644"/>
              <a:gd name="csY3" fmla="*/ 2825616 h 2825616"/>
              <a:gd name="csX4" fmla="*/ 0 w 13611644"/>
              <a:gd name="csY4" fmla="*/ 0 h 2825616"/>
              <a:gd name="csX0" fmla="*/ 0 w 13611644"/>
              <a:gd name="csY0" fmla="*/ 925229 h 3750845"/>
              <a:gd name="csX1" fmla="*/ 12643495 w 13611644"/>
              <a:gd name="csY1" fmla="*/ 0 h 3750845"/>
              <a:gd name="csX2" fmla="*/ 13611644 w 13611644"/>
              <a:gd name="csY2" fmla="*/ 2841426 h 3750845"/>
              <a:gd name="csX3" fmla="*/ 982091 w 13611644"/>
              <a:gd name="csY3" fmla="*/ 3750845 h 3750845"/>
              <a:gd name="csX4" fmla="*/ 0 w 13611644"/>
              <a:gd name="csY4" fmla="*/ 925229 h 3750845"/>
              <a:gd name="csX0" fmla="*/ 0 w 13737319"/>
              <a:gd name="csY0" fmla="*/ 925229 h 3750845"/>
              <a:gd name="csX1" fmla="*/ 12643495 w 13737319"/>
              <a:gd name="csY1" fmla="*/ 0 h 3750845"/>
              <a:gd name="csX2" fmla="*/ 13737319 w 13737319"/>
              <a:gd name="csY2" fmla="*/ 2749899 h 3750845"/>
              <a:gd name="csX3" fmla="*/ 982091 w 13737319"/>
              <a:gd name="csY3" fmla="*/ 3750845 h 3750845"/>
              <a:gd name="csX4" fmla="*/ 0 w 13737319"/>
              <a:gd name="csY4" fmla="*/ 925229 h 3750845"/>
              <a:gd name="csX0" fmla="*/ 0 w 13737319"/>
              <a:gd name="csY0" fmla="*/ 925229 h 3750845"/>
              <a:gd name="csX1" fmla="*/ 12643495 w 13737319"/>
              <a:gd name="csY1" fmla="*/ 0 h 3750845"/>
              <a:gd name="csX2" fmla="*/ 13737319 w 13737319"/>
              <a:gd name="csY2" fmla="*/ 2749899 h 3750845"/>
              <a:gd name="csX3" fmla="*/ 12653303 w 13737319"/>
              <a:gd name="csY3" fmla="*/ 2914588 h 3750845"/>
              <a:gd name="csX4" fmla="*/ 982091 w 13737319"/>
              <a:gd name="csY4" fmla="*/ 3750845 h 3750845"/>
              <a:gd name="csX5" fmla="*/ 0 w 13737319"/>
              <a:gd name="csY5" fmla="*/ 925229 h 3750845"/>
              <a:gd name="csX0" fmla="*/ 0 w 13764831"/>
              <a:gd name="csY0" fmla="*/ 925229 h 3750845"/>
              <a:gd name="csX1" fmla="*/ 12643495 w 13764831"/>
              <a:gd name="csY1" fmla="*/ 0 h 3750845"/>
              <a:gd name="csX2" fmla="*/ 13737319 w 13764831"/>
              <a:gd name="csY2" fmla="*/ 2749899 h 3750845"/>
              <a:gd name="csX3" fmla="*/ 13383150 w 13764831"/>
              <a:gd name="csY3" fmla="*/ 2883685 h 3750845"/>
              <a:gd name="csX4" fmla="*/ 12653303 w 13764831"/>
              <a:gd name="csY4" fmla="*/ 2914588 h 3750845"/>
              <a:gd name="csX5" fmla="*/ 982091 w 13764831"/>
              <a:gd name="csY5" fmla="*/ 3750845 h 3750845"/>
              <a:gd name="csX6" fmla="*/ 0 w 13764831"/>
              <a:gd name="csY6" fmla="*/ 925229 h 3750845"/>
              <a:gd name="csX0" fmla="*/ 0 w 13763300"/>
              <a:gd name="csY0" fmla="*/ 925229 h 3750845"/>
              <a:gd name="csX1" fmla="*/ 12643495 w 13763300"/>
              <a:gd name="csY1" fmla="*/ 0 h 3750845"/>
              <a:gd name="csX2" fmla="*/ 13737319 w 13763300"/>
              <a:gd name="csY2" fmla="*/ 2749899 h 3750845"/>
              <a:gd name="csX3" fmla="*/ 13383150 w 13763300"/>
              <a:gd name="csY3" fmla="*/ 2883685 h 3750845"/>
              <a:gd name="csX4" fmla="*/ 12653303 w 13763300"/>
              <a:gd name="csY4" fmla="*/ 2914588 h 3750845"/>
              <a:gd name="csX5" fmla="*/ 982091 w 13763300"/>
              <a:gd name="csY5" fmla="*/ 3750845 h 3750845"/>
              <a:gd name="csX6" fmla="*/ 0 w 13763300"/>
              <a:gd name="csY6" fmla="*/ 925229 h 3750845"/>
              <a:gd name="csX0" fmla="*/ 0 w 13849907"/>
              <a:gd name="csY0" fmla="*/ 925229 h 3750845"/>
              <a:gd name="csX1" fmla="*/ 12643495 w 13849907"/>
              <a:gd name="csY1" fmla="*/ 0 h 3750845"/>
              <a:gd name="csX2" fmla="*/ 13737319 w 13849907"/>
              <a:gd name="csY2" fmla="*/ 2749899 h 3750845"/>
              <a:gd name="csX3" fmla="*/ 13786536 w 13849907"/>
              <a:gd name="csY3" fmla="*/ 3076394 h 3750845"/>
              <a:gd name="csX4" fmla="*/ 13383150 w 13849907"/>
              <a:gd name="csY4" fmla="*/ 2883685 h 3750845"/>
              <a:gd name="csX5" fmla="*/ 12653303 w 13849907"/>
              <a:gd name="csY5" fmla="*/ 2914588 h 3750845"/>
              <a:gd name="csX6" fmla="*/ 982091 w 13849907"/>
              <a:gd name="csY6" fmla="*/ 3750845 h 3750845"/>
              <a:gd name="csX7" fmla="*/ 0 w 13849907"/>
              <a:gd name="csY7" fmla="*/ 925229 h 3750845"/>
              <a:gd name="csX0" fmla="*/ 0 w 13814255"/>
              <a:gd name="csY0" fmla="*/ 925229 h 3750845"/>
              <a:gd name="csX1" fmla="*/ 12643495 w 13814255"/>
              <a:gd name="csY1" fmla="*/ 0 h 3750845"/>
              <a:gd name="csX2" fmla="*/ 13737319 w 13814255"/>
              <a:gd name="csY2" fmla="*/ 2749899 h 3750845"/>
              <a:gd name="csX3" fmla="*/ 13682737 w 13814255"/>
              <a:gd name="csY3" fmla="*/ 2945516 h 3750845"/>
              <a:gd name="csX4" fmla="*/ 13383150 w 13814255"/>
              <a:gd name="csY4" fmla="*/ 2883685 h 3750845"/>
              <a:gd name="csX5" fmla="*/ 12653303 w 13814255"/>
              <a:gd name="csY5" fmla="*/ 2914588 h 3750845"/>
              <a:gd name="csX6" fmla="*/ 982091 w 13814255"/>
              <a:gd name="csY6" fmla="*/ 3750845 h 3750845"/>
              <a:gd name="csX7" fmla="*/ 0 w 13814255"/>
              <a:gd name="csY7" fmla="*/ 925229 h 3750845"/>
              <a:gd name="csX0" fmla="*/ 0 w 13809295"/>
              <a:gd name="csY0" fmla="*/ 925229 h 3750845"/>
              <a:gd name="csX1" fmla="*/ 12643495 w 13809295"/>
              <a:gd name="csY1" fmla="*/ 0 h 3750845"/>
              <a:gd name="csX2" fmla="*/ 13737319 w 13809295"/>
              <a:gd name="csY2" fmla="*/ 2749899 h 3750845"/>
              <a:gd name="csX3" fmla="*/ 13682737 w 13809295"/>
              <a:gd name="csY3" fmla="*/ 2945516 h 3750845"/>
              <a:gd name="csX4" fmla="*/ 13383150 w 13809295"/>
              <a:gd name="csY4" fmla="*/ 2883685 h 3750845"/>
              <a:gd name="csX5" fmla="*/ 12653303 w 13809295"/>
              <a:gd name="csY5" fmla="*/ 2914588 h 3750845"/>
              <a:gd name="csX6" fmla="*/ 982091 w 13809295"/>
              <a:gd name="csY6" fmla="*/ 3750845 h 3750845"/>
              <a:gd name="csX7" fmla="*/ 0 w 13809295"/>
              <a:gd name="csY7" fmla="*/ 925229 h 3750845"/>
              <a:gd name="csX0" fmla="*/ 0 w 13834441"/>
              <a:gd name="csY0" fmla="*/ 925229 h 3750845"/>
              <a:gd name="csX1" fmla="*/ 12643495 w 13834441"/>
              <a:gd name="csY1" fmla="*/ 0 h 3750845"/>
              <a:gd name="csX2" fmla="*/ 13768738 w 13834441"/>
              <a:gd name="csY2" fmla="*/ 2727018 h 3750845"/>
              <a:gd name="csX3" fmla="*/ 13682737 w 13834441"/>
              <a:gd name="csY3" fmla="*/ 2945516 h 3750845"/>
              <a:gd name="csX4" fmla="*/ 13383150 w 13834441"/>
              <a:gd name="csY4" fmla="*/ 2883685 h 3750845"/>
              <a:gd name="csX5" fmla="*/ 12653303 w 13834441"/>
              <a:gd name="csY5" fmla="*/ 2914588 h 3750845"/>
              <a:gd name="csX6" fmla="*/ 982091 w 13834441"/>
              <a:gd name="csY6" fmla="*/ 3750845 h 3750845"/>
              <a:gd name="csX7" fmla="*/ 0 w 13834441"/>
              <a:gd name="csY7" fmla="*/ 925229 h 3750845"/>
              <a:gd name="csX0" fmla="*/ 0 w 13835682"/>
              <a:gd name="csY0" fmla="*/ 925229 h 3750845"/>
              <a:gd name="csX1" fmla="*/ 12643495 w 13835682"/>
              <a:gd name="csY1" fmla="*/ 0 h 3750845"/>
              <a:gd name="csX2" fmla="*/ 13768738 w 13835682"/>
              <a:gd name="csY2" fmla="*/ 2727018 h 3750845"/>
              <a:gd name="csX3" fmla="*/ 13689406 w 13835682"/>
              <a:gd name="csY3" fmla="*/ 2861465 h 3750845"/>
              <a:gd name="csX4" fmla="*/ 13383150 w 13835682"/>
              <a:gd name="csY4" fmla="*/ 2883685 h 3750845"/>
              <a:gd name="csX5" fmla="*/ 12653303 w 13835682"/>
              <a:gd name="csY5" fmla="*/ 2914588 h 3750845"/>
              <a:gd name="csX6" fmla="*/ 982091 w 13835682"/>
              <a:gd name="csY6" fmla="*/ 3750845 h 3750845"/>
              <a:gd name="csX7" fmla="*/ 0 w 13835682"/>
              <a:gd name="csY7" fmla="*/ 925229 h 3750845"/>
              <a:gd name="csX0" fmla="*/ 0 w 13850727"/>
              <a:gd name="csY0" fmla="*/ 925229 h 3750845"/>
              <a:gd name="csX1" fmla="*/ 12643495 w 13850727"/>
              <a:gd name="csY1" fmla="*/ 0 h 3750845"/>
              <a:gd name="csX2" fmla="*/ 13768738 w 13850727"/>
              <a:gd name="csY2" fmla="*/ 2727018 h 3750845"/>
              <a:gd name="csX3" fmla="*/ 13732499 w 13850727"/>
              <a:gd name="csY3" fmla="*/ 2791324 h 3750845"/>
              <a:gd name="csX4" fmla="*/ 13689406 w 13850727"/>
              <a:gd name="csY4" fmla="*/ 2861465 h 3750845"/>
              <a:gd name="csX5" fmla="*/ 13383150 w 13850727"/>
              <a:gd name="csY5" fmla="*/ 2883685 h 3750845"/>
              <a:gd name="csX6" fmla="*/ 12653303 w 13850727"/>
              <a:gd name="csY6" fmla="*/ 2914588 h 3750845"/>
              <a:gd name="csX7" fmla="*/ 982091 w 13850727"/>
              <a:gd name="csY7" fmla="*/ 3750845 h 3750845"/>
              <a:gd name="csX8" fmla="*/ 0 w 13850727"/>
              <a:gd name="csY8" fmla="*/ 925229 h 3750845"/>
              <a:gd name="csX0" fmla="*/ 0 w 13852616"/>
              <a:gd name="csY0" fmla="*/ 925229 h 3750845"/>
              <a:gd name="csX1" fmla="*/ 12643495 w 13852616"/>
              <a:gd name="csY1" fmla="*/ 0 h 3750845"/>
              <a:gd name="csX2" fmla="*/ 13768738 w 13852616"/>
              <a:gd name="csY2" fmla="*/ 2727018 h 3750845"/>
              <a:gd name="csX3" fmla="*/ 13746440 w 13852616"/>
              <a:gd name="csY3" fmla="*/ 2775514 h 3750845"/>
              <a:gd name="csX4" fmla="*/ 13732499 w 13852616"/>
              <a:gd name="csY4" fmla="*/ 2791324 h 3750845"/>
              <a:gd name="csX5" fmla="*/ 13689406 w 13852616"/>
              <a:gd name="csY5" fmla="*/ 2861465 h 3750845"/>
              <a:gd name="csX6" fmla="*/ 13383150 w 13852616"/>
              <a:gd name="csY6" fmla="*/ 2883685 h 3750845"/>
              <a:gd name="csX7" fmla="*/ 12653303 w 13852616"/>
              <a:gd name="csY7" fmla="*/ 2914588 h 3750845"/>
              <a:gd name="csX8" fmla="*/ 982091 w 13852616"/>
              <a:gd name="csY8" fmla="*/ 3750845 h 3750845"/>
              <a:gd name="csX9" fmla="*/ 0 w 13852616"/>
              <a:gd name="csY9" fmla="*/ 925229 h 3750845"/>
              <a:gd name="csX0" fmla="*/ 0 w 14001442"/>
              <a:gd name="csY0" fmla="*/ 862144 h 3750845"/>
              <a:gd name="csX1" fmla="*/ 12792321 w 14001442"/>
              <a:gd name="csY1" fmla="*/ 0 h 3750845"/>
              <a:gd name="csX2" fmla="*/ 13917564 w 14001442"/>
              <a:gd name="csY2" fmla="*/ 2727018 h 3750845"/>
              <a:gd name="csX3" fmla="*/ 13895266 w 14001442"/>
              <a:gd name="csY3" fmla="*/ 2775514 h 3750845"/>
              <a:gd name="csX4" fmla="*/ 13881325 w 14001442"/>
              <a:gd name="csY4" fmla="*/ 2791324 h 3750845"/>
              <a:gd name="csX5" fmla="*/ 13838232 w 14001442"/>
              <a:gd name="csY5" fmla="*/ 2861465 h 3750845"/>
              <a:gd name="csX6" fmla="*/ 13531976 w 14001442"/>
              <a:gd name="csY6" fmla="*/ 2883685 h 3750845"/>
              <a:gd name="csX7" fmla="*/ 12802129 w 14001442"/>
              <a:gd name="csY7" fmla="*/ 2914588 h 3750845"/>
              <a:gd name="csX8" fmla="*/ 1130917 w 14001442"/>
              <a:gd name="csY8" fmla="*/ 3750845 h 3750845"/>
              <a:gd name="csX9" fmla="*/ 0 w 14001442"/>
              <a:gd name="csY9" fmla="*/ 862144 h 37508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001442" h="3750845">
                <a:moveTo>
                  <a:pt x="0" y="862144"/>
                </a:moveTo>
                <a:lnTo>
                  <a:pt x="12792321" y="0"/>
                </a:lnTo>
                <a:lnTo>
                  <a:pt x="13917564" y="2727018"/>
                </a:lnTo>
                <a:cubicBezTo>
                  <a:pt x="14115776" y="3212595"/>
                  <a:pt x="13901306" y="2764796"/>
                  <a:pt x="13895266" y="2775514"/>
                </a:cubicBezTo>
                <a:cubicBezTo>
                  <a:pt x="13889226" y="2786232"/>
                  <a:pt x="13905218" y="2799990"/>
                  <a:pt x="13881325" y="2791324"/>
                </a:cubicBezTo>
                <a:cubicBezTo>
                  <a:pt x="13857432" y="2782658"/>
                  <a:pt x="13912890" y="2869930"/>
                  <a:pt x="13838232" y="2861465"/>
                </a:cubicBezTo>
                <a:cubicBezTo>
                  <a:pt x="13779204" y="2883763"/>
                  <a:pt x="13705594" y="2889707"/>
                  <a:pt x="13531976" y="2883685"/>
                </a:cubicBezTo>
                <a:cubicBezTo>
                  <a:pt x="13351307" y="2911133"/>
                  <a:pt x="14864258" y="2758410"/>
                  <a:pt x="12802129" y="2914588"/>
                </a:cubicBezTo>
                <a:lnTo>
                  <a:pt x="1130917" y="3750845"/>
                </a:lnTo>
                <a:lnTo>
                  <a:pt x="0" y="862144"/>
                </a:lnTo>
                <a:close/>
              </a:path>
            </a:pathLst>
          </a:custGeom>
          <a:solidFill>
            <a:srgbClr val="948F7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39EE3CB-9CEB-EE87-6A8A-345EBC1EFEF5}"/>
              </a:ext>
            </a:extLst>
          </p:cNvPr>
          <p:cNvSpPr txBox="1"/>
          <p:nvPr/>
        </p:nvSpPr>
        <p:spPr>
          <a:xfrm rot="1230674">
            <a:off x="3097710" y="3056996"/>
            <a:ext cx="5682024" cy="769441"/>
          </a:xfrm>
          <a:prstGeom prst="rect">
            <a:avLst/>
          </a:prstGeom>
          <a:noFill/>
        </p:spPr>
        <p:txBody>
          <a:bodyPr wrap="square" rtlCol="0">
            <a:spAutoFit/>
          </a:bodyPr>
          <a:lstStyle/>
          <a:p>
            <a:pPr algn="ctr"/>
            <a:r>
              <a:rPr lang="en-US" sz="4400" dirty="0">
                <a:latin typeface="Magneto" panose="04030805050802020D02" pitchFamily="82" charset="0"/>
              </a:rPr>
              <a:t>What’s the Game?</a:t>
            </a:r>
          </a:p>
        </p:txBody>
      </p:sp>
      <p:sp>
        <p:nvSpPr>
          <p:cNvPr id="5" name="TextBox 4">
            <a:extLst>
              <a:ext uri="{FF2B5EF4-FFF2-40B4-BE49-F238E27FC236}">
                <a16:creationId xmlns:a16="http://schemas.microsoft.com/office/drawing/2014/main" id="{BEFDB82A-72DF-19AB-AA68-B352E46368F8}"/>
              </a:ext>
            </a:extLst>
          </p:cNvPr>
          <p:cNvSpPr txBox="1"/>
          <p:nvPr/>
        </p:nvSpPr>
        <p:spPr>
          <a:xfrm rot="20573612">
            <a:off x="67530" y="4191107"/>
            <a:ext cx="2901221" cy="646331"/>
          </a:xfrm>
          <a:prstGeom prst="rect">
            <a:avLst/>
          </a:prstGeom>
          <a:noFill/>
        </p:spPr>
        <p:txBody>
          <a:bodyPr wrap="square" rtlCol="0">
            <a:spAutoFit/>
          </a:bodyPr>
          <a:lstStyle/>
          <a:p>
            <a:endParaRPr lang="en-US" dirty="0"/>
          </a:p>
          <a:p>
            <a:r>
              <a:rPr lang="en-US" dirty="0">
                <a:solidFill>
                  <a:schemeClr val="bg1"/>
                </a:solidFill>
                <a:latin typeface="Rockwell" panose="02060603020205020403" pitchFamily="18" charset="0"/>
              </a:rPr>
              <a:t>10 Seconds per Question</a:t>
            </a:r>
          </a:p>
        </p:txBody>
      </p:sp>
      <p:sp>
        <p:nvSpPr>
          <p:cNvPr id="6" name="TextBox 5">
            <a:extLst>
              <a:ext uri="{FF2B5EF4-FFF2-40B4-BE49-F238E27FC236}">
                <a16:creationId xmlns:a16="http://schemas.microsoft.com/office/drawing/2014/main" id="{5422C6D9-BCF4-665F-C579-6C0939B1038D}"/>
              </a:ext>
            </a:extLst>
          </p:cNvPr>
          <p:cNvSpPr txBox="1"/>
          <p:nvPr/>
        </p:nvSpPr>
        <p:spPr>
          <a:xfrm rot="1340867">
            <a:off x="4764106" y="5711638"/>
            <a:ext cx="4160139" cy="369332"/>
          </a:xfrm>
          <a:prstGeom prst="rect">
            <a:avLst/>
          </a:prstGeom>
          <a:noFill/>
        </p:spPr>
        <p:txBody>
          <a:bodyPr wrap="square" rtlCol="0">
            <a:spAutoFit/>
          </a:bodyPr>
          <a:lstStyle/>
          <a:p>
            <a:r>
              <a:rPr lang="en-US" dirty="0">
                <a:solidFill>
                  <a:schemeClr val="bg1"/>
                </a:solidFill>
                <a:latin typeface="Rockwell" panose="02060603020205020403" pitchFamily="18" charset="0"/>
              </a:rPr>
              <a:t>No right or wrong answers</a:t>
            </a:r>
          </a:p>
        </p:txBody>
      </p:sp>
      <p:sp>
        <p:nvSpPr>
          <p:cNvPr id="8" name="TextBox 7">
            <a:extLst>
              <a:ext uri="{FF2B5EF4-FFF2-40B4-BE49-F238E27FC236}">
                <a16:creationId xmlns:a16="http://schemas.microsoft.com/office/drawing/2014/main" id="{B02A0764-B84A-CC6B-863E-7FD20A02501E}"/>
              </a:ext>
            </a:extLst>
          </p:cNvPr>
          <p:cNvSpPr txBox="1"/>
          <p:nvPr/>
        </p:nvSpPr>
        <p:spPr>
          <a:xfrm rot="21002005">
            <a:off x="7070382" y="1032219"/>
            <a:ext cx="4532642" cy="369332"/>
          </a:xfrm>
          <a:prstGeom prst="rect">
            <a:avLst/>
          </a:prstGeom>
          <a:noFill/>
        </p:spPr>
        <p:txBody>
          <a:bodyPr wrap="square" rtlCol="0">
            <a:spAutoFit/>
          </a:bodyPr>
          <a:lstStyle/>
          <a:p>
            <a:r>
              <a:rPr lang="en-US" dirty="0">
                <a:solidFill>
                  <a:schemeClr val="bg1"/>
                </a:solidFill>
                <a:latin typeface="Rockwell" panose="02060603020205020403" pitchFamily="18" charset="0"/>
              </a:rPr>
              <a:t>Don’t Overthink it</a:t>
            </a:r>
          </a:p>
        </p:txBody>
      </p:sp>
      <p:grpSp>
        <p:nvGrpSpPr>
          <p:cNvPr id="21" name="Group 20">
            <a:extLst>
              <a:ext uri="{FF2B5EF4-FFF2-40B4-BE49-F238E27FC236}">
                <a16:creationId xmlns:a16="http://schemas.microsoft.com/office/drawing/2014/main" id="{2FBAF268-3885-5AD6-7364-36711BCBF3F5}"/>
              </a:ext>
            </a:extLst>
          </p:cNvPr>
          <p:cNvGrpSpPr/>
          <p:nvPr/>
        </p:nvGrpSpPr>
        <p:grpSpPr>
          <a:xfrm>
            <a:off x="-12391" y="-19143305"/>
            <a:ext cx="12198932" cy="26123017"/>
            <a:chOff x="-14854832" y="7894112"/>
            <a:chExt cx="12198932" cy="26123017"/>
          </a:xfrm>
        </p:grpSpPr>
        <p:pic>
          <p:nvPicPr>
            <p:cNvPr id="26" name="Picture 25">
              <a:extLst>
                <a:ext uri="{FF2B5EF4-FFF2-40B4-BE49-F238E27FC236}">
                  <a16:creationId xmlns:a16="http://schemas.microsoft.com/office/drawing/2014/main" id="{967EBFA1-180E-F63E-8B97-6CED61F59526}"/>
                </a:ext>
              </a:extLst>
            </p:cNvPr>
            <p:cNvPicPr>
              <a:picLocks noChangeAspect="1"/>
            </p:cNvPicPr>
            <p:nvPr/>
          </p:nvPicPr>
          <p:blipFill>
            <a:blip r:embed="rId4">
              <a:extLst>
                <a:ext uri="{28A0092B-C50C-407E-A947-70E740481C1C}">
                  <a14:useLocalDpi xmlns:a14="http://schemas.microsoft.com/office/drawing/2010/main" val="0"/>
                </a:ext>
              </a:extLst>
            </a:blip>
            <a:srcRect l="35614" t="18232" r="39512" b="1868"/>
            <a:stretch>
              <a:fillRect/>
            </a:stretch>
          </p:blipFill>
          <p:spPr>
            <a:xfrm>
              <a:off x="-14854832" y="7894112"/>
              <a:ext cx="12198932" cy="26123017"/>
            </a:xfrm>
            <a:prstGeom prst="rect">
              <a:avLst/>
            </a:prstGeom>
          </p:spPr>
        </p:pic>
        <p:grpSp>
          <p:nvGrpSpPr>
            <p:cNvPr id="27" name="Group 26">
              <a:extLst>
                <a:ext uri="{FF2B5EF4-FFF2-40B4-BE49-F238E27FC236}">
                  <a16:creationId xmlns:a16="http://schemas.microsoft.com/office/drawing/2014/main" id="{798DDCC2-CD4F-1739-DAD2-E74AEFFC9795}"/>
                </a:ext>
              </a:extLst>
            </p:cNvPr>
            <p:cNvGrpSpPr/>
            <p:nvPr/>
          </p:nvGrpSpPr>
          <p:grpSpPr>
            <a:xfrm>
              <a:off x="-12495262" y="9886089"/>
              <a:ext cx="7479792" cy="3711284"/>
              <a:chOff x="-795528" y="10343176"/>
              <a:chExt cx="7479792" cy="3711284"/>
            </a:xfrm>
          </p:grpSpPr>
          <p:sp>
            <p:nvSpPr>
              <p:cNvPr id="83" name="Rectangle: Rounded Corners 82">
                <a:extLst>
                  <a:ext uri="{FF2B5EF4-FFF2-40B4-BE49-F238E27FC236}">
                    <a16:creationId xmlns:a16="http://schemas.microsoft.com/office/drawing/2014/main" id="{8D1E9ED9-AC03-D6EB-E843-CEEA562DBD7C}"/>
                  </a:ext>
                </a:extLst>
              </p:cNvPr>
              <p:cNvSpPr/>
              <p:nvPr/>
            </p:nvSpPr>
            <p:spPr>
              <a:xfrm>
                <a:off x="-795528" y="10343176"/>
                <a:ext cx="7479792" cy="371128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TextBox 83">
                <a:extLst>
                  <a:ext uri="{FF2B5EF4-FFF2-40B4-BE49-F238E27FC236}">
                    <a16:creationId xmlns:a16="http://schemas.microsoft.com/office/drawing/2014/main" id="{5B7BBB21-DD54-C73D-2004-941253D97DD5}"/>
                  </a:ext>
                </a:extLst>
              </p:cNvPr>
              <p:cNvSpPr txBox="1"/>
              <p:nvPr/>
            </p:nvSpPr>
            <p:spPr>
              <a:xfrm>
                <a:off x="-533126" y="11268184"/>
                <a:ext cx="1779939" cy="1569660"/>
              </a:xfrm>
              <a:prstGeom prst="rect">
                <a:avLst/>
              </a:prstGeom>
              <a:noFill/>
            </p:spPr>
            <p:txBody>
              <a:bodyPr wrap="square" rtlCol="0">
                <a:spAutoFit/>
              </a:bodyPr>
              <a:lstStyle/>
              <a:p>
                <a:r>
                  <a:rPr lang="en-US" sz="9600" dirty="0">
                    <a:solidFill>
                      <a:schemeClr val="bg2">
                        <a:lumMod val="10000"/>
                      </a:schemeClr>
                    </a:solidFill>
                    <a:latin typeface="Rockwell Extra Bold" panose="02060903040505020403" pitchFamily="18" charset="0"/>
                  </a:rPr>
                  <a:t>1.</a:t>
                </a:r>
              </a:p>
            </p:txBody>
          </p:sp>
          <p:sp>
            <p:nvSpPr>
              <p:cNvPr id="85" name="TextBox 84">
                <a:extLst>
                  <a:ext uri="{FF2B5EF4-FFF2-40B4-BE49-F238E27FC236}">
                    <a16:creationId xmlns:a16="http://schemas.microsoft.com/office/drawing/2014/main" id="{C9FBB41A-69F4-EA34-5DE1-0D69421D15A2}"/>
                  </a:ext>
                </a:extLst>
              </p:cNvPr>
              <p:cNvSpPr txBox="1"/>
              <p:nvPr/>
            </p:nvSpPr>
            <p:spPr>
              <a:xfrm>
                <a:off x="1246813" y="10620664"/>
                <a:ext cx="5178309" cy="2062103"/>
              </a:xfrm>
              <a:prstGeom prst="rect">
                <a:avLst/>
              </a:prstGeom>
              <a:noFill/>
            </p:spPr>
            <p:txBody>
              <a:bodyPr wrap="square" rtlCol="0">
                <a:spAutoFit/>
              </a:bodyPr>
              <a:lstStyle/>
              <a:p>
                <a:endParaRPr lang="en-US" sz="3200" i="1" dirty="0"/>
              </a:p>
              <a:p>
                <a:r>
                  <a:rPr lang="en-US" sz="3200" i="1" dirty="0"/>
                  <a:t>AI is mostly only useful for generating text in tools like ChatGPT or Gemini.</a:t>
                </a:r>
                <a:endParaRPr lang="en-US" sz="3200" dirty="0"/>
              </a:p>
            </p:txBody>
          </p:sp>
          <p:sp>
            <p:nvSpPr>
              <p:cNvPr id="86" name="TextBox 85">
                <a:extLst>
                  <a:ext uri="{FF2B5EF4-FFF2-40B4-BE49-F238E27FC236}">
                    <a16:creationId xmlns:a16="http://schemas.microsoft.com/office/drawing/2014/main" id="{E7322C98-0725-6425-F211-11E00BE0376A}"/>
                  </a:ext>
                </a:extLst>
              </p:cNvPr>
              <p:cNvSpPr txBox="1"/>
              <p:nvPr/>
            </p:nvSpPr>
            <p:spPr>
              <a:xfrm>
                <a:off x="646709" y="13001822"/>
                <a:ext cx="5487434" cy="461665"/>
              </a:xfrm>
              <a:prstGeom prst="rect">
                <a:avLst/>
              </a:prstGeom>
              <a:noFill/>
            </p:spPr>
            <p:txBody>
              <a:bodyPr wrap="square" rtlCol="0">
                <a:spAutoFit/>
              </a:bodyPr>
              <a:lstStyle/>
              <a:p>
                <a:r>
                  <a:rPr lang="en-US" sz="2400" b="1" dirty="0">
                    <a:latin typeface="Arial Black" panose="020B0A04020102020204" pitchFamily="34" charset="0"/>
                  </a:rPr>
                  <a:t>A) True                      B) False</a:t>
                </a:r>
              </a:p>
            </p:txBody>
          </p:sp>
        </p:grpSp>
        <p:grpSp>
          <p:nvGrpSpPr>
            <p:cNvPr id="30" name="Group 29">
              <a:extLst>
                <a:ext uri="{FF2B5EF4-FFF2-40B4-BE49-F238E27FC236}">
                  <a16:creationId xmlns:a16="http://schemas.microsoft.com/office/drawing/2014/main" id="{3C71DC93-47E5-A092-CE2E-DEB4B91838F6}"/>
                </a:ext>
              </a:extLst>
            </p:cNvPr>
            <p:cNvGrpSpPr/>
            <p:nvPr/>
          </p:nvGrpSpPr>
          <p:grpSpPr>
            <a:xfrm>
              <a:off x="-12495262" y="16548824"/>
              <a:ext cx="7479792" cy="3711284"/>
              <a:chOff x="2523877" y="7784497"/>
              <a:chExt cx="7479792" cy="3711284"/>
            </a:xfrm>
          </p:grpSpPr>
          <p:sp>
            <p:nvSpPr>
              <p:cNvPr id="43" name="Rectangle: Rounded Corners 42">
                <a:extLst>
                  <a:ext uri="{FF2B5EF4-FFF2-40B4-BE49-F238E27FC236}">
                    <a16:creationId xmlns:a16="http://schemas.microsoft.com/office/drawing/2014/main" id="{36E09804-AC61-7960-DEDD-FDA522455D2B}"/>
                  </a:ext>
                </a:extLst>
              </p:cNvPr>
              <p:cNvSpPr/>
              <p:nvPr/>
            </p:nvSpPr>
            <p:spPr>
              <a:xfrm>
                <a:off x="2523877" y="7784497"/>
                <a:ext cx="7479792" cy="371128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C3372E4C-41BE-3CA3-0EE9-D98B0955AB3C}"/>
                  </a:ext>
                </a:extLst>
              </p:cNvPr>
              <p:cNvSpPr txBox="1"/>
              <p:nvPr/>
            </p:nvSpPr>
            <p:spPr>
              <a:xfrm>
                <a:off x="2764703" y="8893170"/>
                <a:ext cx="1779939" cy="1569660"/>
              </a:xfrm>
              <a:prstGeom prst="rect">
                <a:avLst/>
              </a:prstGeom>
              <a:noFill/>
            </p:spPr>
            <p:txBody>
              <a:bodyPr wrap="square" rtlCol="0">
                <a:spAutoFit/>
              </a:bodyPr>
              <a:lstStyle/>
              <a:p>
                <a:r>
                  <a:rPr lang="en-US" sz="9600" dirty="0">
                    <a:solidFill>
                      <a:schemeClr val="bg2">
                        <a:lumMod val="10000"/>
                      </a:schemeClr>
                    </a:solidFill>
                    <a:latin typeface="Rockwell Extra Bold" panose="02060903040505020403" pitchFamily="18" charset="0"/>
                  </a:rPr>
                  <a:t>2.</a:t>
                </a:r>
              </a:p>
            </p:txBody>
          </p:sp>
          <p:sp>
            <p:nvSpPr>
              <p:cNvPr id="81" name="TextBox 80">
                <a:extLst>
                  <a:ext uri="{FF2B5EF4-FFF2-40B4-BE49-F238E27FC236}">
                    <a16:creationId xmlns:a16="http://schemas.microsoft.com/office/drawing/2014/main" id="{A8486135-2234-0AF9-9239-D1FB3DA411C4}"/>
                  </a:ext>
                </a:extLst>
              </p:cNvPr>
              <p:cNvSpPr txBox="1"/>
              <p:nvPr/>
            </p:nvSpPr>
            <p:spPr>
              <a:xfrm>
                <a:off x="4596796" y="8298888"/>
                <a:ext cx="5178309" cy="1569660"/>
              </a:xfrm>
              <a:prstGeom prst="rect">
                <a:avLst/>
              </a:prstGeom>
              <a:noFill/>
            </p:spPr>
            <p:txBody>
              <a:bodyPr wrap="square" rtlCol="0">
                <a:spAutoFit/>
              </a:bodyPr>
              <a:lstStyle/>
              <a:p>
                <a:endParaRPr lang="en-US" sz="3200" i="1" dirty="0"/>
              </a:p>
              <a:p>
                <a:r>
                  <a:rPr lang="en-US" sz="3200" i="1" dirty="0"/>
                  <a:t>AI will replace most jobs in the future.</a:t>
                </a:r>
                <a:endParaRPr lang="en-US" sz="3200" dirty="0"/>
              </a:p>
            </p:txBody>
          </p:sp>
          <p:sp>
            <p:nvSpPr>
              <p:cNvPr id="82" name="TextBox 81">
                <a:extLst>
                  <a:ext uri="{FF2B5EF4-FFF2-40B4-BE49-F238E27FC236}">
                    <a16:creationId xmlns:a16="http://schemas.microsoft.com/office/drawing/2014/main" id="{267FF99C-56C5-6A1C-4CEE-5CD3A8D3A437}"/>
                  </a:ext>
                </a:extLst>
              </p:cNvPr>
              <p:cNvSpPr txBox="1"/>
              <p:nvPr/>
            </p:nvSpPr>
            <p:spPr>
              <a:xfrm>
                <a:off x="4013737" y="10551052"/>
                <a:ext cx="5487434" cy="461665"/>
              </a:xfrm>
              <a:prstGeom prst="rect">
                <a:avLst/>
              </a:prstGeom>
              <a:noFill/>
            </p:spPr>
            <p:txBody>
              <a:bodyPr wrap="square" rtlCol="0">
                <a:spAutoFit/>
              </a:bodyPr>
              <a:lstStyle/>
              <a:p>
                <a:r>
                  <a:rPr lang="en-US" sz="2400" b="1" dirty="0">
                    <a:latin typeface="Arial Black" panose="020B0A04020102020204" pitchFamily="34" charset="0"/>
                  </a:rPr>
                  <a:t>A) True                      B) False</a:t>
                </a:r>
              </a:p>
            </p:txBody>
          </p:sp>
        </p:grpSp>
        <p:grpSp>
          <p:nvGrpSpPr>
            <p:cNvPr id="31" name="Group 30">
              <a:extLst>
                <a:ext uri="{FF2B5EF4-FFF2-40B4-BE49-F238E27FC236}">
                  <a16:creationId xmlns:a16="http://schemas.microsoft.com/office/drawing/2014/main" id="{650B6EB5-4EFE-272B-503F-B885EBD4E810}"/>
                </a:ext>
              </a:extLst>
            </p:cNvPr>
            <p:cNvGrpSpPr/>
            <p:nvPr/>
          </p:nvGrpSpPr>
          <p:grpSpPr>
            <a:xfrm>
              <a:off x="-12495262" y="22974320"/>
              <a:ext cx="7479792" cy="3711284"/>
              <a:chOff x="-14975864" y="12589286"/>
              <a:chExt cx="7479792" cy="3711284"/>
            </a:xfrm>
          </p:grpSpPr>
          <p:sp>
            <p:nvSpPr>
              <p:cNvPr id="39" name="Rectangle: Rounded Corners 38">
                <a:extLst>
                  <a:ext uri="{FF2B5EF4-FFF2-40B4-BE49-F238E27FC236}">
                    <a16:creationId xmlns:a16="http://schemas.microsoft.com/office/drawing/2014/main" id="{13AD4789-6869-2B40-F1B6-D1540F5FB017}"/>
                  </a:ext>
                </a:extLst>
              </p:cNvPr>
              <p:cNvSpPr/>
              <p:nvPr/>
            </p:nvSpPr>
            <p:spPr>
              <a:xfrm>
                <a:off x="-14975864" y="12589286"/>
                <a:ext cx="7479792" cy="371128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134C85D7-AA50-6526-0377-31EDEAE8727A}"/>
                  </a:ext>
                </a:extLst>
              </p:cNvPr>
              <p:cNvSpPr txBox="1"/>
              <p:nvPr/>
            </p:nvSpPr>
            <p:spPr>
              <a:xfrm>
                <a:off x="-14667105" y="13631134"/>
                <a:ext cx="1779939" cy="1569660"/>
              </a:xfrm>
              <a:prstGeom prst="rect">
                <a:avLst/>
              </a:prstGeom>
              <a:noFill/>
            </p:spPr>
            <p:txBody>
              <a:bodyPr wrap="square" rtlCol="0">
                <a:spAutoFit/>
              </a:bodyPr>
              <a:lstStyle/>
              <a:p>
                <a:r>
                  <a:rPr lang="en-US" sz="9600" dirty="0">
                    <a:solidFill>
                      <a:schemeClr val="bg2">
                        <a:lumMod val="10000"/>
                      </a:schemeClr>
                    </a:solidFill>
                    <a:latin typeface="Rockwell Extra Bold" panose="02060903040505020403" pitchFamily="18" charset="0"/>
                  </a:rPr>
                  <a:t>3.</a:t>
                </a:r>
              </a:p>
            </p:txBody>
          </p:sp>
          <p:sp>
            <p:nvSpPr>
              <p:cNvPr id="41" name="TextBox 40">
                <a:extLst>
                  <a:ext uri="{FF2B5EF4-FFF2-40B4-BE49-F238E27FC236}">
                    <a16:creationId xmlns:a16="http://schemas.microsoft.com/office/drawing/2014/main" id="{D0EC45BF-503F-C124-2394-E407C02D3849}"/>
                  </a:ext>
                </a:extLst>
              </p:cNvPr>
              <p:cNvSpPr txBox="1"/>
              <p:nvPr/>
            </p:nvSpPr>
            <p:spPr>
              <a:xfrm>
                <a:off x="-12902946" y="12704638"/>
                <a:ext cx="5178309" cy="2431435"/>
              </a:xfrm>
              <a:prstGeom prst="rect">
                <a:avLst/>
              </a:prstGeom>
              <a:noFill/>
            </p:spPr>
            <p:txBody>
              <a:bodyPr wrap="square" rtlCol="0">
                <a:spAutoFit/>
              </a:bodyPr>
              <a:lstStyle/>
              <a:p>
                <a:endParaRPr lang="en-US" sz="2400" i="1" dirty="0"/>
              </a:p>
              <a:p>
                <a:r>
                  <a:rPr lang="en-US" sz="3200" i="1" dirty="0"/>
                  <a:t>AI-generated content (text, images, code) is now indistinguishable from human-created work.</a:t>
                </a:r>
                <a:endParaRPr lang="en-US" sz="3200" dirty="0"/>
              </a:p>
            </p:txBody>
          </p:sp>
          <p:sp>
            <p:nvSpPr>
              <p:cNvPr id="42" name="TextBox 41">
                <a:extLst>
                  <a:ext uri="{FF2B5EF4-FFF2-40B4-BE49-F238E27FC236}">
                    <a16:creationId xmlns:a16="http://schemas.microsoft.com/office/drawing/2014/main" id="{929D6B99-1904-43E8-0AA3-BA343CA0F594}"/>
                  </a:ext>
                </a:extLst>
              </p:cNvPr>
              <p:cNvSpPr txBox="1"/>
              <p:nvPr/>
            </p:nvSpPr>
            <p:spPr>
              <a:xfrm>
                <a:off x="-13564475" y="15314503"/>
                <a:ext cx="5487434" cy="461665"/>
              </a:xfrm>
              <a:prstGeom prst="rect">
                <a:avLst/>
              </a:prstGeom>
              <a:noFill/>
            </p:spPr>
            <p:txBody>
              <a:bodyPr wrap="square" rtlCol="0">
                <a:spAutoFit/>
              </a:bodyPr>
              <a:lstStyle/>
              <a:p>
                <a:r>
                  <a:rPr lang="en-US" sz="2400" b="1" dirty="0">
                    <a:latin typeface="Arial Black" panose="020B0A04020102020204" pitchFamily="34" charset="0"/>
                  </a:rPr>
                  <a:t>A) True                      B) False</a:t>
                </a:r>
              </a:p>
            </p:txBody>
          </p:sp>
        </p:grpSp>
        <p:grpSp>
          <p:nvGrpSpPr>
            <p:cNvPr id="32" name="Group 31">
              <a:extLst>
                <a:ext uri="{FF2B5EF4-FFF2-40B4-BE49-F238E27FC236}">
                  <a16:creationId xmlns:a16="http://schemas.microsoft.com/office/drawing/2014/main" id="{B9438E1B-6AEB-0F26-BAEF-8800C326339D}"/>
                </a:ext>
              </a:extLst>
            </p:cNvPr>
            <p:cNvGrpSpPr/>
            <p:nvPr/>
          </p:nvGrpSpPr>
          <p:grpSpPr>
            <a:xfrm>
              <a:off x="-12390279" y="29066616"/>
              <a:ext cx="7479792" cy="3711284"/>
              <a:chOff x="-15189416" y="19796761"/>
              <a:chExt cx="7479792" cy="3711284"/>
            </a:xfrm>
          </p:grpSpPr>
          <p:sp>
            <p:nvSpPr>
              <p:cNvPr id="33" name="Rectangle: Rounded Corners 32">
                <a:extLst>
                  <a:ext uri="{FF2B5EF4-FFF2-40B4-BE49-F238E27FC236}">
                    <a16:creationId xmlns:a16="http://schemas.microsoft.com/office/drawing/2014/main" id="{017881DA-9E81-DCA5-B10A-1B1758DB10A8}"/>
                  </a:ext>
                </a:extLst>
              </p:cNvPr>
              <p:cNvSpPr/>
              <p:nvPr/>
            </p:nvSpPr>
            <p:spPr>
              <a:xfrm>
                <a:off x="-15189416" y="19796761"/>
                <a:ext cx="7479792" cy="371128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2B69F5B4-5D7E-88EE-75D7-09273BE0D81E}"/>
                  </a:ext>
                </a:extLst>
              </p:cNvPr>
              <p:cNvSpPr txBox="1"/>
              <p:nvPr/>
            </p:nvSpPr>
            <p:spPr>
              <a:xfrm>
                <a:off x="-14975102" y="20867573"/>
                <a:ext cx="1779939" cy="1569660"/>
              </a:xfrm>
              <a:prstGeom prst="rect">
                <a:avLst/>
              </a:prstGeom>
              <a:noFill/>
            </p:spPr>
            <p:txBody>
              <a:bodyPr wrap="square" rtlCol="0">
                <a:spAutoFit/>
              </a:bodyPr>
              <a:lstStyle/>
              <a:p>
                <a:r>
                  <a:rPr lang="en-US" sz="9600" dirty="0">
                    <a:solidFill>
                      <a:schemeClr val="bg2">
                        <a:lumMod val="10000"/>
                      </a:schemeClr>
                    </a:solidFill>
                    <a:latin typeface="Rockwell Extra Bold" panose="02060903040505020403" pitchFamily="18" charset="0"/>
                  </a:rPr>
                  <a:t>4.</a:t>
                </a:r>
              </a:p>
            </p:txBody>
          </p:sp>
          <p:sp>
            <p:nvSpPr>
              <p:cNvPr id="37" name="TextBox 36">
                <a:extLst>
                  <a:ext uri="{FF2B5EF4-FFF2-40B4-BE49-F238E27FC236}">
                    <a16:creationId xmlns:a16="http://schemas.microsoft.com/office/drawing/2014/main" id="{3A025B49-14FE-9CDE-A339-A4471683BBFF}"/>
                  </a:ext>
                </a:extLst>
              </p:cNvPr>
              <p:cNvSpPr txBox="1"/>
              <p:nvPr/>
            </p:nvSpPr>
            <p:spPr>
              <a:xfrm>
                <a:off x="-13158262" y="21011169"/>
                <a:ext cx="5178309" cy="1569660"/>
              </a:xfrm>
              <a:prstGeom prst="rect">
                <a:avLst/>
              </a:prstGeom>
              <a:noFill/>
            </p:spPr>
            <p:txBody>
              <a:bodyPr wrap="square" rtlCol="0">
                <a:spAutoFit/>
              </a:bodyPr>
              <a:lstStyle/>
              <a:p>
                <a:r>
                  <a:rPr lang="en-US" sz="3200" i="1" dirty="0"/>
                  <a:t>AI is working like a human brain.</a:t>
                </a:r>
              </a:p>
              <a:p>
                <a:endParaRPr lang="en-US" sz="3200" dirty="0"/>
              </a:p>
            </p:txBody>
          </p:sp>
          <p:sp>
            <p:nvSpPr>
              <p:cNvPr id="38" name="TextBox 37">
                <a:extLst>
                  <a:ext uri="{FF2B5EF4-FFF2-40B4-BE49-F238E27FC236}">
                    <a16:creationId xmlns:a16="http://schemas.microsoft.com/office/drawing/2014/main" id="{E4F470F6-8EF8-0CF2-46D4-8A0789406F52}"/>
                  </a:ext>
                </a:extLst>
              </p:cNvPr>
              <p:cNvSpPr txBox="1"/>
              <p:nvPr/>
            </p:nvSpPr>
            <p:spPr>
              <a:xfrm>
                <a:off x="-13795267" y="22510973"/>
                <a:ext cx="5487434" cy="461665"/>
              </a:xfrm>
              <a:prstGeom prst="rect">
                <a:avLst/>
              </a:prstGeom>
              <a:noFill/>
            </p:spPr>
            <p:txBody>
              <a:bodyPr wrap="square" rtlCol="0">
                <a:spAutoFit/>
              </a:bodyPr>
              <a:lstStyle/>
              <a:p>
                <a:r>
                  <a:rPr lang="en-US" sz="2400" b="1" dirty="0">
                    <a:latin typeface="Arial Black" panose="020B0A04020102020204" pitchFamily="34" charset="0"/>
                  </a:rPr>
                  <a:t>A) True                      B) False</a:t>
                </a:r>
              </a:p>
            </p:txBody>
          </p:sp>
        </p:grpSp>
      </p:grpSp>
      <p:grpSp>
        <p:nvGrpSpPr>
          <p:cNvPr id="13" name="Group 12">
            <a:extLst>
              <a:ext uri="{FF2B5EF4-FFF2-40B4-BE49-F238E27FC236}">
                <a16:creationId xmlns:a16="http://schemas.microsoft.com/office/drawing/2014/main" id="{009D6EB9-877C-9ADF-4786-9F1788F588F4}"/>
              </a:ext>
            </a:extLst>
          </p:cNvPr>
          <p:cNvGrpSpPr/>
          <p:nvPr/>
        </p:nvGrpSpPr>
        <p:grpSpPr>
          <a:xfrm>
            <a:off x="-3843385" y="301308"/>
            <a:ext cx="3508248" cy="6860586"/>
            <a:chOff x="9204960" y="0"/>
            <a:chExt cx="3508248" cy="6860586"/>
          </a:xfrm>
        </p:grpSpPr>
        <p:sp>
          <p:nvSpPr>
            <p:cNvPr id="14" name="Rectangle 13">
              <a:extLst>
                <a:ext uri="{FF2B5EF4-FFF2-40B4-BE49-F238E27FC236}">
                  <a16:creationId xmlns:a16="http://schemas.microsoft.com/office/drawing/2014/main" id="{669D853B-93FA-95A5-EF60-204AABA0FF99}"/>
                </a:ext>
              </a:extLst>
            </p:cNvPr>
            <p:cNvSpPr/>
            <p:nvPr/>
          </p:nvSpPr>
          <p:spPr>
            <a:xfrm>
              <a:off x="9204960" y="0"/>
              <a:ext cx="2987040" cy="68580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6F5F9269-64BC-FC60-89D5-22A066757FE5}"/>
                </a:ext>
              </a:extLst>
            </p:cNvPr>
            <p:cNvSpPr/>
            <p:nvPr/>
          </p:nvSpPr>
          <p:spPr>
            <a:xfrm rot="5400000">
              <a:off x="11839956" y="941994"/>
              <a:ext cx="1225296" cy="521208"/>
            </a:xfrm>
            <a:prstGeom prst="triangle">
              <a:avLst/>
            </a:prstGeom>
            <a:solidFill>
              <a:srgbClr val="B4C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F443EAFB-E2EB-CB86-F238-36444B9A11CC}"/>
                </a:ext>
              </a:extLst>
            </p:cNvPr>
            <p:cNvSpPr txBox="1"/>
            <p:nvPr/>
          </p:nvSpPr>
          <p:spPr>
            <a:xfrm>
              <a:off x="9604248" y="2336271"/>
              <a:ext cx="2423160" cy="4524315"/>
            </a:xfrm>
            <a:prstGeom prst="rect">
              <a:avLst/>
            </a:prstGeom>
            <a:noFill/>
          </p:spPr>
          <p:txBody>
            <a:bodyPr wrap="square" rtlCol="0">
              <a:spAutoFit/>
            </a:bodyPr>
            <a:lstStyle/>
            <a:p>
              <a:r>
                <a:rPr lang="en-US" i="1" dirty="0">
                  <a:solidFill>
                    <a:schemeClr val="accent1"/>
                  </a:solidFill>
                </a:rPr>
                <a:t>“AI is working like a human brain.”</a:t>
              </a:r>
            </a:p>
            <a:p>
              <a:endPar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True</a:t>
              </a:r>
              <a:endParaRPr lang="en-US" dirty="0">
                <a:solidFill>
                  <a:schemeClr val="tx2">
                    <a:lumMod val="75000"/>
                  </a:schemeClr>
                </a:solidFill>
                <a:latin typeface="Arial Black" panose="020B0A04020102020204" pitchFamily="34" charset="0"/>
              </a:endParaRPr>
            </a:p>
            <a:p>
              <a:pPr marL="342900" indent="-342900">
                <a:buAutoNum type="alphaUcParenR"/>
              </a:pPr>
              <a:r>
                <a:rPr lang="en-US" dirty="0">
                  <a:solidFill>
                    <a:schemeClr val="tx2">
                      <a:lumMod val="75000"/>
                    </a:schemeClr>
                  </a:solidFill>
                  <a:latin typeface="Arial Black" panose="020B0A04020102020204" pitchFamily="34" charset="0"/>
                  <a:hlinkClick r:id="rId6" action="ppaction://hlinksldjump">
                    <a:extLst>
                      <a:ext uri="{A12FA001-AC4F-418D-AE19-62706E023703}">
                        <ahyp:hlinkClr xmlns:ahyp="http://schemas.microsoft.com/office/drawing/2018/hyperlinkcolor" val="tx"/>
                      </a:ext>
                    </a:extLst>
                  </a:hlinkClick>
                </a:rPr>
                <a:t>False</a:t>
              </a:r>
              <a:endParaRPr lang="en-US" dirty="0">
                <a:solidFill>
                  <a:schemeClr val="tx2">
                    <a:lumMod val="75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bg2"/>
                  </a:solidFill>
                  <a:latin typeface="Arial Black" panose="020B0A04020102020204" pitchFamily="34" charset="0"/>
                  <a:hlinkClick r:id="rId8" action="ppaction://hlinksldjump"/>
                </a:rPr>
                <a:t>Next Point</a:t>
              </a: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sp>
          <p:nvSpPr>
            <p:cNvPr id="20" name="TextBox 19">
              <a:extLst>
                <a:ext uri="{FF2B5EF4-FFF2-40B4-BE49-F238E27FC236}">
                  <a16:creationId xmlns:a16="http://schemas.microsoft.com/office/drawing/2014/main" id="{8E408000-5FA5-0F60-6584-1023F41C00B3}"/>
                </a:ext>
              </a:extLst>
            </p:cNvPr>
            <p:cNvSpPr txBox="1"/>
            <p:nvPr/>
          </p:nvSpPr>
          <p:spPr>
            <a:xfrm>
              <a:off x="9666732" y="657793"/>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4</a:t>
              </a:r>
            </a:p>
          </p:txBody>
        </p:sp>
      </p:grpSp>
      <p:grpSp>
        <p:nvGrpSpPr>
          <p:cNvPr id="24" name="Group 23">
            <a:extLst>
              <a:ext uri="{FF2B5EF4-FFF2-40B4-BE49-F238E27FC236}">
                <a16:creationId xmlns:a16="http://schemas.microsoft.com/office/drawing/2014/main" id="{611EAE36-9138-26B7-04CB-1804CBF47077}"/>
              </a:ext>
            </a:extLst>
          </p:cNvPr>
          <p:cNvGrpSpPr/>
          <p:nvPr/>
        </p:nvGrpSpPr>
        <p:grpSpPr>
          <a:xfrm>
            <a:off x="-4200338" y="342571"/>
            <a:ext cx="3644646" cy="6858000"/>
            <a:chOff x="6081522" y="0"/>
            <a:chExt cx="3644646" cy="6858000"/>
          </a:xfrm>
        </p:grpSpPr>
        <p:sp>
          <p:nvSpPr>
            <p:cNvPr id="28" name="Rectangle 27">
              <a:extLst>
                <a:ext uri="{FF2B5EF4-FFF2-40B4-BE49-F238E27FC236}">
                  <a16:creationId xmlns:a16="http://schemas.microsoft.com/office/drawing/2014/main" id="{ED195B31-F7B8-0775-9E66-D2710C75F38E}"/>
                </a:ext>
              </a:extLst>
            </p:cNvPr>
            <p:cNvSpPr/>
            <p:nvPr/>
          </p:nvSpPr>
          <p:spPr>
            <a:xfrm>
              <a:off x="6081522" y="0"/>
              <a:ext cx="3176016" cy="685800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Isosceles Triangle 28">
              <a:extLst>
                <a:ext uri="{FF2B5EF4-FFF2-40B4-BE49-F238E27FC236}">
                  <a16:creationId xmlns:a16="http://schemas.microsoft.com/office/drawing/2014/main" id="{399C3444-950F-5553-C9E7-65CFFBBED99A}"/>
                </a:ext>
              </a:extLst>
            </p:cNvPr>
            <p:cNvSpPr/>
            <p:nvPr/>
          </p:nvSpPr>
          <p:spPr>
            <a:xfrm rot="5400000">
              <a:off x="8852916" y="932850"/>
              <a:ext cx="1225296" cy="521208"/>
            </a:xfrm>
            <a:prstGeom prst="triangle">
              <a:avLst/>
            </a:prstGeom>
            <a:solidFill>
              <a:srgbClr val="8FAA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059B1EA1-018A-CFFD-9B22-1ED0A81169E1}"/>
                </a:ext>
              </a:extLst>
            </p:cNvPr>
            <p:cNvSpPr txBox="1"/>
            <p:nvPr/>
          </p:nvSpPr>
          <p:spPr>
            <a:xfrm>
              <a:off x="6472428" y="569751"/>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3</a:t>
              </a:r>
            </a:p>
          </p:txBody>
        </p:sp>
        <p:sp>
          <p:nvSpPr>
            <p:cNvPr id="45" name="TextBox 44">
              <a:extLst>
                <a:ext uri="{FF2B5EF4-FFF2-40B4-BE49-F238E27FC236}">
                  <a16:creationId xmlns:a16="http://schemas.microsoft.com/office/drawing/2014/main" id="{B91E18FB-DF13-BD8C-881E-AACF705E64D1}"/>
                </a:ext>
              </a:extLst>
            </p:cNvPr>
            <p:cNvSpPr txBox="1"/>
            <p:nvPr/>
          </p:nvSpPr>
          <p:spPr>
            <a:xfrm>
              <a:off x="6619494" y="2316163"/>
              <a:ext cx="2423160" cy="3693319"/>
            </a:xfrm>
            <a:prstGeom prst="rect">
              <a:avLst/>
            </a:prstGeom>
            <a:noFill/>
          </p:spPr>
          <p:txBody>
            <a:bodyPr wrap="square" rtlCol="0">
              <a:spAutoFit/>
            </a:bodyPr>
            <a:lstStyle/>
            <a:p>
              <a:r>
                <a:rPr lang="en-US" i="1" dirty="0">
                  <a:solidFill>
                    <a:schemeClr val="tx2"/>
                  </a:solidFill>
                </a:rPr>
                <a:t>“AI-generated content (text, images, code) is now indistinguishable from human-created work.”</a:t>
              </a:r>
              <a:endParaRPr lang="en-US" dirty="0">
                <a:solidFill>
                  <a:schemeClr val="accent1">
                    <a:lumMod val="5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accent1">
                    <a:lumMod val="5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accent1">
                      <a:lumMod val="5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rPr>
                <a:t>True</a:t>
              </a:r>
              <a:endParaRPr lang="en-US" dirty="0">
                <a:solidFill>
                  <a:schemeClr val="accent1">
                    <a:lumMod val="50000"/>
                  </a:schemeClr>
                </a:solidFill>
                <a:latin typeface="Arial Black" panose="020B0A04020102020204" pitchFamily="34" charset="0"/>
              </a:endParaRPr>
            </a:p>
            <a:p>
              <a:pPr marL="342900" indent="-342900">
                <a:buAutoNum type="alphaUcParenR"/>
              </a:pPr>
              <a:r>
                <a:rPr lang="en-US" dirty="0">
                  <a:solidFill>
                    <a:schemeClr val="accent1">
                      <a:lumMod val="5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rPr>
                <a:t>False</a:t>
              </a:r>
              <a:endParaRPr lang="en-US" dirty="0">
                <a:solidFill>
                  <a:schemeClr val="accent1">
                    <a:lumMod val="5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p>
          </p:txBody>
        </p:sp>
      </p:grpSp>
      <p:grpSp>
        <p:nvGrpSpPr>
          <p:cNvPr id="46" name="Group 45">
            <a:extLst>
              <a:ext uri="{FF2B5EF4-FFF2-40B4-BE49-F238E27FC236}">
                <a16:creationId xmlns:a16="http://schemas.microsoft.com/office/drawing/2014/main" id="{41494799-F384-2F07-426D-10D274D9F880}"/>
              </a:ext>
            </a:extLst>
          </p:cNvPr>
          <p:cNvGrpSpPr/>
          <p:nvPr/>
        </p:nvGrpSpPr>
        <p:grpSpPr>
          <a:xfrm>
            <a:off x="-4194879" y="330737"/>
            <a:ext cx="3545586" cy="6858000"/>
            <a:chOff x="3052572" y="0"/>
            <a:chExt cx="3545586" cy="6858000"/>
          </a:xfrm>
        </p:grpSpPr>
        <p:sp>
          <p:nvSpPr>
            <p:cNvPr id="47" name="Rectangle 46">
              <a:extLst>
                <a:ext uri="{FF2B5EF4-FFF2-40B4-BE49-F238E27FC236}">
                  <a16:creationId xmlns:a16="http://schemas.microsoft.com/office/drawing/2014/main" id="{A04F9DCA-1093-2533-CA18-AF39110E4B81}"/>
                </a:ext>
              </a:extLst>
            </p:cNvPr>
            <p:cNvSpPr/>
            <p:nvPr/>
          </p:nvSpPr>
          <p:spPr>
            <a:xfrm>
              <a:off x="3052572" y="0"/>
              <a:ext cx="3034284" cy="6858000"/>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a16="http://schemas.microsoft.com/office/drawing/2014/main" id="{144AD2C8-DA63-2840-3216-E1C3A635FF05}"/>
                </a:ext>
              </a:extLst>
            </p:cNvPr>
            <p:cNvSpPr txBox="1"/>
            <p:nvPr/>
          </p:nvSpPr>
          <p:spPr>
            <a:xfrm>
              <a:off x="3435096" y="606902"/>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2</a:t>
              </a:r>
            </a:p>
          </p:txBody>
        </p:sp>
        <p:sp>
          <p:nvSpPr>
            <p:cNvPr id="49" name="Isosceles Triangle 48">
              <a:extLst>
                <a:ext uri="{FF2B5EF4-FFF2-40B4-BE49-F238E27FC236}">
                  <a16:creationId xmlns:a16="http://schemas.microsoft.com/office/drawing/2014/main" id="{85AB59F0-2B65-EFF3-32B9-CF90F2BBB0F7}"/>
                </a:ext>
              </a:extLst>
            </p:cNvPr>
            <p:cNvSpPr/>
            <p:nvPr/>
          </p:nvSpPr>
          <p:spPr>
            <a:xfrm rot="5400000">
              <a:off x="5724906" y="921795"/>
              <a:ext cx="1225296" cy="521208"/>
            </a:xfrm>
            <a:prstGeom prst="triangle">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TextBox 49">
              <a:extLst>
                <a:ext uri="{FF2B5EF4-FFF2-40B4-BE49-F238E27FC236}">
                  <a16:creationId xmlns:a16="http://schemas.microsoft.com/office/drawing/2014/main" id="{388327B0-3F4B-D026-ED49-4FBA1973F1C7}"/>
                </a:ext>
              </a:extLst>
            </p:cNvPr>
            <p:cNvSpPr txBox="1"/>
            <p:nvPr/>
          </p:nvSpPr>
          <p:spPr>
            <a:xfrm>
              <a:off x="3418332" y="2358935"/>
              <a:ext cx="2423160" cy="3693319"/>
            </a:xfrm>
            <a:prstGeom prst="rect">
              <a:avLst/>
            </a:prstGeom>
            <a:noFill/>
          </p:spPr>
          <p:txBody>
            <a:bodyPr wrap="square" rtlCol="0">
              <a:spAutoFit/>
            </a:bodyPr>
            <a:lstStyle/>
            <a:p>
              <a:r>
                <a:rPr lang="en-US" i="1" dirty="0">
                  <a:solidFill>
                    <a:schemeClr val="bg2"/>
                  </a:solidFill>
                </a:rPr>
                <a:t>“AI will replace most jobs in the future.”</a:t>
              </a:r>
              <a:endParaRPr lang="en-US" dirty="0">
                <a:solidFill>
                  <a:schemeClr val="bg2"/>
                </a:solidFill>
              </a:endParaRPr>
            </a:p>
            <a:p>
              <a:endPar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endParaRPr>
            </a:p>
            <a:p>
              <a:endPar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endParaRPr>
            </a:p>
            <a:p>
              <a:endPar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rPr>
                <a:t>True</a:t>
              </a:r>
              <a:endParaRPr lang="en-US" dirty="0">
                <a:solidFill>
                  <a:schemeClr val="bg2">
                    <a:lumMod val="90000"/>
                  </a:schemeClr>
                </a:solidFill>
                <a:latin typeface="Arial Black" panose="020B0A04020102020204" pitchFamily="34" charset="0"/>
              </a:endParaRPr>
            </a:p>
            <a:p>
              <a:pPr marL="342900" indent="-342900">
                <a:buAutoNum type="alphaUcParenR"/>
              </a:pPr>
              <a:r>
                <a:rPr lang="en-US" dirty="0">
                  <a:solidFill>
                    <a:schemeClr val="bg2">
                      <a:lumMod val="90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rPr>
                <a:t>False</a:t>
              </a:r>
              <a:endParaRPr lang="en-US" dirty="0">
                <a:solidFill>
                  <a:schemeClr val="bg2">
                    <a:lumMod val="9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grpSp>
      <p:grpSp>
        <p:nvGrpSpPr>
          <p:cNvPr id="51" name="Group 50">
            <a:extLst>
              <a:ext uri="{FF2B5EF4-FFF2-40B4-BE49-F238E27FC236}">
                <a16:creationId xmlns:a16="http://schemas.microsoft.com/office/drawing/2014/main" id="{9FF9B28E-3104-AACE-CE9E-959C42E31179}"/>
              </a:ext>
            </a:extLst>
          </p:cNvPr>
          <p:cNvGrpSpPr/>
          <p:nvPr/>
        </p:nvGrpSpPr>
        <p:grpSpPr>
          <a:xfrm>
            <a:off x="-4465279" y="330737"/>
            <a:ext cx="3553968" cy="6858000"/>
            <a:chOff x="0" y="0"/>
            <a:chExt cx="3553968" cy="6858000"/>
          </a:xfrm>
        </p:grpSpPr>
        <p:sp>
          <p:nvSpPr>
            <p:cNvPr id="52" name="Rectangle 51">
              <a:extLst>
                <a:ext uri="{FF2B5EF4-FFF2-40B4-BE49-F238E27FC236}">
                  <a16:creationId xmlns:a16="http://schemas.microsoft.com/office/drawing/2014/main" id="{8231FA44-1B98-9A77-4444-73CEA35A96F6}"/>
                </a:ext>
              </a:extLst>
            </p:cNvPr>
            <p:cNvSpPr/>
            <p:nvPr/>
          </p:nvSpPr>
          <p:spPr>
            <a:xfrm>
              <a:off x="0" y="0"/>
              <a:ext cx="3052572" cy="68580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a:extLst>
                <a:ext uri="{FF2B5EF4-FFF2-40B4-BE49-F238E27FC236}">
                  <a16:creationId xmlns:a16="http://schemas.microsoft.com/office/drawing/2014/main" id="{3300649E-6DCA-7B39-8F06-3AD331947515}"/>
                </a:ext>
              </a:extLst>
            </p:cNvPr>
            <p:cNvSpPr txBox="1"/>
            <p:nvPr/>
          </p:nvSpPr>
          <p:spPr>
            <a:xfrm>
              <a:off x="310896" y="694944"/>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1</a:t>
              </a:r>
            </a:p>
          </p:txBody>
        </p:sp>
        <p:sp>
          <p:nvSpPr>
            <p:cNvPr id="54" name="Isosceles Triangle 53">
              <a:extLst>
                <a:ext uri="{FF2B5EF4-FFF2-40B4-BE49-F238E27FC236}">
                  <a16:creationId xmlns:a16="http://schemas.microsoft.com/office/drawing/2014/main" id="{6437C382-24DF-9A14-763F-272F4F406CD3}"/>
                </a:ext>
              </a:extLst>
            </p:cNvPr>
            <p:cNvSpPr/>
            <p:nvPr/>
          </p:nvSpPr>
          <p:spPr>
            <a:xfrm rot="5400000">
              <a:off x="2680716" y="958946"/>
              <a:ext cx="1225296" cy="521208"/>
            </a:xfrm>
            <a:prstGeom prst="triangle">
              <a:avLst/>
            </a:prstGeom>
            <a:solidFill>
              <a:srgbClr val="2038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TextBox 54">
              <a:extLst>
                <a:ext uri="{FF2B5EF4-FFF2-40B4-BE49-F238E27FC236}">
                  <a16:creationId xmlns:a16="http://schemas.microsoft.com/office/drawing/2014/main" id="{458609E0-88A1-E711-ACF0-FBF86DFED874}"/>
                </a:ext>
              </a:extLst>
            </p:cNvPr>
            <p:cNvSpPr txBox="1"/>
            <p:nvPr/>
          </p:nvSpPr>
          <p:spPr>
            <a:xfrm>
              <a:off x="310896" y="2316163"/>
              <a:ext cx="2423160" cy="3693319"/>
            </a:xfrm>
            <a:prstGeom prst="rect">
              <a:avLst/>
            </a:prstGeom>
            <a:noFill/>
          </p:spPr>
          <p:txBody>
            <a:bodyPr wrap="square" rtlCol="0">
              <a:spAutoFit/>
            </a:bodyPr>
            <a:lstStyle/>
            <a:p>
              <a:r>
                <a:rPr lang="en-US" i="1" dirty="0">
                  <a:solidFill>
                    <a:schemeClr val="bg2"/>
                  </a:solidFill>
                </a:rPr>
                <a:t>“AI is mostly only useful for generating text in tools like ChatGPT or Gemini.” </a:t>
              </a:r>
              <a:endParaRPr lang="en-US" dirty="0">
                <a:solidFill>
                  <a:schemeClr val="bg2"/>
                </a:solidFill>
              </a:endParaRPr>
            </a:p>
            <a:p>
              <a:endParaRPr lang="en-US" dirty="0">
                <a:solidFill>
                  <a:schemeClr val="bg2">
                    <a:lumMod val="90000"/>
                  </a:schemeClr>
                </a:solidFill>
                <a:latin typeface="Arial Black" panose="020B0A04020102020204" pitchFamily="34" charset="0"/>
                <a:hlinkClick r:id="rId13"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bg2">
                    <a:lumMod val="90000"/>
                  </a:schemeClr>
                </a:solidFill>
                <a:latin typeface="Arial Black" panose="020B0A04020102020204" pitchFamily="34" charset="0"/>
                <a:hlinkClick r:id="rId13"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bg2">
                      <a:lumMod val="90000"/>
                    </a:schemeClr>
                  </a:solidFill>
                  <a:latin typeface="Arial Black" panose="020B0A04020102020204" pitchFamily="34" charset="0"/>
                  <a:hlinkClick r:id="rId13" action="ppaction://hlinksldjump">
                    <a:extLst>
                      <a:ext uri="{A12FA001-AC4F-418D-AE19-62706E023703}">
                        <ahyp:hlinkClr xmlns:ahyp="http://schemas.microsoft.com/office/drawing/2018/hyperlinkcolor" val="tx"/>
                      </a:ext>
                    </a:extLst>
                  </a:hlinkClick>
                </a:rPr>
                <a:t>True</a:t>
              </a:r>
              <a:endParaRPr lang="en-US" dirty="0">
                <a:solidFill>
                  <a:schemeClr val="bg2">
                    <a:lumMod val="90000"/>
                  </a:schemeClr>
                </a:solidFill>
                <a:latin typeface="Arial Black" panose="020B0A04020102020204" pitchFamily="34" charset="0"/>
              </a:endParaRPr>
            </a:p>
            <a:p>
              <a:pPr marL="342900" indent="-342900">
                <a:buAutoNum type="alphaUcParenR"/>
              </a:pPr>
              <a:r>
                <a:rPr lang="en-US" dirty="0">
                  <a:solidFill>
                    <a:schemeClr val="bg2">
                      <a:lumMod val="90000"/>
                    </a:schemeClr>
                  </a:solidFill>
                  <a:latin typeface="Arial Black" panose="020B0A04020102020204" pitchFamily="34" charset="0"/>
                  <a:hlinkClick r:id="rId14" action="ppaction://hlinksldjump">
                    <a:extLst>
                      <a:ext uri="{A12FA001-AC4F-418D-AE19-62706E023703}">
                        <ahyp:hlinkClr xmlns:ahyp="http://schemas.microsoft.com/office/drawing/2018/hyperlinkcolor" val="tx"/>
                      </a:ext>
                    </a:extLst>
                  </a:hlinkClick>
                </a:rPr>
                <a:t>False</a:t>
              </a:r>
              <a:endParaRPr lang="en-US" dirty="0">
                <a:solidFill>
                  <a:schemeClr val="bg2">
                    <a:lumMod val="9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grpSp>
      <p:sp>
        <p:nvSpPr>
          <p:cNvPr id="56" name="TextBox 55">
            <a:extLst>
              <a:ext uri="{FF2B5EF4-FFF2-40B4-BE49-F238E27FC236}">
                <a16:creationId xmlns:a16="http://schemas.microsoft.com/office/drawing/2014/main" id="{363021E9-E4BA-825B-94D6-DCE2EB86AD2B}"/>
              </a:ext>
            </a:extLst>
          </p:cNvPr>
          <p:cNvSpPr txBox="1"/>
          <p:nvPr/>
        </p:nvSpPr>
        <p:spPr>
          <a:xfrm>
            <a:off x="2823462" y="6230565"/>
            <a:ext cx="7220650" cy="646331"/>
          </a:xfrm>
          <a:prstGeom prst="rect">
            <a:avLst/>
          </a:prstGeom>
          <a:noFill/>
        </p:spPr>
        <p:txBody>
          <a:bodyPr wrap="square" rtlCol="0">
            <a:spAutoFit/>
          </a:bodyPr>
          <a:lstStyle/>
          <a:p>
            <a:r>
              <a:rPr lang="en-US" i="1" dirty="0">
                <a:solidFill>
                  <a:srgbClr val="A1B3A5"/>
                </a:solidFill>
              </a:rPr>
              <a:t>*Common Misconceptions from </a:t>
            </a:r>
            <a:r>
              <a:rPr lang="en-US" i="1" dirty="0">
                <a:solidFill>
                  <a:srgbClr val="A1B3A5"/>
                </a:solidFill>
                <a:hlinkClick r:id="rId15">
                  <a:extLst>
                    <a:ext uri="{A12FA001-AC4F-418D-AE19-62706E023703}">
                      <ahyp:hlinkClr xmlns:ahyp="http://schemas.microsoft.com/office/drawing/2018/hyperlinkcolor" val="tx"/>
                    </a:ext>
                  </a:extLst>
                </a:hlinkClick>
              </a:rPr>
              <a:t>PostIndustria</a:t>
            </a:r>
            <a:r>
              <a:rPr lang="en-US" i="1" dirty="0">
                <a:solidFill>
                  <a:srgbClr val="A1B3A5"/>
                </a:solidFill>
              </a:rPr>
              <a:t>, “What are common Misconceptions about AI”</a:t>
            </a:r>
          </a:p>
        </p:txBody>
      </p:sp>
    </p:spTree>
    <p:extLst>
      <p:ext uri="{BB962C8B-B14F-4D97-AF65-F5344CB8AC3E}">
        <p14:creationId xmlns:p14="http://schemas.microsoft.com/office/powerpoint/2010/main" val="5385060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200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2000"/>
                                  </p:stCondLst>
                                  <p:childTnLst>
                                    <p:set>
                                      <p:cBhvr>
                                        <p:cTn id="8"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5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9473AF4D-4030-7C92-5120-5C26D7B36DD2}"/>
              </a:ext>
            </a:extLst>
          </p:cNvPr>
          <p:cNvGrpSpPr/>
          <p:nvPr/>
        </p:nvGrpSpPr>
        <p:grpSpPr>
          <a:xfrm>
            <a:off x="9204960" y="0"/>
            <a:ext cx="3508248" cy="6860586"/>
            <a:chOff x="9204960" y="0"/>
            <a:chExt cx="3508248" cy="6860586"/>
          </a:xfrm>
        </p:grpSpPr>
        <p:sp>
          <p:nvSpPr>
            <p:cNvPr id="7" name="Rectangle 6">
              <a:extLst>
                <a:ext uri="{FF2B5EF4-FFF2-40B4-BE49-F238E27FC236}">
                  <a16:creationId xmlns:a16="http://schemas.microsoft.com/office/drawing/2014/main" id="{F26F9192-1148-7223-E426-F2B07C408A57}"/>
                </a:ext>
              </a:extLst>
            </p:cNvPr>
            <p:cNvSpPr/>
            <p:nvPr/>
          </p:nvSpPr>
          <p:spPr>
            <a:xfrm>
              <a:off x="9204960" y="0"/>
              <a:ext cx="2987040" cy="68580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Isosceles Triangle 12">
              <a:extLst>
                <a:ext uri="{FF2B5EF4-FFF2-40B4-BE49-F238E27FC236}">
                  <a16:creationId xmlns:a16="http://schemas.microsoft.com/office/drawing/2014/main" id="{8D527FD9-A78B-7071-AF3E-A5226F6BA3E1}"/>
                </a:ext>
              </a:extLst>
            </p:cNvPr>
            <p:cNvSpPr/>
            <p:nvPr/>
          </p:nvSpPr>
          <p:spPr>
            <a:xfrm rot="5400000">
              <a:off x="11839956" y="941994"/>
              <a:ext cx="1225296" cy="521208"/>
            </a:xfrm>
            <a:prstGeom prst="triangle">
              <a:avLst/>
            </a:prstGeom>
            <a:solidFill>
              <a:srgbClr val="B4C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BFE3DD53-1AE8-098A-916A-1ED38EEE20F8}"/>
                </a:ext>
              </a:extLst>
            </p:cNvPr>
            <p:cNvSpPr txBox="1"/>
            <p:nvPr/>
          </p:nvSpPr>
          <p:spPr>
            <a:xfrm>
              <a:off x="9604248" y="2336271"/>
              <a:ext cx="2423160" cy="4524315"/>
            </a:xfrm>
            <a:prstGeom prst="rect">
              <a:avLst/>
            </a:prstGeom>
            <a:noFill/>
          </p:spPr>
          <p:txBody>
            <a:bodyPr wrap="square" rtlCol="0">
              <a:spAutoFit/>
            </a:bodyPr>
            <a:lstStyle/>
            <a:p>
              <a:r>
                <a:rPr lang="en-US" i="1" dirty="0">
                  <a:solidFill>
                    <a:schemeClr val="accent1"/>
                  </a:solidFill>
                </a:rPr>
                <a:t>“AI is working like a human brain.”</a:t>
              </a:r>
            </a:p>
            <a:p>
              <a:endParaRPr lang="en-US" dirty="0">
                <a:solidFill>
                  <a:schemeClr val="tx2">
                    <a:lumMod val="75000"/>
                  </a:schemeClr>
                </a:solidFill>
                <a:latin typeface="Arial Black" panose="020B0A04020102020204" pitchFamily="34" charset="0"/>
                <a:hlinkClick r:id="rId3"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3"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3"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3"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tx2">
                      <a:lumMod val="75000"/>
                    </a:schemeClr>
                  </a:solidFill>
                  <a:latin typeface="Arial Black" panose="020B0A04020102020204" pitchFamily="34" charset="0"/>
                  <a:hlinkClick r:id="rId3" action="ppaction://hlinksldjump">
                    <a:extLst>
                      <a:ext uri="{A12FA001-AC4F-418D-AE19-62706E023703}">
                        <ahyp:hlinkClr xmlns:ahyp="http://schemas.microsoft.com/office/drawing/2018/hyperlinkcolor" val="tx"/>
                      </a:ext>
                    </a:extLst>
                  </a:hlinkClick>
                </a:rPr>
                <a:t>True</a:t>
              </a:r>
              <a:endParaRPr lang="en-US" dirty="0">
                <a:solidFill>
                  <a:schemeClr val="tx2">
                    <a:lumMod val="75000"/>
                  </a:schemeClr>
                </a:solidFill>
                <a:latin typeface="Arial Black" panose="020B0A04020102020204" pitchFamily="34" charset="0"/>
              </a:endParaRPr>
            </a:p>
            <a:p>
              <a:pPr marL="342900" indent="-342900">
                <a:buAutoNum type="alphaUcParenR"/>
              </a:pPr>
              <a:r>
                <a:rPr lang="en-US" dirty="0">
                  <a:solidFill>
                    <a:schemeClr val="tx2">
                      <a:lumMod val="75000"/>
                    </a:schemeClr>
                  </a:solidFill>
                  <a:latin typeface="Arial Black" panose="020B0A04020102020204" pitchFamily="34" charset="0"/>
                  <a:hlinkClick r:id="rId4" action="ppaction://hlinksldjump">
                    <a:extLst>
                      <a:ext uri="{A12FA001-AC4F-418D-AE19-62706E023703}">
                        <ahyp:hlinkClr xmlns:ahyp="http://schemas.microsoft.com/office/drawing/2018/hyperlinkcolor" val="tx"/>
                      </a:ext>
                    </a:extLst>
                  </a:hlinkClick>
                </a:rPr>
                <a:t>False</a:t>
              </a:r>
              <a:endParaRPr lang="en-US" dirty="0">
                <a:solidFill>
                  <a:schemeClr val="tx2">
                    <a:lumMod val="75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bg2"/>
                  </a:solidFill>
                  <a:latin typeface="Arial Black" panose="020B0A04020102020204" pitchFamily="34" charset="0"/>
                  <a:hlinkClick r:id="rId6" action="ppaction://hlinksldjump"/>
                </a:rPr>
                <a:t>Next Point</a:t>
              </a: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sp>
          <p:nvSpPr>
            <p:cNvPr id="19" name="TextBox 18">
              <a:extLst>
                <a:ext uri="{FF2B5EF4-FFF2-40B4-BE49-F238E27FC236}">
                  <a16:creationId xmlns:a16="http://schemas.microsoft.com/office/drawing/2014/main" id="{BECC5770-D017-03EA-37FE-0B137FEEE49E}"/>
                </a:ext>
              </a:extLst>
            </p:cNvPr>
            <p:cNvSpPr txBox="1"/>
            <p:nvPr/>
          </p:nvSpPr>
          <p:spPr>
            <a:xfrm>
              <a:off x="9666732" y="657793"/>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4</a:t>
              </a:r>
            </a:p>
          </p:txBody>
        </p:sp>
      </p:grpSp>
      <p:grpSp>
        <p:nvGrpSpPr>
          <p:cNvPr id="21" name="Group 20">
            <a:extLst>
              <a:ext uri="{FF2B5EF4-FFF2-40B4-BE49-F238E27FC236}">
                <a16:creationId xmlns:a16="http://schemas.microsoft.com/office/drawing/2014/main" id="{BA4F05F5-9229-240C-0414-19425B23A7E0}"/>
              </a:ext>
            </a:extLst>
          </p:cNvPr>
          <p:cNvGrpSpPr/>
          <p:nvPr/>
        </p:nvGrpSpPr>
        <p:grpSpPr>
          <a:xfrm>
            <a:off x="6081522" y="0"/>
            <a:ext cx="3644646" cy="6858000"/>
            <a:chOff x="6081522" y="0"/>
            <a:chExt cx="3644646" cy="6858000"/>
          </a:xfrm>
        </p:grpSpPr>
        <p:sp>
          <p:nvSpPr>
            <p:cNvPr id="6" name="Rectangle 5">
              <a:extLst>
                <a:ext uri="{FF2B5EF4-FFF2-40B4-BE49-F238E27FC236}">
                  <a16:creationId xmlns:a16="http://schemas.microsoft.com/office/drawing/2014/main" id="{01E1CC87-FF97-2DB4-59EA-9A41828A1B02}"/>
                </a:ext>
              </a:extLst>
            </p:cNvPr>
            <p:cNvSpPr/>
            <p:nvPr/>
          </p:nvSpPr>
          <p:spPr>
            <a:xfrm>
              <a:off x="6081522" y="0"/>
              <a:ext cx="3176016" cy="685800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Isosceles Triangle 11">
              <a:extLst>
                <a:ext uri="{FF2B5EF4-FFF2-40B4-BE49-F238E27FC236}">
                  <a16:creationId xmlns:a16="http://schemas.microsoft.com/office/drawing/2014/main" id="{49A0E486-776A-1DD5-4070-18F1EE39FEF4}"/>
                </a:ext>
              </a:extLst>
            </p:cNvPr>
            <p:cNvSpPr/>
            <p:nvPr/>
          </p:nvSpPr>
          <p:spPr>
            <a:xfrm rot="5400000">
              <a:off x="8852916" y="932850"/>
              <a:ext cx="1225296" cy="521208"/>
            </a:xfrm>
            <a:prstGeom prst="triangle">
              <a:avLst/>
            </a:prstGeom>
            <a:solidFill>
              <a:srgbClr val="8FAA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3E58C58-B913-1142-8C50-E0A2820BFFF1}"/>
                </a:ext>
              </a:extLst>
            </p:cNvPr>
            <p:cNvSpPr txBox="1"/>
            <p:nvPr/>
          </p:nvSpPr>
          <p:spPr>
            <a:xfrm>
              <a:off x="6472428" y="569751"/>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3</a:t>
              </a:r>
            </a:p>
          </p:txBody>
        </p:sp>
        <p:sp>
          <p:nvSpPr>
            <p:cNvPr id="20" name="TextBox 19">
              <a:extLst>
                <a:ext uri="{FF2B5EF4-FFF2-40B4-BE49-F238E27FC236}">
                  <a16:creationId xmlns:a16="http://schemas.microsoft.com/office/drawing/2014/main" id="{8A6A7836-4C57-BB1C-A3A6-82F2A4459BCC}"/>
                </a:ext>
              </a:extLst>
            </p:cNvPr>
            <p:cNvSpPr txBox="1"/>
            <p:nvPr/>
          </p:nvSpPr>
          <p:spPr>
            <a:xfrm>
              <a:off x="6619494" y="2316163"/>
              <a:ext cx="2423160" cy="3693319"/>
            </a:xfrm>
            <a:prstGeom prst="rect">
              <a:avLst/>
            </a:prstGeom>
            <a:noFill/>
          </p:spPr>
          <p:txBody>
            <a:bodyPr wrap="square" rtlCol="0">
              <a:spAutoFit/>
            </a:bodyPr>
            <a:lstStyle/>
            <a:p>
              <a:r>
                <a:rPr lang="en-US" i="1" dirty="0"/>
                <a:t>“AI-generated content (text, images, code) is now indistinguishable from human-created work.”</a:t>
              </a:r>
              <a:endParaRPr lang="en-US" dirty="0">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accent1">
                    <a:lumMod val="50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accent1">
                      <a:lumMod val="50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True</a:t>
              </a:r>
              <a:endParaRPr lang="en-US" dirty="0">
                <a:solidFill>
                  <a:schemeClr val="accent1">
                    <a:lumMod val="50000"/>
                  </a:schemeClr>
                </a:solidFill>
                <a:latin typeface="Arial Black" panose="020B0A04020102020204" pitchFamily="34" charset="0"/>
              </a:endParaRPr>
            </a:p>
            <a:p>
              <a:pPr marL="342900" indent="-342900">
                <a:buAutoNum type="alphaUcParenR"/>
              </a:pPr>
              <a:r>
                <a:rPr lang="en-US" dirty="0">
                  <a:solidFill>
                    <a:schemeClr val="accent1">
                      <a:lumMod val="50000"/>
                    </a:schemeClr>
                  </a:solidFill>
                  <a:latin typeface="Arial Black" panose="020B0A04020102020204" pitchFamily="34" charset="0"/>
                  <a:hlinkClick r:id="rId8" action="ppaction://hlinksldjump">
                    <a:extLst>
                      <a:ext uri="{A12FA001-AC4F-418D-AE19-62706E023703}">
                        <ahyp:hlinkClr xmlns:ahyp="http://schemas.microsoft.com/office/drawing/2018/hyperlinkcolor" val="tx"/>
                      </a:ext>
                    </a:extLst>
                  </a:hlinkClick>
                </a:rPr>
                <a:t>False</a:t>
              </a:r>
              <a:endParaRPr lang="en-US" dirty="0">
                <a:solidFill>
                  <a:schemeClr val="accent1">
                    <a:lumMod val="5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p>
          </p:txBody>
        </p:sp>
      </p:grpSp>
      <p:grpSp>
        <p:nvGrpSpPr>
          <p:cNvPr id="9" name="Group 8">
            <a:extLst>
              <a:ext uri="{FF2B5EF4-FFF2-40B4-BE49-F238E27FC236}">
                <a16:creationId xmlns:a16="http://schemas.microsoft.com/office/drawing/2014/main" id="{96C0379E-9038-4F5E-3E09-435866B0FE5E}"/>
              </a:ext>
            </a:extLst>
          </p:cNvPr>
          <p:cNvGrpSpPr/>
          <p:nvPr/>
        </p:nvGrpSpPr>
        <p:grpSpPr>
          <a:xfrm>
            <a:off x="3052572" y="0"/>
            <a:ext cx="3545586" cy="6858000"/>
            <a:chOff x="3052572" y="0"/>
            <a:chExt cx="3545586" cy="6858000"/>
          </a:xfrm>
        </p:grpSpPr>
        <p:sp>
          <p:nvSpPr>
            <p:cNvPr id="4" name="Rectangle 3">
              <a:extLst>
                <a:ext uri="{FF2B5EF4-FFF2-40B4-BE49-F238E27FC236}">
                  <a16:creationId xmlns:a16="http://schemas.microsoft.com/office/drawing/2014/main" id="{D6EA957B-EA28-F039-19F9-1D47C6B75175}"/>
                </a:ext>
              </a:extLst>
            </p:cNvPr>
            <p:cNvSpPr/>
            <p:nvPr/>
          </p:nvSpPr>
          <p:spPr>
            <a:xfrm>
              <a:off x="3052572" y="0"/>
              <a:ext cx="3034284" cy="6858000"/>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D5C793DD-D856-E402-B724-DA471D87F6CA}"/>
                </a:ext>
              </a:extLst>
            </p:cNvPr>
            <p:cNvSpPr txBox="1"/>
            <p:nvPr/>
          </p:nvSpPr>
          <p:spPr>
            <a:xfrm>
              <a:off x="3435096" y="606902"/>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2</a:t>
              </a:r>
            </a:p>
          </p:txBody>
        </p:sp>
        <p:sp>
          <p:nvSpPr>
            <p:cNvPr id="11" name="Isosceles Triangle 10">
              <a:extLst>
                <a:ext uri="{FF2B5EF4-FFF2-40B4-BE49-F238E27FC236}">
                  <a16:creationId xmlns:a16="http://schemas.microsoft.com/office/drawing/2014/main" id="{9F4FC8AD-5485-12C8-70D1-C326936B0344}"/>
                </a:ext>
              </a:extLst>
            </p:cNvPr>
            <p:cNvSpPr/>
            <p:nvPr/>
          </p:nvSpPr>
          <p:spPr>
            <a:xfrm rot="5400000">
              <a:off x="5724906" y="921795"/>
              <a:ext cx="1225296" cy="521208"/>
            </a:xfrm>
            <a:prstGeom prst="triangle">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515B570B-201A-6AF1-56F8-B2CDA9D24586}"/>
                </a:ext>
              </a:extLst>
            </p:cNvPr>
            <p:cNvSpPr txBox="1"/>
            <p:nvPr/>
          </p:nvSpPr>
          <p:spPr>
            <a:xfrm>
              <a:off x="3418332" y="2358935"/>
              <a:ext cx="2423160" cy="3693319"/>
            </a:xfrm>
            <a:prstGeom prst="rect">
              <a:avLst/>
            </a:prstGeom>
            <a:noFill/>
          </p:spPr>
          <p:txBody>
            <a:bodyPr wrap="square" rtlCol="0">
              <a:spAutoFit/>
            </a:bodyPr>
            <a:lstStyle/>
            <a:p>
              <a:r>
                <a:rPr lang="en-US" i="1" dirty="0">
                  <a:solidFill>
                    <a:schemeClr val="bg2"/>
                  </a:solidFill>
                </a:rPr>
                <a:t>“AI will replace most jobs in the future.”</a:t>
              </a:r>
              <a:endParaRPr lang="en-US" dirty="0">
                <a:solidFill>
                  <a:schemeClr val="bg2"/>
                </a:solidFill>
              </a:endParaRPr>
            </a:p>
            <a:p>
              <a:endParaRPr lang="en-US" dirty="0">
                <a:solidFill>
                  <a:schemeClr val="bg2">
                    <a:lumMod val="9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endParaRPr>
            </a:p>
            <a:p>
              <a:endParaRPr lang="en-US" dirty="0">
                <a:solidFill>
                  <a:schemeClr val="bg2">
                    <a:lumMod val="9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endParaRPr>
            </a:p>
            <a:p>
              <a:endParaRPr lang="en-US" dirty="0">
                <a:solidFill>
                  <a:schemeClr val="bg2">
                    <a:lumMod val="9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bg2">
                    <a:lumMod val="9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bg2">
                      <a:lumMod val="9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rPr>
                <a:t>True</a:t>
              </a:r>
              <a:endParaRPr lang="en-US" dirty="0">
                <a:solidFill>
                  <a:schemeClr val="bg2">
                    <a:lumMod val="90000"/>
                  </a:schemeClr>
                </a:solidFill>
                <a:latin typeface="Arial Black" panose="020B0A04020102020204" pitchFamily="34" charset="0"/>
              </a:endParaRPr>
            </a:p>
            <a:p>
              <a:pPr marL="342900" indent="-342900">
                <a:buAutoNum type="alphaUcParenR"/>
              </a:pPr>
              <a:r>
                <a:rPr lang="en-US" dirty="0">
                  <a:solidFill>
                    <a:schemeClr val="bg2">
                      <a:lumMod val="9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rPr>
                <a:t>False</a:t>
              </a:r>
              <a:endParaRPr lang="en-US" dirty="0">
                <a:solidFill>
                  <a:schemeClr val="bg2">
                    <a:lumMod val="9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grpSp>
      <p:grpSp>
        <p:nvGrpSpPr>
          <p:cNvPr id="2" name="Group 1">
            <a:extLst>
              <a:ext uri="{FF2B5EF4-FFF2-40B4-BE49-F238E27FC236}">
                <a16:creationId xmlns:a16="http://schemas.microsoft.com/office/drawing/2014/main" id="{3F2D8B19-F96B-B402-1A63-24F041F6F66F}"/>
              </a:ext>
            </a:extLst>
          </p:cNvPr>
          <p:cNvGrpSpPr/>
          <p:nvPr/>
        </p:nvGrpSpPr>
        <p:grpSpPr>
          <a:xfrm>
            <a:off x="0" y="0"/>
            <a:ext cx="3553968" cy="6858000"/>
            <a:chOff x="0" y="0"/>
            <a:chExt cx="3553968" cy="6858000"/>
          </a:xfrm>
        </p:grpSpPr>
        <p:sp>
          <p:nvSpPr>
            <p:cNvPr id="5" name="Rectangle 4">
              <a:extLst>
                <a:ext uri="{FF2B5EF4-FFF2-40B4-BE49-F238E27FC236}">
                  <a16:creationId xmlns:a16="http://schemas.microsoft.com/office/drawing/2014/main" id="{6760F42E-884A-9B19-E5F9-1F8BEB3B3938}"/>
                </a:ext>
              </a:extLst>
            </p:cNvPr>
            <p:cNvSpPr/>
            <p:nvPr/>
          </p:nvSpPr>
          <p:spPr>
            <a:xfrm>
              <a:off x="0" y="0"/>
              <a:ext cx="3052572" cy="68580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0A09F547-50F4-48C6-DF99-BC6B06F39550}"/>
                </a:ext>
              </a:extLst>
            </p:cNvPr>
            <p:cNvSpPr txBox="1"/>
            <p:nvPr/>
          </p:nvSpPr>
          <p:spPr>
            <a:xfrm>
              <a:off x="310896" y="694944"/>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1</a:t>
              </a:r>
            </a:p>
          </p:txBody>
        </p:sp>
        <p:sp>
          <p:nvSpPr>
            <p:cNvPr id="10" name="Isosceles Triangle 9">
              <a:extLst>
                <a:ext uri="{FF2B5EF4-FFF2-40B4-BE49-F238E27FC236}">
                  <a16:creationId xmlns:a16="http://schemas.microsoft.com/office/drawing/2014/main" id="{33E39475-9538-36BD-F777-0CC394D73DA2}"/>
                </a:ext>
              </a:extLst>
            </p:cNvPr>
            <p:cNvSpPr/>
            <p:nvPr/>
          </p:nvSpPr>
          <p:spPr>
            <a:xfrm rot="5400000">
              <a:off x="2680716" y="958946"/>
              <a:ext cx="1225296" cy="521208"/>
            </a:xfrm>
            <a:prstGeom prst="triangle">
              <a:avLst/>
            </a:prstGeom>
            <a:solidFill>
              <a:srgbClr val="2038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56C7CBCF-2156-3EFD-874A-96AE0C73A14B}"/>
                </a:ext>
              </a:extLst>
            </p:cNvPr>
            <p:cNvSpPr txBox="1"/>
            <p:nvPr/>
          </p:nvSpPr>
          <p:spPr>
            <a:xfrm>
              <a:off x="310896" y="2316163"/>
              <a:ext cx="2423160" cy="3693319"/>
            </a:xfrm>
            <a:prstGeom prst="rect">
              <a:avLst/>
            </a:prstGeom>
            <a:noFill/>
          </p:spPr>
          <p:txBody>
            <a:bodyPr wrap="square" rtlCol="0">
              <a:spAutoFit/>
            </a:bodyPr>
            <a:lstStyle/>
            <a:p>
              <a:r>
                <a:rPr lang="en-US" i="1" dirty="0">
                  <a:solidFill>
                    <a:schemeClr val="bg2"/>
                  </a:solidFill>
                </a:rPr>
                <a:t>“AI is mostly only useful for generating text in tools like ChatGPT or Gemini.” </a:t>
              </a:r>
              <a:endParaRPr lang="en-US" dirty="0">
                <a:solidFill>
                  <a:schemeClr val="bg2"/>
                </a:solidFill>
              </a:endParaRPr>
            </a:p>
            <a:p>
              <a:endPar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rPr>
                <a:t>True</a:t>
              </a:r>
              <a:endParaRPr lang="en-US" dirty="0">
                <a:solidFill>
                  <a:schemeClr val="bg2">
                    <a:lumMod val="90000"/>
                  </a:schemeClr>
                </a:solidFill>
                <a:latin typeface="Arial Black" panose="020B0A04020102020204" pitchFamily="34" charset="0"/>
              </a:endParaRPr>
            </a:p>
            <a:p>
              <a:pPr marL="342900" indent="-342900">
                <a:buAutoNum type="alphaUcParenR"/>
              </a:pPr>
              <a:r>
                <a:rPr lang="en-US" dirty="0">
                  <a:solidFill>
                    <a:schemeClr val="bg2">
                      <a:lumMod val="90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rPr>
                <a:t>False</a:t>
              </a:r>
              <a:endParaRPr lang="en-US" dirty="0">
                <a:solidFill>
                  <a:schemeClr val="bg2">
                    <a:lumMod val="9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grpSp>
      <p:pic>
        <p:nvPicPr>
          <p:cNvPr id="3" name="Picture 2" descr="File:Google Favicon 2025.svg - Wikimedia Commons">
            <a:extLst>
              <a:ext uri="{FF2B5EF4-FFF2-40B4-BE49-F238E27FC236}">
                <a16:creationId xmlns:a16="http://schemas.microsoft.com/office/drawing/2014/main" id="{0F6A658F-20DF-C145-0365-BE113B71B8A8}"/>
              </a:ext>
            </a:extLst>
          </p:cNvPr>
          <p:cNvPicPr>
            <a:picLocks noChangeAspect="1"/>
          </p:cNvPicPr>
          <p:nvPr/>
        </p:nvPicPr>
        <p:blipFill>
          <a:blip r:embed="rId13"/>
          <a:stretch>
            <a:fillRect/>
          </a:stretch>
        </p:blipFill>
        <p:spPr>
          <a:xfrm>
            <a:off x="5676966" y="-913585"/>
            <a:ext cx="666055" cy="68204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4399902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17CEE-A85E-7060-F71F-A20A4A321BDB}"/>
            </a:ext>
          </a:extLst>
        </p:cNvPr>
        <p:cNvGrpSpPr/>
        <p:nvPr/>
      </p:nvGrpSpPr>
      <p:grpSpPr>
        <a:xfrm>
          <a:off x="0" y="0"/>
          <a:ext cx="0" cy="0"/>
          <a:chOff x="0" y="0"/>
          <a:chExt cx="0" cy="0"/>
        </a:xfrm>
      </p:grpSpPr>
      <p:sp>
        <p:nvSpPr>
          <p:cNvPr id="24" name="TextBox 23">
            <a:extLst>
              <a:ext uri="{FF2B5EF4-FFF2-40B4-BE49-F238E27FC236}">
                <a16:creationId xmlns:a16="http://schemas.microsoft.com/office/drawing/2014/main" id="{FCA44753-BDFB-73F9-7DD9-9EA7FE9A6983}"/>
              </a:ext>
            </a:extLst>
          </p:cNvPr>
          <p:cNvSpPr txBox="1"/>
          <p:nvPr/>
        </p:nvSpPr>
        <p:spPr>
          <a:xfrm>
            <a:off x="4655439" y="358472"/>
            <a:ext cx="6990207" cy="3539430"/>
          </a:xfrm>
          <a:prstGeom prst="rect">
            <a:avLst/>
          </a:prstGeom>
          <a:noFill/>
        </p:spPr>
        <p:txBody>
          <a:bodyPr wrap="square" rtlCol="0">
            <a:spAutoFit/>
          </a:bodyPr>
          <a:lstStyle/>
          <a:p>
            <a:r>
              <a:rPr lang="en-US" sz="3200" dirty="0">
                <a:latin typeface="Arial Black" panose="020B0A04020102020204" pitchFamily="34" charset="0"/>
              </a:rPr>
              <a:t>This is a misconception</a:t>
            </a:r>
          </a:p>
          <a:p>
            <a:endParaRPr lang="en-US" sz="3200" dirty="0">
              <a:latin typeface="Arial Black" panose="020B0A04020102020204" pitchFamily="34" charset="0"/>
            </a:endParaRPr>
          </a:p>
          <a:p>
            <a:pPr marL="342900" indent="-342900">
              <a:buFont typeface="Wingdings" panose="05000000000000000000" pitchFamily="2" charset="2"/>
              <a:buChar char="v"/>
            </a:pPr>
            <a:r>
              <a:rPr lang="en-US" sz="2000" dirty="0">
                <a:latin typeface="Arial Narrow" panose="020B0606020202030204" pitchFamily="34" charset="0"/>
              </a:rPr>
              <a:t>AI is not only the LLM’s that we see everyday like ChatGPT, Gemini, </a:t>
            </a:r>
            <a:r>
              <a:rPr lang="en-US" sz="2000" dirty="0" err="1">
                <a:latin typeface="Arial Narrow" panose="020B0606020202030204" pitchFamily="34" charset="0"/>
              </a:rPr>
              <a:t>Deepseek</a:t>
            </a:r>
            <a:r>
              <a:rPr lang="en-US" sz="2000" dirty="0">
                <a:latin typeface="Arial Narrow" panose="020B0606020202030204" pitchFamily="34" charset="0"/>
              </a:rPr>
              <a:t>, etc.</a:t>
            </a:r>
          </a:p>
          <a:p>
            <a:endParaRPr lang="en-US" sz="2000" dirty="0">
              <a:latin typeface="Arial Narrow" panose="020B0606020202030204" pitchFamily="34" charset="0"/>
            </a:endParaRPr>
          </a:p>
          <a:p>
            <a:pPr marL="342900" indent="-342900">
              <a:buFont typeface="Wingdings" panose="05000000000000000000" pitchFamily="2" charset="2"/>
              <a:buChar char="v"/>
            </a:pPr>
            <a:r>
              <a:rPr lang="en-US" sz="2000" dirty="0">
                <a:latin typeface="Arial Narrow" panose="020B0606020202030204" pitchFamily="34" charset="0"/>
              </a:rPr>
              <a:t>The main point here is that there are so many different types of AI all designed to solve different problems. </a:t>
            </a:r>
          </a:p>
          <a:p>
            <a:pPr marL="342900" indent="-342900">
              <a:buFont typeface="Wingdings" panose="05000000000000000000" pitchFamily="2" charset="2"/>
              <a:buChar char="v"/>
            </a:pPr>
            <a:endParaRPr lang="en-US" sz="2000" dirty="0">
              <a:latin typeface="Arial Narrow" panose="020B0606020202030204" pitchFamily="34" charset="0"/>
            </a:endParaRPr>
          </a:p>
          <a:p>
            <a:pPr marL="342900" indent="-342900">
              <a:buFont typeface="Wingdings" panose="05000000000000000000" pitchFamily="2" charset="2"/>
              <a:buChar char="v"/>
            </a:pPr>
            <a:r>
              <a:rPr lang="en-US" sz="2000" dirty="0">
                <a:latin typeface="Arial Narrow" panose="020B0606020202030204" pitchFamily="34" charset="0"/>
              </a:rPr>
              <a:t>There is also types such as traditional, predictive, and conversational AI.            </a:t>
            </a:r>
          </a:p>
        </p:txBody>
      </p:sp>
      <p:sp>
        <p:nvSpPr>
          <p:cNvPr id="3" name="TextBox 2">
            <a:extLst>
              <a:ext uri="{FF2B5EF4-FFF2-40B4-BE49-F238E27FC236}">
                <a16:creationId xmlns:a16="http://schemas.microsoft.com/office/drawing/2014/main" id="{505CAE62-430B-39ED-B848-04D894C26F28}"/>
              </a:ext>
            </a:extLst>
          </p:cNvPr>
          <p:cNvSpPr txBox="1"/>
          <p:nvPr/>
        </p:nvSpPr>
        <p:spPr>
          <a:xfrm>
            <a:off x="5362575" y="6488668"/>
            <a:ext cx="7947279" cy="369332"/>
          </a:xfrm>
          <a:prstGeom prst="rect">
            <a:avLst/>
          </a:prstGeom>
          <a:noFill/>
        </p:spPr>
        <p:txBody>
          <a:bodyPr wrap="square" rtlCol="0">
            <a:spAutoFit/>
          </a:bodyPr>
          <a:lstStyle/>
          <a:p>
            <a:r>
              <a:rPr lang="en-US" dirty="0"/>
              <a:t>*</a:t>
            </a:r>
            <a:r>
              <a:rPr lang="en-US" i="1" dirty="0"/>
              <a:t>Other Ai types from </a:t>
            </a:r>
            <a:r>
              <a:rPr lang="en-US" i="1" dirty="0">
                <a:hlinkClick r:id="rId3"/>
              </a:rPr>
              <a:t>Medium</a:t>
            </a:r>
            <a:r>
              <a:rPr lang="en-US" i="1" dirty="0"/>
              <a:t> and </a:t>
            </a:r>
            <a:r>
              <a:rPr lang="en-US" i="1" dirty="0">
                <a:hlinkClick r:id="rId4"/>
              </a:rPr>
              <a:t>Microsoft</a:t>
            </a:r>
            <a:r>
              <a:rPr lang="en-US" i="1" dirty="0"/>
              <a:t> </a:t>
            </a:r>
          </a:p>
        </p:txBody>
      </p:sp>
      <p:grpSp>
        <p:nvGrpSpPr>
          <p:cNvPr id="23" name="Group 22">
            <a:extLst>
              <a:ext uri="{FF2B5EF4-FFF2-40B4-BE49-F238E27FC236}">
                <a16:creationId xmlns:a16="http://schemas.microsoft.com/office/drawing/2014/main" id="{C7063DDD-AD3F-5EBF-1083-4B225038652E}"/>
              </a:ext>
            </a:extLst>
          </p:cNvPr>
          <p:cNvGrpSpPr/>
          <p:nvPr/>
        </p:nvGrpSpPr>
        <p:grpSpPr>
          <a:xfrm>
            <a:off x="907542" y="0"/>
            <a:ext cx="3508248" cy="7137585"/>
            <a:chOff x="9204960" y="0"/>
            <a:chExt cx="3508248" cy="7137585"/>
          </a:xfrm>
        </p:grpSpPr>
        <p:sp>
          <p:nvSpPr>
            <p:cNvPr id="25" name="Rectangle 24">
              <a:extLst>
                <a:ext uri="{FF2B5EF4-FFF2-40B4-BE49-F238E27FC236}">
                  <a16:creationId xmlns:a16="http://schemas.microsoft.com/office/drawing/2014/main" id="{7B03FD06-59C1-81C1-4DC6-75099B51F414}"/>
                </a:ext>
              </a:extLst>
            </p:cNvPr>
            <p:cNvSpPr/>
            <p:nvPr/>
          </p:nvSpPr>
          <p:spPr>
            <a:xfrm>
              <a:off x="9204960" y="0"/>
              <a:ext cx="2987040" cy="68580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Isosceles Triangle 25">
              <a:extLst>
                <a:ext uri="{FF2B5EF4-FFF2-40B4-BE49-F238E27FC236}">
                  <a16:creationId xmlns:a16="http://schemas.microsoft.com/office/drawing/2014/main" id="{02CEBB40-CFCE-8FFC-3C18-0D017926738F}"/>
                </a:ext>
              </a:extLst>
            </p:cNvPr>
            <p:cNvSpPr/>
            <p:nvPr/>
          </p:nvSpPr>
          <p:spPr>
            <a:xfrm rot="5400000">
              <a:off x="11839956" y="941994"/>
              <a:ext cx="1225296" cy="521208"/>
            </a:xfrm>
            <a:prstGeom prst="triangle">
              <a:avLst/>
            </a:prstGeom>
            <a:solidFill>
              <a:srgbClr val="B4C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A2AF713B-76FA-996E-B44B-2EA63727D4AB}"/>
                </a:ext>
              </a:extLst>
            </p:cNvPr>
            <p:cNvSpPr txBox="1"/>
            <p:nvPr/>
          </p:nvSpPr>
          <p:spPr>
            <a:xfrm>
              <a:off x="9604248" y="2336271"/>
              <a:ext cx="2423160" cy="4801314"/>
            </a:xfrm>
            <a:prstGeom prst="rect">
              <a:avLst/>
            </a:prstGeom>
            <a:noFill/>
          </p:spPr>
          <p:txBody>
            <a:bodyPr wrap="square" rtlCol="0">
              <a:spAutoFit/>
            </a:bodyPr>
            <a:lstStyle/>
            <a:p>
              <a:r>
                <a:rPr lang="en-US" i="1" dirty="0">
                  <a:solidFill>
                    <a:schemeClr val="accent1"/>
                  </a:solidFill>
                </a:rPr>
                <a:t>“AI is working like a human brain.”</a:t>
              </a:r>
            </a:p>
            <a:p>
              <a:endPar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True</a:t>
              </a:r>
              <a:endParaRPr lang="en-US" dirty="0">
                <a:solidFill>
                  <a:schemeClr val="tx2">
                    <a:lumMod val="75000"/>
                  </a:schemeClr>
                </a:solidFill>
                <a:latin typeface="Arial Black" panose="020B0A04020102020204" pitchFamily="34" charset="0"/>
              </a:endParaRPr>
            </a:p>
            <a:p>
              <a:pPr marL="342900" indent="-342900">
                <a:buAutoNum type="alphaUcParenR"/>
              </a:pPr>
              <a:r>
                <a:rPr lang="en-US" dirty="0">
                  <a:solidFill>
                    <a:schemeClr val="tx2">
                      <a:lumMod val="75000"/>
                    </a:schemeClr>
                  </a:solidFill>
                  <a:latin typeface="Arial Black" panose="020B0A04020102020204" pitchFamily="34" charset="0"/>
                  <a:hlinkClick r:id="rId6" action="ppaction://hlinksldjump">
                    <a:extLst>
                      <a:ext uri="{A12FA001-AC4F-418D-AE19-62706E023703}">
                        <ahyp:hlinkClr xmlns:ahyp="http://schemas.microsoft.com/office/drawing/2018/hyperlinkcolor" val="tx"/>
                      </a:ext>
                    </a:extLst>
                  </a:hlinkClick>
                </a:rPr>
                <a:t>False</a:t>
              </a:r>
              <a:endParaRPr lang="en-US" dirty="0">
                <a:solidFill>
                  <a:schemeClr val="tx2">
                    <a:lumMod val="75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bg2"/>
                  </a:solidFill>
                  <a:latin typeface="Arial Black" panose="020B0A04020102020204" pitchFamily="34" charset="0"/>
                  <a:hlinkClick r:id="rId8" action="ppaction://hlinksldjump"/>
                </a:rPr>
                <a:t>Next Point</a:t>
              </a: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sp>
          <p:nvSpPr>
            <p:cNvPr id="28" name="TextBox 27">
              <a:extLst>
                <a:ext uri="{FF2B5EF4-FFF2-40B4-BE49-F238E27FC236}">
                  <a16:creationId xmlns:a16="http://schemas.microsoft.com/office/drawing/2014/main" id="{BAB879D6-1402-A133-09C3-13F8BADE1E9C}"/>
                </a:ext>
              </a:extLst>
            </p:cNvPr>
            <p:cNvSpPr txBox="1"/>
            <p:nvPr/>
          </p:nvSpPr>
          <p:spPr>
            <a:xfrm>
              <a:off x="9666732" y="657793"/>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4</a:t>
              </a:r>
            </a:p>
          </p:txBody>
        </p:sp>
      </p:grpSp>
      <p:grpSp>
        <p:nvGrpSpPr>
          <p:cNvPr id="29" name="Group 28">
            <a:extLst>
              <a:ext uri="{FF2B5EF4-FFF2-40B4-BE49-F238E27FC236}">
                <a16:creationId xmlns:a16="http://schemas.microsoft.com/office/drawing/2014/main" id="{E3FB8D8D-F404-9E66-57EC-0F911E78DFA4}"/>
              </a:ext>
            </a:extLst>
          </p:cNvPr>
          <p:cNvGrpSpPr/>
          <p:nvPr/>
        </p:nvGrpSpPr>
        <p:grpSpPr>
          <a:xfrm>
            <a:off x="504825" y="0"/>
            <a:ext cx="3644646" cy="6858000"/>
            <a:chOff x="6081522" y="0"/>
            <a:chExt cx="3644646" cy="6858000"/>
          </a:xfrm>
        </p:grpSpPr>
        <p:sp>
          <p:nvSpPr>
            <p:cNvPr id="30" name="Rectangle 29">
              <a:extLst>
                <a:ext uri="{FF2B5EF4-FFF2-40B4-BE49-F238E27FC236}">
                  <a16:creationId xmlns:a16="http://schemas.microsoft.com/office/drawing/2014/main" id="{44594A5D-53C0-80A4-E8FC-17F59D440EEE}"/>
                </a:ext>
              </a:extLst>
            </p:cNvPr>
            <p:cNvSpPr/>
            <p:nvPr/>
          </p:nvSpPr>
          <p:spPr>
            <a:xfrm>
              <a:off x="6081522" y="0"/>
              <a:ext cx="3176016" cy="685800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Isosceles Triangle 30">
              <a:extLst>
                <a:ext uri="{FF2B5EF4-FFF2-40B4-BE49-F238E27FC236}">
                  <a16:creationId xmlns:a16="http://schemas.microsoft.com/office/drawing/2014/main" id="{DCBF1974-170C-4E9A-8B0C-5CBE8263BCCC}"/>
                </a:ext>
              </a:extLst>
            </p:cNvPr>
            <p:cNvSpPr/>
            <p:nvPr/>
          </p:nvSpPr>
          <p:spPr>
            <a:xfrm rot="5400000">
              <a:off x="8852916" y="932850"/>
              <a:ext cx="1225296" cy="521208"/>
            </a:xfrm>
            <a:prstGeom prst="triangle">
              <a:avLst/>
            </a:prstGeom>
            <a:solidFill>
              <a:srgbClr val="8FAA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853A9A98-DB69-4D81-DC11-F4BFC7F05D50}"/>
                </a:ext>
              </a:extLst>
            </p:cNvPr>
            <p:cNvSpPr txBox="1"/>
            <p:nvPr/>
          </p:nvSpPr>
          <p:spPr>
            <a:xfrm>
              <a:off x="6472428" y="569751"/>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3</a:t>
              </a:r>
            </a:p>
          </p:txBody>
        </p:sp>
        <p:sp>
          <p:nvSpPr>
            <p:cNvPr id="33" name="TextBox 32">
              <a:extLst>
                <a:ext uri="{FF2B5EF4-FFF2-40B4-BE49-F238E27FC236}">
                  <a16:creationId xmlns:a16="http://schemas.microsoft.com/office/drawing/2014/main" id="{C446E7F5-C43E-35D7-9E6A-DCFB6FACE61B}"/>
                </a:ext>
              </a:extLst>
            </p:cNvPr>
            <p:cNvSpPr txBox="1"/>
            <p:nvPr/>
          </p:nvSpPr>
          <p:spPr>
            <a:xfrm>
              <a:off x="6619494" y="2316163"/>
              <a:ext cx="2423160" cy="3693319"/>
            </a:xfrm>
            <a:prstGeom prst="rect">
              <a:avLst/>
            </a:prstGeom>
            <a:noFill/>
          </p:spPr>
          <p:txBody>
            <a:bodyPr wrap="square" rtlCol="0">
              <a:spAutoFit/>
            </a:bodyPr>
            <a:lstStyle/>
            <a:p>
              <a:r>
                <a:rPr lang="en-US" i="1" dirty="0">
                  <a:solidFill>
                    <a:schemeClr val="tx2"/>
                  </a:solidFill>
                </a:rPr>
                <a:t>“AI-generated content (text, images, code) is now indistinguishable from human-created work.”</a:t>
              </a:r>
              <a:endParaRPr lang="en-US" dirty="0">
                <a:solidFill>
                  <a:schemeClr val="accent1">
                    <a:lumMod val="5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accent1">
                    <a:lumMod val="5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accent1">
                      <a:lumMod val="5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rPr>
                <a:t>True</a:t>
              </a:r>
              <a:endParaRPr lang="en-US" dirty="0">
                <a:solidFill>
                  <a:schemeClr val="accent1">
                    <a:lumMod val="50000"/>
                  </a:schemeClr>
                </a:solidFill>
                <a:latin typeface="Arial Black" panose="020B0A04020102020204" pitchFamily="34" charset="0"/>
              </a:endParaRPr>
            </a:p>
            <a:p>
              <a:pPr marL="342900" indent="-342900">
                <a:buAutoNum type="alphaUcParenR"/>
              </a:pPr>
              <a:r>
                <a:rPr lang="en-US" dirty="0">
                  <a:solidFill>
                    <a:schemeClr val="accent1">
                      <a:lumMod val="5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rPr>
                <a:t>False</a:t>
              </a:r>
              <a:endParaRPr lang="en-US" dirty="0">
                <a:solidFill>
                  <a:schemeClr val="accent1">
                    <a:lumMod val="5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p>
          </p:txBody>
        </p:sp>
      </p:grpSp>
      <p:grpSp>
        <p:nvGrpSpPr>
          <p:cNvPr id="34" name="Group 33">
            <a:extLst>
              <a:ext uri="{FF2B5EF4-FFF2-40B4-BE49-F238E27FC236}">
                <a16:creationId xmlns:a16="http://schemas.microsoft.com/office/drawing/2014/main" id="{BB2C5022-888F-C34C-6C15-AE58F16CD489}"/>
              </a:ext>
            </a:extLst>
          </p:cNvPr>
          <p:cNvGrpSpPr/>
          <p:nvPr/>
        </p:nvGrpSpPr>
        <p:grpSpPr>
          <a:xfrm>
            <a:off x="332232" y="0"/>
            <a:ext cx="3545586" cy="6858000"/>
            <a:chOff x="3052572" y="0"/>
            <a:chExt cx="3545586" cy="6858000"/>
          </a:xfrm>
        </p:grpSpPr>
        <p:sp>
          <p:nvSpPr>
            <p:cNvPr id="35" name="Rectangle 34">
              <a:extLst>
                <a:ext uri="{FF2B5EF4-FFF2-40B4-BE49-F238E27FC236}">
                  <a16:creationId xmlns:a16="http://schemas.microsoft.com/office/drawing/2014/main" id="{7C75E93D-68B6-7829-A708-223726A75515}"/>
                </a:ext>
              </a:extLst>
            </p:cNvPr>
            <p:cNvSpPr/>
            <p:nvPr/>
          </p:nvSpPr>
          <p:spPr>
            <a:xfrm>
              <a:off x="3052572" y="0"/>
              <a:ext cx="3034284" cy="6858000"/>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a:extLst>
                <a:ext uri="{FF2B5EF4-FFF2-40B4-BE49-F238E27FC236}">
                  <a16:creationId xmlns:a16="http://schemas.microsoft.com/office/drawing/2014/main" id="{DEA40135-35AF-F702-E0FC-87E613F21E22}"/>
                </a:ext>
              </a:extLst>
            </p:cNvPr>
            <p:cNvSpPr txBox="1"/>
            <p:nvPr/>
          </p:nvSpPr>
          <p:spPr>
            <a:xfrm>
              <a:off x="3435096" y="606902"/>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2</a:t>
              </a:r>
            </a:p>
          </p:txBody>
        </p:sp>
        <p:sp>
          <p:nvSpPr>
            <p:cNvPr id="37" name="Isosceles Triangle 36">
              <a:extLst>
                <a:ext uri="{FF2B5EF4-FFF2-40B4-BE49-F238E27FC236}">
                  <a16:creationId xmlns:a16="http://schemas.microsoft.com/office/drawing/2014/main" id="{34530EE0-5D64-CADA-2723-F62A8AA2B477}"/>
                </a:ext>
              </a:extLst>
            </p:cNvPr>
            <p:cNvSpPr/>
            <p:nvPr/>
          </p:nvSpPr>
          <p:spPr>
            <a:xfrm rot="5400000">
              <a:off x="5724906" y="921795"/>
              <a:ext cx="1225296" cy="521208"/>
            </a:xfrm>
            <a:prstGeom prst="triangle">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D8971FC2-7104-DF87-3220-BD5D3E9F3979}"/>
                </a:ext>
              </a:extLst>
            </p:cNvPr>
            <p:cNvSpPr txBox="1"/>
            <p:nvPr/>
          </p:nvSpPr>
          <p:spPr>
            <a:xfrm>
              <a:off x="3418332" y="2358935"/>
              <a:ext cx="2423160" cy="3693319"/>
            </a:xfrm>
            <a:prstGeom prst="rect">
              <a:avLst/>
            </a:prstGeom>
            <a:noFill/>
          </p:spPr>
          <p:txBody>
            <a:bodyPr wrap="square" rtlCol="0">
              <a:spAutoFit/>
            </a:bodyPr>
            <a:lstStyle/>
            <a:p>
              <a:r>
                <a:rPr lang="en-US" i="1" dirty="0">
                  <a:solidFill>
                    <a:schemeClr val="bg2"/>
                  </a:solidFill>
                </a:rPr>
                <a:t>“AI will replace most jobs in the future.”</a:t>
              </a:r>
              <a:endParaRPr lang="en-US" dirty="0">
                <a:solidFill>
                  <a:schemeClr val="bg2"/>
                </a:solidFill>
              </a:endParaRPr>
            </a:p>
            <a:p>
              <a:endPar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endParaRPr>
            </a:p>
            <a:p>
              <a:endPar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endParaRPr>
            </a:p>
            <a:p>
              <a:endPar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rPr>
                <a:t>True</a:t>
              </a:r>
              <a:endParaRPr lang="en-US" dirty="0">
                <a:solidFill>
                  <a:schemeClr val="bg2">
                    <a:lumMod val="90000"/>
                  </a:schemeClr>
                </a:solidFill>
                <a:latin typeface="Arial Black" panose="020B0A04020102020204" pitchFamily="34" charset="0"/>
              </a:endParaRPr>
            </a:p>
            <a:p>
              <a:pPr marL="342900" indent="-342900">
                <a:buAutoNum type="alphaUcParenR"/>
              </a:pPr>
              <a:r>
                <a:rPr lang="en-US" dirty="0">
                  <a:solidFill>
                    <a:schemeClr val="bg2">
                      <a:lumMod val="90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rPr>
                <a:t>False</a:t>
              </a:r>
              <a:endParaRPr lang="en-US" dirty="0">
                <a:solidFill>
                  <a:schemeClr val="bg2">
                    <a:lumMod val="9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grpSp>
      <p:grpSp>
        <p:nvGrpSpPr>
          <p:cNvPr id="39" name="Group 38">
            <a:extLst>
              <a:ext uri="{FF2B5EF4-FFF2-40B4-BE49-F238E27FC236}">
                <a16:creationId xmlns:a16="http://schemas.microsoft.com/office/drawing/2014/main" id="{D0D81CBB-373C-B58A-53EA-FCE1628AF3FB}"/>
              </a:ext>
            </a:extLst>
          </p:cNvPr>
          <p:cNvGrpSpPr/>
          <p:nvPr/>
        </p:nvGrpSpPr>
        <p:grpSpPr>
          <a:xfrm>
            <a:off x="0" y="0"/>
            <a:ext cx="3553968" cy="6858000"/>
            <a:chOff x="0" y="0"/>
            <a:chExt cx="3553968" cy="6858000"/>
          </a:xfrm>
        </p:grpSpPr>
        <p:sp>
          <p:nvSpPr>
            <p:cNvPr id="40" name="Rectangle 39">
              <a:extLst>
                <a:ext uri="{FF2B5EF4-FFF2-40B4-BE49-F238E27FC236}">
                  <a16:creationId xmlns:a16="http://schemas.microsoft.com/office/drawing/2014/main" id="{721F324D-1B74-0D5E-81F5-82045C6E6BDA}"/>
                </a:ext>
              </a:extLst>
            </p:cNvPr>
            <p:cNvSpPr/>
            <p:nvPr/>
          </p:nvSpPr>
          <p:spPr>
            <a:xfrm>
              <a:off x="0" y="0"/>
              <a:ext cx="3052572" cy="68580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a16="http://schemas.microsoft.com/office/drawing/2014/main" id="{41608340-3397-E794-9F68-7C95EE689D8D}"/>
                </a:ext>
              </a:extLst>
            </p:cNvPr>
            <p:cNvSpPr txBox="1"/>
            <p:nvPr/>
          </p:nvSpPr>
          <p:spPr>
            <a:xfrm>
              <a:off x="310896" y="694944"/>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1</a:t>
              </a:r>
            </a:p>
          </p:txBody>
        </p:sp>
        <p:sp>
          <p:nvSpPr>
            <p:cNvPr id="42" name="Isosceles Triangle 41">
              <a:extLst>
                <a:ext uri="{FF2B5EF4-FFF2-40B4-BE49-F238E27FC236}">
                  <a16:creationId xmlns:a16="http://schemas.microsoft.com/office/drawing/2014/main" id="{AF1F0842-BD76-D01B-2188-1261AFD74B1A}"/>
                </a:ext>
              </a:extLst>
            </p:cNvPr>
            <p:cNvSpPr/>
            <p:nvPr/>
          </p:nvSpPr>
          <p:spPr>
            <a:xfrm rot="5400000">
              <a:off x="2680716" y="958946"/>
              <a:ext cx="1225296" cy="521208"/>
            </a:xfrm>
            <a:prstGeom prst="triangle">
              <a:avLst/>
            </a:prstGeom>
            <a:solidFill>
              <a:srgbClr val="2038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E84B5DB2-3FDA-CAF3-CE67-C967FB35E7A9}"/>
                </a:ext>
              </a:extLst>
            </p:cNvPr>
            <p:cNvSpPr txBox="1"/>
            <p:nvPr/>
          </p:nvSpPr>
          <p:spPr>
            <a:xfrm>
              <a:off x="310896" y="2316163"/>
              <a:ext cx="2423160" cy="3693319"/>
            </a:xfrm>
            <a:prstGeom prst="rect">
              <a:avLst/>
            </a:prstGeom>
            <a:noFill/>
          </p:spPr>
          <p:txBody>
            <a:bodyPr wrap="square" rtlCol="0">
              <a:spAutoFit/>
            </a:bodyPr>
            <a:lstStyle/>
            <a:p>
              <a:r>
                <a:rPr lang="en-US" i="1" dirty="0">
                  <a:solidFill>
                    <a:schemeClr val="bg2"/>
                  </a:solidFill>
                </a:rPr>
                <a:t>“AI is mostly only useful for generating text in tools like ChatGPT or Gemini.” </a:t>
              </a:r>
              <a:endParaRPr lang="en-US" dirty="0">
                <a:solidFill>
                  <a:schemeClr val="bg2"/>
                </a:solidFill>
              </a:endParaRPr>
            </a:p>
            <a:p>
              <a:endParaRPr lang="en-US" dirty="0">
                <a:solidFill>
                  <a:schemeClr val="bg2">
                    <a:lumMod val="90000"/>
                  </a:schemeClr>
                </a:solidFill>
                <a:latin typeface="Arial Black" panose="020B0A04020102020204" pitchFamily="34" charset="0"/>
                <a:hlinkClick r:id="rId13"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bg2">
                    <a:lumMod val="90000"/>
                  </a:schemeClr>
                </a:solidFill>
                <a:latin typeface="Arial Black" panose="020B0A04020102020204" pitchFamily="34" charset="0"/>
                <a:hlinkClick r:id="rId13"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bg2">
                      <a:lumMod val="90000"/>
                    </a:schemeClr>
                  </a:solidFill>
                  <a:latin typeface="Arial Black" panose="020B0A04020102020204" pitchFamily="34" charset="0"/>
                  <a:hlinkClick r:id="rId13" action="ppaction://hlinksldjump">
                    <a:extLst>
                      <a:ext uri="{A12FA001-AC4F-418D-AE19-62706E023703}">
                        <ahyp:hlinkClr xmlns:ahyp="http://schemas.microsoft.com/office/drawing/2018/hyperlinkcolor" val="tx"/>
                      </a:ext>
                    </a:extLst>
                  </a:hlinkClick>
                </a:rPr>
                <a:t>True</a:t>
              </a:r>
              <a:endParaRPr lang="en-US" dirty="0">
                <a:solidFill>
                  <a:schemeClr val="bg2">
                    <a:lumMod val="90000"/>
                  </a:schemeClr>
                </a:solidFill>
                <a:latin typeface="Arial Black" panose="020B0A04020102020204" pitchFamily="34" charset="0"/>
              </a:endParaRPr>
            </a:p>
            <a:p>
              <a:pPr marL="342900" indent="-342900">
                <a:buAutoNum type="alphaUcParenR"/>
              </a:pPr>
              <a:r>
                <a:rPr lang="en-US" dirty="0">
                  <a:solidFill>
                    <a:schemeClr val="bg2">
                      <a:lumMod val="90000"/>
                    </a:schemeClr>
                  </a:solidFill>
                  <a:latin typeface="Arial Black" panose="020B0A04020102020204" pitchFamily="34" charset="0"/>
                  <a:hlinkClick r:id="rId14" action="ppaction://hlinksldjump">
                    <a:extLst>
                      <a:ext uri="{A12FA001-AC4F-418D-AE19-62706E023703}">
                        <ahyp:hlinkClr xmlns:ahyp="http://schemas.microsoft.com/office/drawing/2018/hyperlinkcolor" val="tx"/>
                      </a:ext>
                    </a:extLst>
                  </a:hlinkClick>
                </a:rPr>
                <a:t>False</a:t>
              </a:r>
              <a:endParaRPr lang="en-US" dirty="0">
                <a:solidFill>
                  <a:schemeClr val="bg2">
                    <a:lumMod val="9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grpSp>
      <p:pic>
        <p:nvPicPr>
          <p:cNvPr id="45" name="Picture 44">
            <a:extLst>
              <a:ext uri="{FF2B5EF4-FFF2-40B4-BE49-F238E27FC236}">
                <a16:creationId xmlns:a16="http://schemas.microsoft.com/office/drawing/2014/main" id="{4C4A665F-86A9-1212-037D-146FF841F0E7}"/>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400550" y="3845260"/>
            <a:ext cx="3823939" cy="2549293"/>
          </a:xfrm>
          <a:prstGeom prst="flowChartConnector">
            <a:avLst/>
          </a:prstGeom>
        </p:spPr>
      </p:pic>
      <p:sp>
        <p:nvSpPr>
          <p:cNvPr id="46" name="Arrow: Chevron 45">
            <a:extLst>
              <a:ext uri="{FF2B5EF4-FFF2-40B4-BE49-F238E27FC236}">
                <a16:creationId xmlns:a16="http://schemas.microsoft.com/office/drawing/2014/main" id="{E6610671-C0DB-C78F-3BBE-48E1B0E36324}"/>
              </a:ext>
            </a:extLst>
          </p:cNvPr>
          <p:cNvSpPr/>
          <p:nvPr/>
        </p:nvSpPr>
        <p:spPr>
          <a:xfrm>
            <a:off x="7649737" y="3897902"/>
            <a:ext cx="1915993" cy="2402537"/>
          </a:xfrm>
          <a:custGeom>
            <a:avLst/>
            <a:gdLst>
              <a:gd name="csX0" fmla="*/ 0 w 1804481"/>
              <a:gd name="csY0" fmla="*/ 0 h 2380235"/>
              <a:gd name="csX1" fmla="*/ 902241 w 1804481"/>
              <a:gd name="csY1" fmla="*/ 0 h 2380235"/>
              <a:gd name="csX2" fmla="*/ 1804481 w 1804481"/>
              <a:gd name="csY2" fmla="*/ 1190118 h 2380235"/>
              <a:gd name="csX3" fmla="*/ 902241 w 1804481"/>
              <a:gd name="csY3" fmla="*/ 2380235 h 2380235"/>
              <a:gd name="csX4" fmla="*/ 0 w 1804481"/>
              <a:gd name="csY4" fmla="*/ 2380235 h 2380235"/>
              <a:gd name="csX5" fmla="*/ 902241 w 1804481"/>
              <a:gd name="csY5" fmla="*/ 1190118 h 2380235"/>
              <a:gd name="csX6" fmla="*/ 0 w 1804481"/>
              <a:gd name="csY6" fmla="*/ 0 h 2380235"/>
              <a:gd name="csX0" fmla="*/ 111512 w 1915993"/>
              <a:gd name="csY0" fmla="*/ 0 h 2402537"/>
              <a:gd name="csX1" fmla="*/ 1013753 w 1915993"/>
              <a:gd name="csY1" fmla="*/ 0 h 2402537"/>
              <a:gd name="csX2" fmla="*/ 1915993 w 1915993"/>
              <a:gd name="csY2" fmla="*/ 1190118 h 2402537"/>
              <a:gd name="csX3" fmla="*/ 1013753 w 1915993"/>
              <a:gd name="csY3" fmla="*/ 2380235 h 2402537"/>
              <a:gd name="csX4" fmla="*/ 0 w 1915993"/>
              <a:gd name="csY4" fmla="*/ 2402537 h 2402537"/>
              <a:gd name="csX5" fmla="*/ 1013753 w 1915993"/>
              <a:gd name="csY5" fmla="*/ 1190118 h 2402537"/>
              <a:gd name="csX6" fmla="*/ 111512 w 1915993"/>
              <a:gd name="csY6" fmla="*/ 0 h 2402537"/>
              <a:gd name="csX0" fmla="*/ 111512 w 1915993"/>
              <a:gd name="csY0" fmla="*/ 0 h 2402537"/>
              <a:gd name="csX1" fmla="*/ 1013753 w 1915993"/>
              <a:gd name="csY1" fmla="*/ 0 h 2402537"/>
              <a:gd name="csX2" fmla="*/ 1915993 w 1915993"/>
              <a:gd name="csY2" fmla="*/ 1190118 h 2402537"/>
              <a:gd name="csX3" fmla="*/ 1013753 w 1915993"/>
              <a:gd name="csY3" fmla="*/ 2380235 h 2402537"/>
              <a:gd name="csX4" fmla="*/ 0 w 1915993"/>
              <a:gd name="csY4" fmla="*/ 2402537 h 2402537"/>
              <a:gd name="csX5" fmla="*/ 1013753 w 1915993"/>
              <a:gd name="csY5" fmla="*/ 1190118 h 2402537"/>
              <a:gd name="csX6" fmla="*/ 111512 w 1915993"/>
              <a:gd name="csY6" fmla="*/ 0 h 2402537"/>
              <a:gd name="csX0" fmla="*/ 89209 w 1915993"/>
              <a:gd name="csY0" fmla="*/ 22303 h 2402537"/>
              <a:gd name="csX1" fmla="*/ 1013753 w 1915993"/>
              <a:gd name="csY1" fmla="*/ 0 h 2402537"/>
              <a:gd name="csX2" fmla="*/ 1915993 w 1915993"/>
              <a:gd name="csY2" fmla="*/ 1190118 h 2402537"/>
              <a:gd name="csX3" fmla="*/ 1013753 w 1915993"/>
              <a:gd name="csY3" fmla="*/ 2380235 h 2402537"/>
              <a:gd name="csX4" fmla="*/ 0 w 1915993"/>
              <a:gd name="csY4" fmla="*/ 2402537 h 2402537"/>
              <a:gd name="csX5" fmla="*/ 1013753 w 1915993"/>
              <a:gd name="csY5" fmla="*/ 1190118 h 2402537"/>
              <a:gd name="csX6" fmla="*/ 89209 w 1915993"/>
              <a:gd name="csY6" fmla="*/ 22303 h 2402537"/>
              <a:gd name="csX0" fmla="*/ 89209 w 1915993"/>
              <a:gd name="csY0" fmla="*/ 22303 h 2402537"/>
              <a:gd name="csX1" fmla="*/ 1013753 w 1915993"/>
              <a:gd name="csY1" fmla="*/ 0 h 2402537"/>
              <a:gd name="csX2" fmla="*/ 1915993 w 1915993"/>
              <a:gd name="csY2" fmla="*/ 1190118 h 2402537"/>
              <a:gd name="csX3" fmla="*/ 1013753 w 1915993"/>
              <a:gd name="csY3" fmla="*/ 2380235 h 2402537"/>
              <a:gd name="csX4" fmla="*/ 0 w 1915993"/>
              <a:gd name="csY4" fmla="*/ 2402537 h 2402537"/>
              <a:gd name="csX5" fmla="*/ 1013753 w 1915993"/>
              <a:gd name="csY5" fmla="*/ 1190118 h 2402537"/>
              <a:gd name="csX6" fmla="*/ 89209 w 1915993"/>
              <a:gd name="csY6" fmla="*/ 22303 h 2402537"/>
              <a:gd name="csX0" fmla="*/ 89209 w 1915993"/>
              <a:gd name="csY0" fmla="*/ 22303 h 2402537"/>
              <a:gd name="csX1" fmla="*/ 1013753 w 1915993"/>
              <a:gd name="csY1" fmla="*/ 0 h 2402537"/>
              <a:gd name="csX2" fmla="*/ 1915993 w 1915993"/>
              <a:gd name="csY2" fmla="*/ 1190118 h 2402537"/>
              <a:gd name="csX3" fmla="*/ 1013753 w 1915993"/>
              <a:gd name="csY3" fmla="*/ 2380235 h 2402537"/>
              <a:gd name="csX4" fmla="*/ 0 w 1915993"/>
              <a:gd name="csY4" fmla="*/ 2402537 h 2402537"/>
              <a:gd name="csX5" fmla="*/ 1013753 w 1915993"/>
              <a:gd name="csY5" fmla="*/ 1190118 h 2402537"/>
              <a:gd name="csX6" fmla="*/ 89209 w 1915993"/>
              <a:gd name="csY6" fmla="*/ 22303 h 2402537"/>
              <a:gd name="csX0" fmla="*/ 89209 w 1915993"/>
              <a:gd name="csY0" fmla="*/ 22303 h 2402537"/>
              <a:gd name="csX1" fmla="*/ 1013753 w 1915993"/>
              <a:gd name="csY1" fmla="*/ 0 h 2402537"/>
              <a:gd name="csX2" fmla="*/ 1915993 w 1915993"/>
              <a:gd name="csY2" fmla="*/ 1190118 h 2402537"/>
              <a:gd name="csX3" fmla="*/ 1013753 w 1915993"/>
              <a:gd name="csY3" fmla="*/ 2380235 h 2402537"/>
              <a:gd name="csX4" fmla="*/ 0 w 1915993"/>
              <a:gd name="csY4" fmla="*/ 2402537 h 2402537"/>
              <a:gd name="csX5" fmla="*/ 1013753 w 1915993"/>
              <a:gd name="csY5" fmla="*/ 1190118 h 2402537"/>
              <a:gd name="csX6" fmla="*/ 89209 w 1915993"/>
              <a:gd name="csY6" fmla="*/ 22303 h 2402537"/>
              <a:gd name="csX0" fmla="*/ 89209 w 1915993"/>
              <a:gd name="csY0" fmla="*/ 22303 h 2402537"/>
              <a:gd name="csX1" fmla="*/ 1013753 w 1915993"/>
              <a:gd name="csY1" fmla="*/ 0 h 2402537"/>
              <a:gd name="csX2" fmla="*/ 1915993 w 1915993"/>
              <a:gd name="csY2" fmla="*/ 1190118 h 2402537"/>
              <a:gd name="csX3" fmla="*/ 1013753 w 1915993"/>
              <a:gd name="csY3" fmla="*/ 2380235 h 2402537"/>
              <a:gd name="csX4" fmla="*/ 0 w 1915993"/>
              <a:gd name="csY4" fmla="*/ 2402537 h 2402537"/>
              <a:gd name="csX5" fmla="*/ 1013753 w 1915993"/>
              <a:gd name="csY5" fmla="*/ 1190118 h 2402537"/>
              <a:gd name="csX6" fmla="*/ 89209 w 1915993"/>
              <a:gd name="csY6" fmla="*/ 22303 h 2402537"/>
              <a:gd name="csX0" fmla="*/ 89209 w 1915993"/>
              <a:gd name="csY0" fmla="*/ 22303 h 2402537"/>
              <a:gd name="csX1" fmla="*/ 1013753 w 1915993"/>
              <a:gd name="csY1" fmla="*/ 0 h 2402537"/>
              <a:gd name="csX2" fmla="*/ 1915993 w 1915993"/>
              <a:gd name="csY2" fmla="*/ 1190118 h 2402537"/>
              <a:gd name="csX3" fmla="*/ 1013753 w 1915993"/>
              <a:gd name="csY3" fmla="*/ 2380235 h 2402537"/>
              <a:gd name="csX4" fmla="*/ 0 w 1915993"/>
              <a:gd name="csY4" fmla="*/ 2402537 h 2402537"/>
              <a:gd name="csX5" fmla="*/ 1013753 w 1915993"/>
              <a:gd name="csY5" fmla="*/ 1190118 h 2402537"/>
              <a:gd name="csX6" fmla="*/ 89209 w 1915993"/>
              <a:gd name="csY6" fmla="*/ 22303 h 2402537"/>
              <a:gd name="csX0" fmla="*/ 89209 w 1915993"/>
              <a:gd name="csY0" fmla="*/ 22303 h 2402537"/>
              <a:gd name="csX1" fmla="*/ 1013753 w 1915993"/>
              <a:gd name="csY1" fmla="*/ 0 h 2402537"/>
              <a:gd name="csX2" fmla="*/ 1915993 w 1915993"/>
              <a:gd name="csY2" fmla="*/ 1190118 h 2402537"/>
              <a:gd name="csX3" fmla="*/ 1013753 w 1915993"/>
              <a:gd name="csY3" fmla="*/ 2380235 h 2402537"/>
              <a:gd name="csX4" fmla="*/ 0 w 1915993"/>
              <a:gd name="csY4" fmla="*/ 2402537 h 2402537"/>
              <a:gd name="csX5" fmla="*/ 1013753 w 1915993"/>
              <a:gd name="csY5" fmla="*/ 1190118 h 2402537"/>
              <a:gd name="csX6" fmla="*/ 89209 w 1915993"/>
              <a:gd name="csY6" fmla="*/ 22303 h 2402537"/>
              <a:gd name="csX0" fmla="*/ 89209 w 1915993"/>
              <a:gd name="csY0" fmla="*/ 22303 h 2402537"/>
              <a:gd name="csX1" fmla="*/ 1013753 w 1915993"/>
              <a:gd name="csY1" fmla="*/ 0 h 2402537"/>
              <a:gd name="csX2" fmla="*/ 1915993 w 1915993"/>
              <a:gd name="csY2" fmla="*/ 1190118 h 2402537"/>
              <a:gd name="csX3" fmla="*/ 1013753 w 1915993"/>
              <a:gd name="csY3" fmla="*/ 2380235 h 2402537"/>
              <a:gd name="csX4" fmla="*/ 0 w 1915993"/>
              <a:gd name="csY4" fmla="*/ 2402537 h 2402537"/>
              <a:gd name="csX5" fmla="*/ 1013753 w 1915993"/>
              <a:gd name="csY5" fmla="*/ 1190118 h 2402537"/>
              <a:gd name="csX6" fmla="*/ 89209 w 1915993"/>
              <a:gd name="csY6" fmla="*/ 22303 h 240253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15993" h="2402537">
                <a:moveTo>
                  <a:pt x="89209" y="22303"/>
                </a:moveTo>
                <a:lnTo>
                  <a:pt x="1013753" y="0"/>
                </a:lnTo>
                <a:cubicBezTo>
                  <a:pt x="1448315" y="385554"/>
                  <a:pt x="1726758" y="759958"/>
                  <a:pt x="1915993" y="1190118"/>
                </a:cubicBezTo>
                <a:cubicBezTo>
                  <a:pt x="1648699" y="1742941"/>
                  <a:pt x="1448315" y="2083890"/>
                  <a:pt x="1013753" y="2380235"/>
                </a:cubicBezTo>
                <a:lnTo>
                  <a:pt x="0" y="2402537"/>
                </a:lnTo>
                <a:cubicBezTo>
                  <a:pt x="728211" y="2043003"/>
                  <a:pt x="675835" y="1594258"/>
                  <a:pt x="1013753" y="1190118"/>
                </a:cubicBezTo>
                <a:cubicBezTo>
                  <a:pt x="705572" y="800846"/>
                  <a:pt x="687321" y="322365"/>
                  <a:pt x="89209" y="22303"/>
                </a:cubicBezTo>
                <a:close/>
              </a:path>
            </a:pathLst>
          </a:custGeom>
          <a:blipFill>
            <a:blip r:embed="rId16"/>
            <a:tile tx="0" ty="0" sx="10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7" name="Picture 46" descr="Ai Icon PNGs for Free Download">
            <a:extLst>
              <a:ext uri="{FF2B5EF4-FFF2-40B4-BE49-F238E27FC236}">
                <a16:creationId xmlns:a16="http://schemas.microsoft.com/office/drawing/2014/main" id="{12041BD0-AACA-4896-C6B0-A01382FFD40E}"/>
              </a:ext>
            </a:extLst>
          </p:cNvPr>
          <p:cNvPicPr>
            <a:picLocks noChangeAspect="1"/>
          </p:cNvPicPr>
          <p:nvPr/>
        </p:nvPicPr>
        <p:blipFill>
          <a:blip r:embed="rId17"/>
          <a:stretch>
            <a:fillRect/>
          </a:stretch>
        </p:blipFill>
        <p:spPr>
          <a:xfrm>
            <a:off x="9611919" y="3809129"/>
            <a:ext cx="2580081" cy="2580081"/>
          </a:xfrm>
          <a:prstGeom prst="rect">
            <a:avLst/>
          </a:prstGeom>
        </p:spPr>
      </p:pic>
    </p:spTree>
    <p:extLst>
      <p:ext uri="{BB962C8B-B14F-4D97-AF65-F5344CB8AC3E}">
        <p14:creationId xmlns:p14="http://schemas.microsoft.com/office/powerpoint/2010/main" val="39805087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13C7C625-07D9-436B-24F4-AF82EF541783}"/>
              </a:ext>
            </a:extLst>
          </p:cNvPr>
          <p:cNvSpPr txBox="1"/>
          <p:nvPr/>
        </p:nvSpPr>
        <p:spPr>
          <a:xfrm>
            <a:off x="4491609" y="379682"/>
            <a:ext cx="7700391" cy="3724096"/>
          </a:xfrm>
          <a:prstGeom prst="rect">
            <a:avLst/>
          </a:prstGeom>
          <a:noFill/>
        </p:spPr>
        <p:txBody>
          <a:bodyPr wrap="square" rtlCol="0">
            <a:spAutoFit/>
          </a:bodyPr>
          <a:lstStyle/>
          <a:p>
            <a:r>
              <a:rPr lang="en-US" sz="3200" dirty="0">
                <a:latin typeface="Arial Black" panose="020B0A04020102020204" pitchFamily="34" charset="0"/>
              </a:rPr>
              <a:t>Your Answer is correct!</a:t>
            </a:r>
          </a:p>
          <a:p>
            <a:endParaRPr lang="en-US" sz="3200" dirty="0">
              <a:latin typeface="Arial Black" panose="020B0A04020102020204" pitchFamily="34" charset="0"/>
            </a:endParaRPr>
          </a:p>
          <a:p>
            <a:pPr marL="342900" indent="-342900">
              <a:buFont typeface="Wingdings" panose="05000000000000000000" pitchFamily="2" charset="2"/>
              <a:buChar char="v"/>
            </a:pPr>
            <a:r>
              <a:rPr lang="en-US" sz="2000" dirty="0">
                <a:latin typeface="Arial Narrow" panose="020B0606020202030204" pitchFamily="34" charset="0"/>
              </a:rPr>
              <a:t>AI is not only the LLM’s that we see everyday like ChatGPT, Gemini, </a:t>
            </a:r>
            <a:r>
              <a:rPr lang="en-US" sz="2000" dirty="0" err="1">
                <a:latin typeface="Arial Narrow" panose="020B0606020202030204" pitchFamily="34" charset="0"/>
              </a:rPr>
              <a:t>Deepseek</a:t>
            </a:r>
            <a:r>
              <a:rPr lang="en-US" sz="2000" dirty="0">
                <a:latin typeface="Arial Narrow" panose="020B0606020202030204" pitchFamily="34" charset="0"/>
              </a:rPr>
              <a:t>, etc.</a:t>
            </a:r>
          </a:p>
          <a:p>
            <a:endParaRPr lang="en-US" sz="2000" dirty="0">
              <a:latin typeface="Arial Narrow" panose="020B0606020202030204" pitchFamily="34" charset="0"/>
            </a:endParaRPr>
          </a:p>
          <a:p>
            <a:pPr marL="342900" indent="-342900">
              <a:buFont typeface="Wingdings" panose="05000000000000000000" pitchFamily="2" charset="2"/>
              <a:buChar char="v"/>
            </a:pPr>
            <a:r>
              <a:rPr lang="en-US" sz="2000" dirty="0">
                <a:latin typeface="Arial Narrow" panose="020B0606020202030204" pitchFamily="34" charset="0"/>
              </a:rPr>
              <a:t>The main point here is that there are so many different types of AI all designed to solve different problems. </a:t>
            </a:r>
          </a:p>
          <a:p>
            <a:pPr marL="342900" indent="-342900">
              <a:buFont typeface="Wingdings" panose="05000000000000000000" pitchFamily="2" charset="2"/>
              <a:buChar char="v"/>
            </a:pPr>
            <a:endParaRPr lang="en-US" sz="2000" dirty="0">
              <a:latin typeface="Arial Narrow" panose="020B0606020202030204" pitchFamily="34" charset="0"/>
            </a:endParaRPr>
          </a:p>
          <a:p>
            <a:pPr marL="342900" indent="-342900">
              <a:buFont typeface="Wingdings" panose="05000000000000000000" pitchFamily="2" charset="2"/>
              <a:buChar char="v"/>
            </a:pPr>
            <a:r>
              <a:rPr lang="en-US" sz="2000" dirty="0">
                <a:latin typeface="Arial Narrow" panose="020B0606020202030204" pitchFamily="34" charset="0"/>
              </a:rPr>
              <a:t>There is also types such as traditional, predictive, and conversational AI.            </a:t>
            </a:r>
          </a:p>
          <a:p>
            <a:endParaRPr lang="en-US" sz="3200" dirty="0">
              <a:latin typeface="Arial Black" panose="020B0A04020102020204" pitchFamily="34" charset="0"/>
            </a:endParaRPr>
          </a:p>
        </p:txBody>
      </p:sp>
      <p:sp>
        <p:nvSpPr>
          <p:cNvPr id="78" name="TextBox 77">
            <a:extLst>
              <a:ext uri="{FF2B5EF4-FFF2-40B4-BE49-F238E27FC236}">
                <a16:creationId xmlns:a16="http://schemas.microsoft.com/office/drawing/2014/main" id="{E41F1B4F-828F-2CA0-3421-A3830F6CDBC9}"/>
              </a:ext>
            </a:extLst>
          </p:cNvPr>
          <p:cNvSpPr txBox="1"/>
          <p:nvPr/>
        </p:nvSpPr>
        <p:spPr>
          <a:xfrm>
            <a:off x="5441061" y="6532673"/>
            <a:ext cx="7947279" cy="369332"/>
          </a:xfrm>
          <a:prstGeom prst="rect">
            <a:avLst/>
          </a:prstGeom>
          <a:noFill/>
        </p:spPr>
        <p:txBody>
          <a:bodyPr wrap="square" rtlCol="0">
            <a:spAutoFit/>
          </a:bodyPr>
          <a:lstStyle/>
          <a:p>
            <a:r>
              <a:rPr lang="en-US" dirty="0"/>
              <a:t>*</a:t>
            </a:r>
            <a:r>
              <a:rPr lang="en-US" i="1" dirty="0"/>
              <a:t>Other Ai types from </a:t>
            </a:r>
            <a:r>
              <a:rPr lang="en-US" i="1" dirty="0">
                <a:hlinkClick r:id="rId2"/>
              </a:rPr>
              <a:t>Medium</a:t>
            </a:r>
            <a:r>
              <a:rPr lang="en-US" i="1" dirty="0"/>
              <a:t> and </a:t>
            </a:r>
            <a:r>
              <a:rPr lang="en-US" i="1" dirty="0">
                <a:hlinkClick r:id="rId3"/>
              </a:rPr>
              <a:t>Microsoft</a:t>
            </a:r>
            <a:r>
              <a:rPr lang="en-US" i="1" dirty="0"/>
              <a:t> </a:t>
            </a:r>
          </a:p>
        </p:txBody>
      </p:sp>
      <p:grpSp>
        <p:nvGrpSpPr>
          <p:cNvPr id="2" name="Group 1">
            <a:extLst>
              <a:ext uri="{FF2B5EF4-FFF2-40B4-BE49-F238E27FC236}">
                <a16:creationId xmlns:a16="http://schemas.microsoft.com/office/drawing/2014/main" id="{CF50950C-AFDF-2F28-B4DD-198592B70E3F}"/>
              </a:ext>
            </a:extLst>
          </p:cNvPr>
          <p:cNvGrpSpPr/>
          <p:nvPr/>
        </p:nvGrpSpPr>
        <p:grpSpPr>
          <a:xfrm>
            <a:off x="939737" y="0"/>
            <a:ext cx="3508248" cy="7137585"/>
            <a:chOff x="9204960" y="0"/>
            <a:chExt cx="3508248" cy="7137585"/>
          </a:xfrm>
        </p:grpSpPr>
        <p:sp>
          <p:nvSpPr>
            <p:cNvPr id="3" name="Rectangle 2">
              <a:extLst>
                <a:ext uri="{FF2B5EF4-FFF2-40B4-BE49-F238E27FC236}">
                  <a16:creationId xmlns:a16="http://schemas.microsoft.com/office/drawing/2014/main" id="{960363AA-C364-4718-9207-4A2EC2ECCB47}"/>
                </a:ext>
              </a:extLst>
            </p:cNvPr>
            <p:cNvSpPr/>
            <p:nvPr/>
          </p:nvSpPr>
          <p:spPr>
            <a:xfrm>
              <a:off x="9204960" y="0"/>
              <a:ext cx="2987040" cy="68580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0BF400AB-861D-3E58-F0AA-826AA9CAEBDD}"/>
                </a:ext>
              </a:extLst>
            </p:cNvPr>
            <p:cNvSpPr/>
            <p:nvPr/>
          </p:nvSpPr>
          <p:spPr>
            <a:xfrm rot="5400000">
              <a:off x="11839956" y="941994"/>
              <a:ext cx="1225296" cy="521208"/>
            </a:xfrm>
            <a:prstGeom prst="triangle">
              <a:avLst/>
            </a:prstGeom>
            <a:solidFill>
              <a:srgbClr val="B4C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D3990B5-516D-10CA-56D2-7F6C15276281}"/>
                </a:ext>
              </a:extLst>
            </p:cNvPr>
            <p:cNvSpPr txBox="1"/>
            <p:nvPr/>
          </p:nvSpPr>
          <p:spPr>
            <a:xfrm>
              <a:off x="9604248" y="2336271"/>
              <a:ext cx="2423160" cy="4801314"/>
            </a:xfrm>
            <a:prstGeom prst="rect">
              <a:avLst/>
            </a:prstGeom>
            <a:noFill/>
          </p:spPr>
          <p:txBody>
            <a:bodyPr wrap="square" rtlCol="0">
              <a:spAutoFit/>
            </a:bodyPr>
            <a:lstStyle/>
            <a:p>
              <a:r>
                <a:rPr lang="en-US" i="1" dirty="0">
                  <a:solidFill>
                    <a:schemeClr val="accent1"/>
                  </a:solidFill>
                </a:rPr>
                <a:t>“AI is working like a human brain.”</a:t>
              </a:r>
            </a:p>
            <a:p>
              <a:endParaRPr lang="en-US" dirty="0">
                <a:solidFill>
                  <a:schemeClr val="tx2">
                    <a:lumMod val="75000"/>
                  </a:schemeClr>
                </a:solidFill>
                <a:latin typeface="Arial Black" panose="020B0A04020102020204" pitchFamily="34" charset="0"/>
                <a:hlinkClick r:id="rId4"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4"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4"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4"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tx2">
                      <a:lumMod val="75000"/>
                    </a:schemeClr>
                  </a:solidFill>
                  <a:latin typeface="Arial Black" panose="020B0A04020102020204" pitchFamily="34" charset="0"/>
                  <a:hlinkClick r:id="rId4" action="ppaction://hlinksldjump">
                    <a:extLst>
                      <a:ext uri="{A12FA001-AC4F-418D-AE19-62706E023703}">
                        <ahyp:hlinkClr xmlns:ahyp="http://schemas.microsoft.com/office/drawing/2018/hyperlinkcolor" val="tx"/>
                      </a:ext>
                    </a:extLst>
                  </a:hlinkClick>
                </a:rPr>
                <a:t>True</a:t>
              </a:r>
              <a:endParaRPr lang="en-US" dirty="0">
                <a:solidFill>
                  <a:schemeClr val="tx2">
                    <a:lumMod val="75000"/>
                  </a:schemeClr>
                </a:solidFill>
                <a:latin typeface="Arial Black" panose="020B0A04020102020204" pitchFamily="34" charset="0"/>
              </a:endParaRPr>
            </a:p>
            <a:p>
              <a:pPr marL="342900" indent="-342900">
                <a:buAutoNum type="alphaUcParenR"/>
              </a:pPr>
              <a:r>
                <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False</a:t>
              </a:r>
              <a:endParaRPr lang="en-US" dirty="0">
                <a:solidFill>
                  <a:schemeClr val="tx2">
                    <a:lumMod val="75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6"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6"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bg2"/>
                  </a:solidFill>
                  <a:latin typeface="Arial Black" panose="020B0A04020102020204" pitchFamily="34" charset="0"/>
                  <a:hlinkClick r:id="rId7" action="ppaction://hlinksldjump"/>
                </a:rPr>
                <a:t>Next Point</a:t>
              </a: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sp>
          <p:nvSpPr>
            <p:cNvPr id="6" name="TextBox 5">
              <a:extLst>
                <a:ext uri="{FF2B5EF4-FFF2-40B4-BE49-F238E27FC236}">
                  <a16:creationId xmlns:a16="http://schemas.microsoft.com/office/drawing/2014/main" id="{A56448D7-AC5A-DACF-0C5B-11D9C13BBD5B}"/>
                </a:ext>
              </a:extLst>
            </p:cNvPr>
            <p:cNvSpPr txBox="1"/>
            <p:nvPr/>
          </p:nvSpPr>
          <p:spPr>
            <a:xfrm>
              <a:off x="9666732" y="657793"/>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4</a:t>
              </a:r>
            </a:p>
          </p:txBody>
        </p:sp>
      </p:grpSp>
      <p:grpSp>
        <p:nvGrpSpPr>
          <p:cNvPr id="7" name="Group 6">
            <a:extLst>
              <a:ext uri="{FF2B5EF4-FFF2-40B4-BE49-F238E27FC236}">
                <a16:creationId xmlns:a16="http://schemas.microsoft.com/office/drawing/2014/main" id="{278BB7B6-D8A6-623B-CB7A-344BCB928C4B}"/>
              </a:ext>
            </a:extLst>
          </p:cNvPr>
          <p:cNvGrpSpPr/>
          <p:nvPr/>
        </p:nvGrpSpPr>
        <p:grpSpPr>
          <a:xfrm>
            <a:off x="476631" y="23149"/>
            <a:ext cx="3644646" cy="6858000"/>
            <a:chOff x="6081522" y="0"/>
            <a:chExt cx="3644646" cy="6858000"/>
          </a:xfrm>
        </p:grpSpPr>
        <p:sp>
          <p:nvSpPr>
            <p:cNvPr id="8" name="Rectangle 7">
              <a:extLst>
                <a:ext uri="{FF2B5EF4-FFF2-40B4-BE49-F238E27FC236}">
                  <a16:creationId xmlns:a16="http://schemas.microsoft.com/office/drawing/2014/main" id="{029A770F-8FD3-F09E-948F-CDF221483B52}"/>
                </a:ext>
              </a:extLst>
            </p:cNvPr>
            <p:cNvSpPr/>
            <p:nvPr/>
          </p:nvSpPr>
          <p:spPr>
            <a:xfrm>
              <a:off x="6081522" y="0"/>
              <a:ext cx="3176016" cy="685800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Isosceles Triangle 8">
              <a:extLst>
                <a:ext uri="{FF2B5EF4-FFF2-40B4-BE49-F238E27FC236}">
                  <a16:creationId xmlns:a16="http://schemas.microsoft.com/office/drawing/2014/main" id="{B9B31308-EA18-0FDA-6608-B7207C6FDCDB}"/>
                </a:ext>
              </a:extLst>
            </p:cNvPr>
            <p:cNvSpPr/>
            <p:nvPr/>
          </p:nvSpPr>
          <p:spPr>
            <a:xfrm rot="5400000">
              <a:off x="8852916" y="932850"/>
              <a:ext cx="1225296" cy="521208"/>
            </a:xfrm>
            <a:prstGeom prst="triangle">
              <a:avLst/>
            </a:prstGeom>
            <a:solidFill>
              <a:srgbClr val="8FAA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0F05DB2-1BAE-1199-F487-F440D75E7717}"/>
                </a:ext>
              </a:extLst>
            </p:cNvPr>
            <p:cNvSpPr txBox="1"/>
            <p:nvPr/>
          </p:nvSpPr>
          <p:spPr>
            <a:xfrm>
              <a:off x="6472428" y="569751"/>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3</a:t>
              </a:r>
            </a:p>
          </p:txBody>
        </p:sp>
        <p:sp>
          <p:nvSpPr>
            <p:cNvPr id="11" name="TextBox 10">
              <a:extLst>
                <a:ext uri="{FF2B5EF4-FFF2-40B4-BE49-F238E27FC236}">
                  <a16:creationId xmlns:a16="http://schemas.microsoft.com/office/drawing/2014/main" id="{4CAC05EE-6CEB-8149-809E-D6E3794A1B30}"/>
                </a:ext>
              </a:extLst>
            </p:cNvPr>
            <p:cNvSpPr txBox="1"/>
            <p:nvPr/>
          </p:nvSpPr>
          <p:spPr>
            <a:xfrm>
              <a:off x="6619494" y="2316163"/>
              <a:ext cx="2423160" cy="3693319"/>
            </a:xfrm>
            <a:prstGeom prst="rect">
              <a:avLst/>
            </a:prstGeom>
            <a:noFill/>
          </p:spPr>
          <p:txBody>
            <a:bodyPr wrap="square" rtlCol="0">
              <a:spAutoFit/>
            </a:bodyPr>
            <a:lstStyle/>
            <a:p>
              <a:r>
                <a:rPr lang="en-US" i="1" dirty="0">
                  <a:solidFill>
                    <a:schemeClr val="tx2"/>
                  </a:solidFill>
                </a:rPr>
                <a:t>“AI-generated content (text, images, code) is now indistinguishable from human-created work.”</a:t>
              </a:r>
              <a:endParaRPr lang="en-US" dirty="0">
                <a:solidFill>
                  <a:schemeClr val="accent1">
                    <a:lumMod val="50000"/>
                  </a:schemeClr>
                </a:solidFill>
                <a:latin typeface="Arial Black" panose="020B0A04020102020204" pitchFamily="34" charset="0"/>
                <a:hlinkClick r:id="rId8"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accent1">
                    <a:lumMod val="50000"/>
                  </a:schemeClr>
                </a:solidFill>
                <a:latin typeface="Arial Black" panose="020B0A04020102020204" pitchFamily="34" charset="0"/>
                <a:hlinkClick r:id="rId8"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accent1">
                      <a:lumMod val="50000"/>
                    </a:schemeClr>
                  </a:solidFill>
                  <a:latin typeface="Arial Black" panose="020B0A04020102020204" pitchFamily="34" charset="0"/>
                  <a:hlinkClick r:id="rId8" action="ppaction://hlinksldjump">
                    <a:extLst>
                      <a:ext uri="{A12FA001-AC4F-418D-AE19-62706E023703}">
                        <ahyp:hlinkClr xmlns:ahyp="http://schemas.microsoft.com/office/drawing/2018/hyperlinkcolor" val="tx"/>
                      </a:ext>
                    </a:extLst>
                  </a:hlinkClick>
                </a:rPr>
                <a:t>True</a:t>
              </a:r>
              <a:endParaRPr lang="en-US" dirty="0">
                <a:solidFill>
                  <a:schemeClr val="accent1">
                    <a:lumMod val="50000"/>
                  </a:schemeClr>
                </a:solidFill>
                <a:latin typeface="Arial Black" panose="020B0A04020102020204" pitchFamily="34" charset="0"/>
              </a:endParaRPr>
            </a:p>
            <a:p>
              <a:pPr marL="342900" indent="-342900">
                <a:buAutoNum type="alphaUcParenR"/>
              </a:pPr>
              <a:r>
                <a:rPr lang="en-US" dirty="0">
                  <a:solidFill>
                    <a:schemeClr val="accent1">
                      <a:lumMod val="5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rPr>
                <a:t>False</a:t>
              </a:r>
              <a:endParaRPr lang="en-US" dirty="0">
                <a:solidFill>
                  <a:schemeClr val="accent1">
                    <a:lumMod val="5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6"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6"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p>
          </p:txBody>
        </p:sp>
      </p:grpSp>
      <p:grpSp>
        <p:nvGrpSpPr>
          <p:cNvPr id="12" name="Group 11">
            <a:extLst>
              <a:ext uri="{FF2B5EF4-FFF2-40B4-BE49-F238E27FC236}">
                <a16:creationId xmlns:a16="http://schemas.microsoft.com/office/drawing/2014/main" id="{EA121268-E09F-122F-59BB-840A24808050}"/>
              </a:ext>
            </a:extLst>
          </p:cNvPr>
          <p:cNvGrpSpPr/>
          <p:nvPr/>
        </p:nvGrpSpPr>
        <p:grpSpPr>
          <a:xfrm>
            <a:off x="310896" y="0"/>
            <a:ext cx="3545586" cy="6858000"/>
            <a:chOff x="3052572" y="0"/>
            <a:chExt cx="3545586" cy="6858000"/>
          </a:xfrm>
        </p:grpSpPr>
        <p:sp>
          <p:nvSpPr>
            <p:cNvPr id="13" name="Rectangle 12">
              <a:extLst>
                <a:ext uri="{FF2B5EF4-FFF2-40B4-BE49-F238E27FC236}">
                  <a16:creationId xmlns:a16="http://schemas.microsoft.com/office/drawing/2014/main" id="{FB04005B-769F-F263-BAE0-FC6B1FE33A1E}"/>
                </a:ext>
              </a:extLst>
            </p:cNvPr>
            <p:cNvSpPr/>
            <p:nvPr/>
          </p:nvSpPr>
          <p:spPr>
            <a:xfrm>
              <a:off x="3052572" y="0"/>
              <a:ext cx="3034284" cy="6858000"/>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E19B1A13-4240-DFC6-28B2-0ADD47A93372}"/>
                </a:ext>
              </a:extLst>
            </p:cNvPr>
            <p:cNvSpPr txBox="1"/>
            <p:nvPr/>
          </p:nvSpPr>
          <p:spPr>
            <a:xfrm>
              <a:off x="3435096" y="606902"/>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2</a:t>
              </a:r>
            </a:p>
          </p:txBody>
        </p:sp>
        <p:sp>
          <p:nvSpPr>
            <p:cNvPr id="15" name="Isosceles Triangle 14">
              <a:extLst>
                <a:ext uri="{FF2B5EF4-FFF2-40B4-BE49-F238E27FC236}">
                  <a16:creationId xmlns:a16="http://schemas.microsoft.com/office/drawing/2014/main" id="{E622C698-57A8-10A1-60DD-2BAB7014627B}"/>
                </a:ext>
              </a:extLst>
            </p:cNvPr>
            <p:cNvSpPr/>
            <p:nvPr/>
          </p:nvSpPr>
          <p:spPr>
            <a:xfrm rot="5400000">
              <a:off x="5724906" y="921795"/>
              <a:ext cx="1225296" cy="521208"/>
            </a:xfrm>
            <a:prstGeom prst="triangle">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0C665BE0-7BD1-8597-BF73-A4B938DEAB66}"/>
                </a:ext>
              </a:extLst>
            </p:cNvPr>
            <p:cNvSpPr txBox="1"/>
            <p:nvPr/>
          </p:nvSpPr>
          <p:spPr>
            <a:xfrm>
              <a:off x="3418332" y="2358935"/>
              <a:ext cx="2423160" cy="3693319"/>
            </a:xfrm>
            <a:prstGeom prst="rect">
              <a:avLst/>
            </a:prstGeom>
            <a:noFill/>
          </p:spPr>
          <p:txBody>
            <a:bodyPr wrap="square" rtlCol="0">
              <a:spAutoFit/>
            </a:bodyPr>
            <a:lstStyle/>
            <a:p>
              <a:r>
                <a:rPr lang="en-US" i="1" dirty="0">
                  <a:solidFill>
                    <a:schemeClr val="bg2"/>
                  </a:solidFill>
                </a:rPr>
                <a:t>“AI will replace most jobs in the future.”</a:t>
              </a:r>
              <a:endParaRPr lang="en-US" dirty="0">
                <a:solidFill>
                  <a:schemeClr val="bg2"/>
                </a:solidFill>
              </a:endParaRPr>
            </a:p>
            <a:p>
              <a:endParaRPr lang="en-US" dirty="0">
                <a:solidFill>
                  <a:schemeClr val="bg2">
                    <a:lumMod val="9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endParaRPr>
            </a:p>
            <a:p>
              <a:endParaRPr lang="en-US" dirty="0">
                <a:solidFill>
                  <a:schemeClr val="bg2">
                    <a:lumMod val="9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endParaRPr>
            </a:p>
            <a:p>
              <a:endParaRPr lang="en-US" dirty="0">
                <a:solidFill>
                  <a:schemeClr val="bg2">
                    <a:lumMod val="9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bg2">
                    <a:lumMod val="9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bg2">
                      <a:lumMod val="9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rPr>
                <a:t>True</a:t>
              </a:r>
              <a:endParaRPr lang="en-US" dirty="0">
                <a:solidFill>
                  <a:schemeClr val="bg2">
                    <a:lumMod val="90000"/>
                  </a:schemeClr>
                </a:solidFill>
                <a:latin typeface="Arial Black" panose="020B0A04020102020204" pitchFamily="34" charset="0"/>
              </a:endParaRPr>
            </a:p>
            <a:p>
              <a:pPr marL="342900" indent="-342900">
                <a:buAutoNum type="alphaUcParenR"/>
              </a:pPr>
              <a:r>
                <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rPr>
                <a:t>False</a:t>
              </a:r>
              <a:endParaRPr lang="en-US" dirty="0">
                <a:solidFill>
                  <a:schemeClr val="bg2">
                    <a:lumMod val="9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6"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6"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grpSp>
      <p:grpSp>
        <p:nvGrpSpPr>
          <p:cNvPr id="17" name="Group 16">
            <a:extLst>
              <a:ext uri="{FF2B5EF4-FFF2-40B4-BE49-F238E27FC236}">
                <a16:creationId xmlns:a16="http://schemas.microsoft.com/office/drawing/2014/main" id="{B6F5056F-B8C9-BB8A-2BED-7669C294AE4D}"/>
              </a:ext>
            </a:extLst>
          </p:cNvPr>
          <p:cNvGrpSpPr/>
          <p:nvPr/>
        </p:nvGrpSpPr>
        <p:grpSpPr>
          <a:xfrm>
            <a:off x="0" y="0"/>
            <a:ext cx="3553968" cy="6858000"/>
            <a:chOff x="0" y="0"/>
            <a:chExt cx="3553968" cy="6858000"/>
          </a:xfrm>
        </p:grpSpPr>
        <p:sp>
          <p:nvSpPr>
            <p:cNvPr id="18" name="Rectangle 17">
              <a:extLst>
                <a:ext uri="{FF2B5EF4-FFF2-40B4-BE49-F238E27FC236}">
                  <a16:creationId xmlns:a16="http://schemas.microsoft.com/office/drawing/2014/main" id="{4B9B1CCC-F468-246F-BA68-8A5245C20FD2}"/>
                </a:ext>
              </a:extLst>
            </p:cNvPr>
            <p:cNvSpPr/>
            <p:nvPr/>
          </p:nvSpPr>
          <p:spPr>
            <a:xfrm>
              <a:off x="0" y="0"/>
              <a:ext cx="3052572" cy="68580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A4178106-FE8F-F833-3963-85D172B64D52}"/>
                </a:ext>
              </a:extLst>
            </p:cNvPr>
            <p:cNvSpPr txBox="1"/>
            <p:nvPr/>
          </p:nvSpPr>
          <p:spPr>
            <a:xfrm>
              <a:off x="310896" y="694944"/>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1</a:t>
              </a:r>
            </a:p>
          </p:txBody>
        </p:sp>
        <p:sp>
          <p:nvSpPr>
            <p:cNvPr id="20" name="Isosceles Triangle 19">
              <a:extLst>
                <a:ext uri="{FF2B5EF4-FFF2-40B4-BE49-F238E27FC236}">
                  <a16:creationId xmlns:a16="http://schemas.microsoft.com/office/drawing/2014/main" id="{4CC2AB1F-9B1B-55E9-FA7F-DF4A962C0B50}"/>
                </a:ext>
              </a:extLst>
            </p:cNvPr>
            <p:cNvSpPr/>
            <p:nvPr/>
          </p:nvSpPr>
          <p:spPr>
            <a:xfrm rot="5400000">
              <a:off x="2680716" y="958946"/>
              <a:ext cx="1225296" cy="521208"/>
            </a:xfrm>
            <a:prstGeom prst="triangle">
              <a:avLst/>
            </a:prstGeom>
            <a:solidFill>
              <a:srgbClr val="2038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CC84BE85-811D-CD6F-5E5D-AC4BD7C98F15}"/>
                </a:ext>
              </a:extLst>
            </p:cNvPr>
            <p:cNvSpPr txBox="1"/>
            <p:nvPr/>
          </p:nvSpPr>
          <p:spPr>
            <a:xfrm>
              <a:off x="310896" y="2316163"/>
              <a:ext cx="2423160" cy="3693319"/>
            </a:xfrm>
            <a:prstGeom prst="rect">
              <a:avLst/>
            </a:prstGeom>
            <a:noFill/>
          </p:spPr>
          <p:txBody>
            <a:bodyPr wrap="square" rtlCol="0">
              <a:spAutoFit/>
            </a:bodyPr>
            <a:lstStyle/>
            <a:p>
              <a:r>
                <a:rPr lang="en-US" i="1" dirty="0">
                  <a:solidFill>
                    <a:schemeClr val="bg2"/>
                  </a:solidFill>
                </a:rPr>
                <a:t>“AI is mostly only useful for generating text in tools like ChatGPT or Gemini.” </a:t>
              </a:r>
              <a:endParaRPr lang="en-US" dirty="0">
                <a:solidFill>
                  <a:schemeClr val="bg2"/>
                </a:solidFill>
              </a:endParaRPr>
            </a:p>
            <a:p>
              <a:endParaRPr lang="en-US" dirty="0">
                <a:solidFill>
                  <a:schemeClr val="bg2">
                    <a:lumMod val="90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bg2">
                    <a:lumMod val="90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bg2">
                      <a:lumMod val="90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rPr>
                <a:t>True</a:t>
              </a:r>
              <a:endParaRPr lang="en-US" dirty="0">
                <a:solidFill>
                  <a:schemeClr val="bg2">
                    <a:lumMod val="90000"/>
                  </a:schemeClr>
                </a:solidFill>
                <a:latin typeface="Arial Black" panose="020B0A04020102020204" pitchFamily="34" charset="0"/>
              </a:endParaRPr>
            </a:p>
            <a:p>
              <a:pPr marL="342900" indent="-342900">
                <a:buAutoNum type="alphaUcParenR"/>
              </a:pPr>
              <a:r>
                <a:rPr lang="en-US" dirty="0">
                  <a:solidFill>
                    <a:schemeClr val="bg2">
                      <a:lumMod val="90000"/>
                    </a:schemeClr>
                  </a:solidFill>
                  <a:latin typeface="Arial Black" panose="020B0A04020102020204" pitchFamily="34" charset="0"/>
                  <a:hlinkClick r:id="rId13" action="ppaction://hlinksldjump">
                    <a:extLst>
                      <a:ext uri="{A12FA001-AC4F-418D-AE19-62706E023703}">
                        <ahyp:hlinkClr xmlns:ahyp="http://schemas.microsoft.com/office/drawing/2018/hyperlinkcolor" val="tx"/>
                      </a:ext>
                    </a:extLst>
                  </a:hlinkClick>
                </a:rPr>
                <a:t>False</a:t>
              </a:r>
              <a:endParaRPr lang="en-US" dirty="0">
                <a:solidFill>
                  <a:schemeClr val="bg2">
                    <a:lumMod val="9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6"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6"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grpSp>
      <p:pic>
        <p:nvPicPr>
          <p:cNvPr id="24" name="Picture 23">
            <a:extLst>
              <a:ext uri="{FF2B5EF4-FFF2-40B4-BE49-F238E27FC236}">
                <a16:creationId xmlns:a16="http://schemas.microsoft.com/office/drawing/2014/main" id="{5E15993A-5991-5EFE-2AEF-430BE012E29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400550" y="3845260"/>
            <a:ext cx="3823939" cy="2549293"/>
          </a:xfrm>
          <a:prstGeom prst="flowChartConnector">
            <a:avLst/>
          </a:prstGeom>
        </p:spPr>
      </p:pic>
      <p:sp>
        <p:nvSpPr>
          <p:cNvPr id="26" name="Arrow: Chevron 45">
            <a:extLst>
              <a:ext uri="{FF2B5EF4-FFF2-40B4-BE49-F238E27FC236}">
                <a16:creationId xmlns:a16="http://schemas.microsoft.com/office/drawing/2014/main" id="{3836AEBB-051B-3F55-128B-C52722A9D8A7}"/>
              </a:ext>
            </a:extLst>
          </p:cNvPr>
          <p:cNvSpPr/>
          <p:nvPr/>
        </p:nvSpPr>
        <p:spPr>
          <a:xfrm>
            <a:off x="7649737" y="3897902"/>
            <a:ext cx="1915993" cy="2402537"/>
          </a:xfrm>
          <a:custGeom>
            <a:avLst/>
            <a:gdLst>
              <a:gd name="csX0" fmla="*/ 0 w 1804481"/>
              <a:gd name="csY0" fmla="*/ 0 h 2380235"/>
              <a:gd name="csX1" fmla="*/ 902241 w 1804481"/>
              <a:gd name="csY1" fmla="*/ 0 h 2380235"/>
              <a:gd name="csX2" fmla="*/ 1804481 w 1804481"/>
              <a:gd name="csY2" fmla="*/ 1190118 h 2380235"/>
              <a:gd name="csX3" fmla="*/ 902241 w 1804481"/>
              <a:gd name="csY3" fmla="*/ 2380235 h 2380235"/>
              <a:gd name="csX4" fmla="*/ 0 w 1804481"/>
              <a:gd name="csY4" fmla="*/ 2380235 h 2380235"/>
              <a:gd name="csX5" fmla="*/ 902241 w 1804481"/>
              <a:gd name="csY5" fmla="*/ 1190118 h 2380235"/>
              <a:gd name="csX6" fmla="*/ 0 w 1804481"/>
              <a:gd name="csY6" fmla="*/ 0 h 2380235"/>
              <a:gd name="csX0" fmla="*/ 111512 w 1915993"/>
              <a:gd name="csY0" fmla="*/ 0 h 2402537"/>
              <a:gd name="csX1" fmla="*/ 1013753 w 1915993"/>
              <a:gd name="csY1" fmla="*/ 0 h 2402537"/>
              <a:gd name="csX2" fmla="*/ 1915993 w 1915993"/>
              <a:gd name="csY2" fmla="*/ 1190118 h 2402537"/>
              <a:gd name="csX3" fmla="*/ 1013753 w 1915993"/>
              <a:gd name="csY3" fmla="*/ 2380235 h 2402537"/>
              <a:gd name="csX4" fmla="*/ 0 w 1915993"/>
              <a:gd name="csY4" fmla="*/ 2402537 h 2402537"/>
              <a:gd name="csX5" fmla="*/ 1013753 w 1915993"/>
              <a:gd name="csY5" fmla="*/ 1190118 h 2402537"/>
              <a:gd name="csX6" fmla="*/ 111512 w 1915993"/>
              <a:gd name="csY6" fmla="*/ 0 h 2402537"/>
              <a:gd name="csX0" fmla="*/ 111512 w 1915993"/>
              <a:gd name="csY0" fmla="*/ 0 h 2402537"/>
              <a:gd name="csX1" fmla="*/ 1013753 w 1915993"/>
              <a:gd name="csY1" fmla="*/ 0 h 2402537"/>
              <a:gd name="csX2" fmla="*/ 1915993 w 1915993"/>
              <a:gd name="csY2" fmla="*/ 1190118 h 2402537"/>
              <a:gd name="csX3" fmla="*/ 1013753 w 1915993"/>
              <a:gd name="csY3" fmla="*/ 2380235 h 2402537"/>
              <a:gd name="csX4" fmla="*/ 0 w 1915993"/>
              <a:gd name="csY4" fmla="*/ 2402537 h 2402537"/>
              <a:gd name="csX5" fmla="*/ 1013753 w 1915993"/>
              <a:gd name="csY5" fmla="*/ 1190118 h 2402537"/>
              <a:gd name="csX6" fmla="*/ 111512 w 1915993"/>
              <a:gd name="csY6" fmla="*/ 0 h 2402537"/>
              <a:gd name="csX0" fmla="*/ 89209 w 1915993"/>
              <a:gd name="csY0" fmla="*/ 22303 h 2402537"/>
              <a:gd name="csX1" fmla="*/ 1013753 w 1915993"/>
              <a:gd name="csY1" fmla="*/ 0 h 2402537"/>
              <a:gd name="csX2" fmla="*/ 1915993 w 1915993"/>
              <a:gd name="csY2" fmla="*/ 1190118 h 2402537"/>
              <a:gd name="csX3" fmla="*/ 1013753 w 1915993"/>
              <a:gd name="csY3" fmla="*/ 2380235 h 2402537"/>
              <a:gd name="csX4" fmla="*/ 0 w 1915993"/>
              <a:gd name="csY4" fmla="*/ 2402537 h 2402537"/>
              <a:gd name="csX5" fmla="*/ 1013753 w 1915993"/>
              <a:gd name="csY5" fmla="*/ 1190118 h 2402537"/>
              <a:gd name="csX6" fmla="*/ 89209 w 1915993"/>
              <a:gd name="csY6" fmla="*/ 22303 h 2402537"/>
              <a:gd name="csX0" fmla="*/ 89209 w 1915993"/>
              <a:gd name="csY0" fmla="*/ 22303 h 2402537"/>
              <a:gd name="csX1" fmla="*/ 1013753 w 1915993"/>
              <a:gd name="csY1" fmla="*/ 0 h 2402537"/>
              <a:gd name="csX2" fmla="*/ 1915993 w 1915993"/>
              <a:gd name="csY2" fmla="*/ 1190118 h 2402537"/>
              <a:gd name="csX3" fmla="*/ 1013753 w 1915993"/>
              <a:gd name="csY3" fmla="*/ 2380235 h 2402537"/>
              <a:gd name="csX4" fmla="*/ 0 w 1915993"/>
              <a:gd name="csY4" fmla="*/ 2402537 h 2402537"/>
              <a:gd name="csX5" fmla="*/ 1013753 w 1915993"/>
              <a:gd name="csY5" fmla="*/ 1190118 h 2402537"/>
              <a:gd name="csX6" fmla="*/ 89209 w 1915993"/>
              <a:gd name="csY6" fmla="*/ 22303 h 2402537"/>
              <a:gd name="csX0" fmla="*/ 89209 w 1915993"/>
              <a:gd name="csY0" fmla="*/ 22303 h 2402537"/>
              <a:gd name="csX1" fmla="*/ 1013753 w 1915993"/>
              <a:gd name="csY1" fmla="*/ 0 h 2402537"/>
              <a:gd name="csX2" fmla="*/ 1915993 w 1915993"/>
              <a:gd name="csY2" fmla="*/ 1190118 h 2402537"/>
              <a:gd name="csX3" fmla="*/ 1013753 w 1915993"/>
              <a:gd name="csY3" fmla="*/ 2380235 h 2402537"/>
              <a:gd name="csX4" fmla="*/ 0 w 1915993"/>
              <a:gd name="csY4" fmla="*/ 2402537 h 2402537"/>
              <a:gd name="csX5" fmla="*/ 1013753 w 1915993"/>
              <a:gd name="csY5" fmla="*/ 1190118 h 2402537"/>
              <a:gd name="csX6" fmla="*/ 89209 w 1915993"/>
              <a:gd name="csY6" fmla="*/ 22303 h 2402537"/>
              <a:gd name="csX0" fmla="*/ 89209 w 1915993"/>
              <a:gd name="csY0" fmla="*/ 22303 h 2402537"/>
              <a:gd name="csX1" fmla="*/ 1013753 w 1915993"/>
              <a:gd name="csY1" fmla="*/ 0 h 2402537"/>
              <a:gd name="csX2" fmla="*/ 1915993 w 1915993"/>
              <a:gd name="csY2" fmla="*/ 1190118 h 2402537"/>
              <a:gd name="csX3" fmla="*/ 1013753 w 1915993"/>
              <a:gd name="csY3" fmla="*/ 2380235 h 2402537"/>
              <a:gd name="csX4" fmla="*/ 0 w 1915993"/>
              <a:gd name="csY4" fmla="*/ 2402537 h 2402537"/>
              <a:gd name="csX5" fmla="*/ 1013753 w 1915993"/>
              <a:gd name="csY5" fmla="*/ 1190118 h 2402537"/>
              <a:gd name="csX6" fmla="*/ 89209 w 1915993"/>
              <a:gd name="csY6" fmla="*/ 22303 h 2402537"/>
              <a:gd name="csX0" fmla="*/ 89209 w 1915993"/>
              <a:gd name="csY0" fmla="*/ 22303 h 2402537"/>
              <a:gd name="csX1" fmla="*/ 1013753 w 1915993"/>
              <a:gd name="csY1" fmla="*/ 0 h 2402537"/>
              <a:gd name="csX2" fmla="*/ 1915993 w 1915993"/>
              <a:gd name="csY2" fmla="*/ 1190118 h 2402537"/>
              <a:gd name="csX3" fmla="*/ 1013753 w 1915993"/>
              <a:gd name="csY3" fmla="*/ 2380235 h 2402537"/>
              <a:gd name="csX4" fmla="*/ 0 w 1915993"/>
              <a:gd name="csY4" fmla="*/ 2402537 h 2402537"/>
              <a:gd name="csX5" fmla="*/ 1013753 w 1915993"/>
              <a:gd name="csY5" fmla="*/ 1190118 h 2402537"/>
              <a:gd name="csX6" fmla="*/ 89209 w 1915993"/>
              <a:gd name="csY6" fmla="*/ 22303 h 2402537"/>
              <a:gd name="csX0" fmla="*/ 89209 w 1915993"/>
              <a:gd name="csY0" fmla="*/ 22303 h 2402537"/>
              <a:gd name="csX1" fmla="*/ 1013753 w 1915993"/>
              <a:gd name="csY1" fmla="*/ 0 h 2402537"/>
              <a:gd name="csX2" fmla="*/ 1915993 w 1915993"/>
              <a:gd name="csY2" fmla="*/ 1190118 h 2402537"/>
              <a:gd name="csX3" fmla="*/ 1013753 w 1915993"/>
              <a:gd name="csY3" fmla="*/ 2380235 h 2402537"/>
              <a:gd name="csX4" fmla="*/ 0 w 1915993"/>
              <a:gd name="csY4" fmla="*/ 2402537 h 2402537"/>
              <a:gd name="csX5" fmla="*/ 1013753 w 1915993"/>
              <a:gd name="csY5" fmla="*/ 1190118 h 2402537"/>
              <a:gd name="csX6" fmla="*/ 89209 w 1915993"/>
              <a:gd name="csY6" fmla="*/ 22303 h 2402537"/>
              <a:gd name="csX0" fmla="*/ 89209 w 1915993"/>
              <a:gd name="csY0" fmla="*/ 22303 h 2402537"/>
              <a:gd name="csX1" fmla="*/ 1013753 w 1915993"/>
              <a:gd name="csY1" fmla="*/ 0 h 2402537"/>
              <a:gd name="csX2" fmla="*/ 1915993 w 1915993"/>
              <a:gd name="csY2" fmla="*/ 1190118 h 2402537"/>
              <a:gd name="csX3" fmla="*/ 1013753 w 1915993"/>
              <a:gd name="csY3" fmla="*/ 2380235 h 2402537"/>
              <a:gd name="csX4" fmla="*/ 0 w 1915993"/>
              <a:gd name="csY4" fmla="*/ 2402537 h 2402537"/>
              <a:gd name="csX5" fmla="*/ 1013753 w 1915993"/>
              <a:gd name="csY5" fmla="*/ 1190118 h 2402537"/>
              <a:gd name="csX6" fmla="*/ 89209 w 1915993"/>
              <a:gd name="csY6" fmla="*/ 22303 h 2402537"/>
              <a:gd name="csX0" fmla="*/ 89209 w 1915993"/>
              <a:gd name="csY0" fmla="*/ 22303 h 2402537"/>
              <a:gd name="csX1" fmla="*/ 1013753 w 1915993"/>
              <a:gd name="csY1" fmla="*/ 0 h 2402537"/>
              <a:gd name="csX2" fmla="*/ 1915993 w 1915993"/>
              <a:gd name="csY2" fmla="*/ 1190118 h 2402537"/>
              <a:gd name="csX3" fmla="*/ 1013753 w 1915993"/>
              <a:gd name="csY3" fmla="*/ 2380235 h 2402537"/>
              <a:gd name="csX4" fmla="*/ 0 w 1915993"/>
              <a:gd name="csY4" fmla="*/ 2402537 h 2402537"/>
              <a:gd name="csX5" fmla="*/ 1013753 w 1915993"/>
              <a:gd name="csY5" fmla="*/ 1190118 h 2402537"/>
              <a:gd name="csX6" fmla="*/ 89209 w 1915993"/>
              <a:gd name="csY6" fmla="*/ 22303 h 240253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15993" h="2402537">
                <a:moveTo>
                  <a:pt x="89209" y="22303"/>
                </a:moveTo>
                <a:lnTo>
                  <a:pt x="1013753" y="0"/>
                </a:lnTo>
                <a:cubicBezTo>
                  <a:pt x="1448315" y="385554"/>
                  <a:pt x="1726758" y="759958"/>
                  <a:pt x="1915993" y="1190118"/>
                </a:cubicBezTo>
                <a:cubicBezTo>
                  <a:pt x="1648699" y="1742941"/>
                  <a:pt x="1448315" y="2083890"/>
                  <a:pt x="1013753" y="2380235"/>
                </a:cubicBezTo>
                <a:lnTo>
                  <a:pt x="0" y="2402537"/>
                </a:lnTo>
                <a:cubicBezTo>
                  <a:pt x="728211" y="2043003"/>
                  <a:pt x="675835" y="1594258"/>
                  <a:pt x="1013753" y="1190118"/>
                </a:cubicBezTo>
                <a:cubicBezTo>
                  <a:pt x="705572" y="800846"/>
                  <a:pt x="687321" y="322365"/>
                  <a:pt x="89209" y="22303"/>
                </a:cubicBezTo>
                <a:close/>
              </a:path>
            </a:pathLst>
          </a:custGeom>
          <a:blipFill>
            <a:blip r:embed="rId15"/>
            <a:tile tx="0" ty="0" sx="10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8" name="Picture 27" descr="Ai Icon PNGs for Free Download">
            <a:extLst>
              <a:ext uri="{FF2B5EF4-FFF2-40B4-BE49-F238E27FC236}">
                <a16:creationId xmlns:a16="http://schemas.microsoft.com/office/drawing/2014/main" id="{65AFFAE6-CFCE-7ADD-7C60-76F745E76A36}"/>
              </a:ext>
            </a:extLst>
          </p:cNvPr>
          <p:cNvPicPr>
            <a:picLocks noChangeAspect="1"/>
          </p:cNvPicPr>
          <p:nvPr/>
        </p:nvPicPr>
        <p:blipFill>
          <a:blip r:embed="rId16"/>
          <a:stretch>
            <a:fillRect/>
          </a:stretch>
        </p:blipFill>
        <p:spPr>
          <a:xfrm>
            <a:off x="9611919" y="3809129"/>
            <a:ext cx="2580081" cy="2580081"/>
          </a:xfrm>
          <a:prstGeom prst="rect">
            <a:avLst/>
          </a:prstGeom>
        </p:spPr>
      </p:pic>
    </p:spTree>
    <p:extLst>
      <p:ext uri="{BB962C8B-B14F-4D97-AF65-F5344CB8AC3E}">
        <p14:creationId xmlns:p14="http://schemas.microsoft.com/office/powerpoint/2010/main" val="2830213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1283C-2223-C207-86EA-FAAF8356A0C0}"/>
            </a:ext>
          </a:extLst>
        </p:cNvPr>
        <p:cNvGrpSpPr/>
        <p:nvPr/>
      </p:nvGrpSpPr>
      <p:grpSpPr>
        <a:xfrm>
          <a:off x="0" y="0"/>
          <a:ext cx="0" cy="0"/>
          <a:chOff x="0" y="0"/>
          <a:chExt cx="0" cy="0"/>
        </a:xfrm>
      </p:grpSpPr>
      <p:pic>
        <p:nvPicPr>
          <p:cNvPr id="27" name="Picture 26">
            <a:extLst>
              <a:ext uri="{FF2B5EF4-FFF2-40B4-BE49-F238E27FC236}">
                <a16:creationId xmlns:a16="http://schemas.microsoft.com/office/drawing/2014/main" id="{BEDB07A6-6DA8-BEAD-AA2B-A068DE9836C4}"/>
              </a:ext>
            </a:extLst>
          </p:cNvPr>
          <p:cNvPicPr>
            <a:picLocks noChangeAspect="1"/>
          </p:cNvPicPr>
          <p:nvPr/>
        </p:nvPicPr>
        <p:blipFill>
          <a:blip r:embed="rId3"/>
          <a:stretch>
            <a:fillRect/>
          </a:stretch>
        </p:blipFill>
        <p:spPr>
          <a:xfrm>
            <a:off x="4013434" y="1744131"/>
            <a:ext cx="5955762" cy="5044964"/>
          </a:xfrm>
          <a:prstGeom prst="rect">
            <a:avLst/>
          </a:prstGeom>
          <a:ln>
            <a:noFill/>
          </a:ln>
          <a:effectLst>
            <a:outerShdw blurRad="292100" dist="139700" dir="2700000" algn="tl" rotWithShape="0">
              <a:srgbClr val="333333">
                <a:alpha val="65000"/>
              </a:srgbClr>
            </a:outerShdw>
          </a:effectLst>
        </p:spPr>
      </p:pic>
      <p:sp>
        <p:nvSpPr>
          <p:cNvPr id="23" name="TextBox 22">
            <a:extLst>
              <a:ext uri="{FF2B5EF4-FFF2-40B4-BE49-F238E27FC236}">
                <a16:creationId xmlns:a16="http://schemas.microsoft.com/office/drawing/2014/main" id="{B0418EC0-0811-0715-25C2-CD72F7134458}"/>
              </a:ext>
            </a:extLst>
          </p:cNvPr>
          <p:cNvSpPr txBox="1"/>
          <p:nvPr/>
        </p:nvSpPr>
        <p:spPr>
          <a:xfrm>
            <a:off x="4423901" y="517774"/>
            <a:ext cx="7269480" cy="2554545"/>
          </a:xfrm>
          <a:prstGeom prst="rect">
            <a:avLst/>
          </a:prstGeom>
          <a:noFill/>
        </p:spPr>
        <p:txBody>
          <a:bodyPr wrap="square" rtlCol="0">
            <a:spAutoFit/>
          </a:bodyPr>
          <a:lstStyle/>
          <a:p>
            <a:r>
              <a:rPr lang="en-US" sz="3200" dirty="0">
                <a:latin typeface="Arial Black" panose="020B0A04020102020204" pitchFamily="34" charset="0"/>
              </a:rPr>
              <a:t>This is a misconception</a:t>
            </a:r>
          </a:p>
          <a:p>
            <a:endParaRPr lang="en-US" sz="3200" dirty="0">
              <a:latin typeface="Arial Black" panose="020B0A04020102020204" pitchFamily="34" charset="0"/>
            </a:endParaRPr>
          </a:p>
          <a:p>
            <a:endParaRPr lang="en-US" sz="3200" dirty="0">
              <a:latin typeface="Arial Black" panose="020B0A04020102020204" pitchFamily="34" charset="0"/>
            </a:endParaRPr>
          </a:p>
          <a:p>
            <a:endParaRPr lang="en-US" sz="3200" dirty="0">
              <a:latin typeface="Arial Black" panose="020B0A04020102020204" pitchFamily="34" charset="0"/>
            </a:endParaRPr>
          </a:p>
          <a:p>
            <a:endParaRPr lang="en-US" sz="3200" dirty="0">
              <a:latin typeface="Arial Black" panose="020B0A04020102020204" pitchFamily="34" charset="0"/>
            </a:endParaRPr>
          </a:p>
        </p:txBody>
      </p:sp>
      <p:sp>
        <p:nvSpPr>
          <p:cNvPr id="28" name="TextBox 27">
            <a:extLst>
              <a:ext uri="{FF2B5EF4-FFF2-40B4-BE49-F238E27FC236}">
                <a16:creationId xmlns:a16="http://schemas.microsoft.com/office/drawing/2014/main" id="{75577782-F210-0610-0D39-809528E61EE3}"/>
              </a:ext>
            </a:extLst>
          </p:cNvPr>
          <p:cNvSpPr txBox="1"/>
          <p:nvPr/>
        </p:nvSpPr>
        <p:spPr>
          <a:xfrm>
            <a:off x="10010264" y="1967333"/>
            <a:ext cx="2027722" cy="4955203"/>
          </a:xfrm>
          <a:prstGeom prst="rect">
            <a:avLst/>
          </a:prstGeom>
          <a:noFill/>
        </p:spPr>
        <p:txBody>
          <a:bodyPr wrap="square" rtlCol="0">
            <a:spAutoFit/>
          </a:bodyPr>
          <a:lstStyle/>
          <a:p>
            <a:pPr marL="285750" indent="-285750">
              <a:buFont typeface="Arial" panose="020B0604020202020204" pitchFamily="34" charset="0"/>
              <a:buChar char="•"/>
            </a:pPr>
            <a:r>
              <a:rPr lang="en-US" dirty="0"/>
              <a:t>employer demand surged for jobs that are </a:t>
            </a:r>
            <a:r>
              <a:rPr lang="en-US" i="1" dirty="0"/>
              <a:t>augmented</a:t>
            </a:r>
            <a:r>
              <a:rPr lang="en-US" dirty="0"/>
              <a:t> by AI</a:t>
            </a:r>
          </a:p>
          <a:p>
            <a:pPr marL="285750" indent="-285750">
              <a:buFont typeface="Arial" panose="020B0604020202020204" pitchFamily="34" charset="0"/>
              <a:buChar char="•"/>
            </a:pPr>
            <a:endParaRPr lang="en-US" dirty="0"/>
          </a:p>
          <a:p>
            <a:endParaRPr lang="en-US" dirty="0"/>
          </a:p>
          <a:p>
            <a:endParaRPr lang="en-US" dirty="0"/>
          </a:p>
          <a:p>
            <a:pPr marL="285750" indent="-285750">
              <a:buFont typeface="Arial" panose="020B0604020202020204" pitchFamily="34" charset="0"/>
              <a:buChar char="•"/>
            </a:pPr>
            <a:r>
              <a:rPr lang="en-US" dirty="0"/>
              <a:t>AI assists and enhances human capabilities rather than replacing them.</a:t>
            </a:r>
          </a:p>
          <a:p>
            <a:endParaRPr lang="en-US" dirty="0"/>
          </a:p>
          <a:p>
            <a:endParaRPr lang="en-US" dirty="0"/>
          </a:p>
          <a:p>
            <a:r>
              <a:rPr lang="en-US" sz="1400" dirty="0"/>
              <a:t>*</a:t>
            </a:r>
            <a:r>
              <a:rPr lang="en-US" sz="1400" i="1" dirty="0"/>
              <a:t>From </a:t>
            </a:r>
            <a:r>
              <a:rPr lang="en-US" sz="1400" i="1" dirty="0">
                <a:hlinkClick r:id="rId4"/>
              </a:rPr>
              <a:t>Harvard Business School</a:t>
            </a:r>
            <a:endParaRPr lang="en-US" sz="1400" i="1" dirty="0"/>
          </a:p>
        </p:txBody>
      </p:sp>
      <p:grpSp>
        <p:nvGrpSpPr>
          <p:cNvPr id="3" name="Group 2">
            <a:extLst>
              <a:ext uri="{FF2B5EF4-FFF2-40B4-BE49-F238E27FC236}">
                <a16:creationId xmlns:a16="http://schemas.microsoft.com/office/drawing/2014/main" id="{CBC10682-3D95-86E8-5EA2-C482360DFE8E}"/>
              </a:ext>
            </a:extLst>
          </p:cNvPr>
          <p:cNvGrpSpPr/>
          <p:nvPr/>
        </p:nvGrpSpPr>
        <p:grpSpPr>
          <a:xfrm>
            <a:off x="768587" y="32268"/>
            <a:ext cx="3508248" cy="7137585"/>
            <a:chOff x="9204960" y="0"/>
            <a:chExt cx="3508248" cy="7137585"/>
          </a:xfrm>
        </p:grpSpPr>
        <p:sp>
          <p:nvSpPr>
            <p:cNvPr id="24" name="Rectangle 23">
              <a:extLst>
                <a:ext uri="{FF2B5EF4-FFF2-40B4-BE49-F238E27FC236}">
                  <a16:creationId xmlns:a16="http://schemas.microsoft.com/office/drawing/2014/main" id="{20325BA3-D4F5-618A-DB32-F0C4543A1CC1}"/>
                </a:ext>
              </a:extLst>
            </p:cNvPr>
            <p:cNvSpPr/>
            <p:nvPr/>
          </p:nvSpPr>
          <p:spPr>
            <a:xfrm>
              <a:off x="9204960" y="0"/>
              <a:ext cx="2987040" cy="68580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Isosceles Triangle 24">
              <a:extLst>
                <a:ext uri="{FF2B5EF4-FFF2-40B4-BE49-F238E27FC236}">
                  <a16:creationId xmlns:a16="http://schemas.microsoft.com/office/drawing/2014/main" id="{16C44586-7121-B29D-98F7-8790248E57B2}"/>
                </a:ext>
              </a:extLst>
            </p:cNvPr>
            <p:cNvSpPr/>
            <p:nvPr/>
          </p:nvSpPr>
          <p:spPr>
            <a:xfrm rot="5400000">
              <a:off x="11839956" y="941994"/>
              <a:ext cx="1225296" cy="521208"/>
            </a:xfrm>
            <a:prstGeom prst="triangle">
              <a:avLst/>
            </a:prstGeom>
            <a:solidFill>
              <a:srgbClr val="B4C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110C47EF-6326-C5B7-5227-82368540E1E0}"/>
                </a:ext>
              </a:extLst>
            </p:cNvPr>
            <p:cNvSpPr txBox="1"/>
            <p:nvPr/>
          </p:nvSpPr>
          <p:spPr>
            <a:xfrm>
              <a:off x="9604248" y="2336271"/>
              <a:ext cx="2423160" cy="4801314"/>
            </a:xfrm>
            <a:prstGeom prst="rect">
              <a:avLst/>
            </a:prstGeom>
            <a:noFill/>
          </p:spPr>
          <p:txBody>
            <a:bodyPr wrap="square" rtlCol="0">
              <a:spAutoFit/>
            </a:bodyPr>
            <a:lstStyle/>
            <a:p>
              <a:r>
                <a:rPr lang="en-US" i="1" dirty="0">
                  <a:solidFill>
                    <a:schemeClr val="accent1"/>
                  </a:solidFill>
                </a:rPr>
                <a:t>“AI is working like a human brain.”</a:t>
              </a:r>
            </a:p>
            <a:p>
              <a:endPar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True</a:t>
              </a:r>
              <a:endParaRPr lang="en-US" dirty="0">
                <a:solidFill>
                  <a:schemeClr val="tx2">
                    <a:lumMod val="75000"/>
                  </a:schemeClr>
                </a:solidFill>
                <a:latin typeface="Arial Black" panose="020B0A04020102020204" pitchFamily="34" charset="0"/>
              </a:endParaRPr>
            </a:p>
            <a:p>
              <a:pPr marL="342900" indent="-342900">
                <a:buAutoNum type="alphaUcParenR"/>
              </a:pPr>
              <a:r>
                <a:rPr lang="en-US" dirty="0">
                  <a:solidFill>
                    <a:schemeClr val="tx2">
                      <a:lumMod val="75000"/>
                    </a:schemeClr>
                  </a:solidFill>
                  <a:latin typeface="Arial Black" panose="020B0A04020102020204" pitchFamily="34" charset="0"/>
                  <a:hlinkClick r:id="rId6" action="ppaction://hlinksldjump">
                    <a:extLst>
                      <a:ext uri="{A12FA001-AC4F-418D-AE19-62706E023703}">
                        <ahyp:hlinkClr xmlns:ahyp="http://schemas.microsoft.com/office/drawing/2018/hyperlinkcolor" val="tx"/>
                      </a:ext>
                    </a:extLst>
                  </a:hlinkClick>
                </a:rPr>
                <a:t>False</a:t>
              </a:r>
              <a:endParaRPr lang="en-US" dirty="0">
                <a:solidFill>
                  <a:schemeClr val="tx2">
                    <a:lumMod val="75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bg2"/>
                  </a:solidFill>
                  <a:latin typeface="Arial Black" panose="020B0A04020102020204" pitchFamily="34" charset="0"/>
                  <a:hlinkClick r:id="rId8" action="ppaction://hlinksldjump"/>
                </a:rPr>
                <a:t>Next Point</a:t>
              </a: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sp>
          <p:nvSpPr>
            <p:cNvPr id="29" name="TextBox 28">
              <a:extLst>
                <a:ext uri="{FF2B5EF4-FFF2-40B4-BE49-F238E27FC236}">
                  <a16:creationId xmlns:a16="http://schemas.microsoft.com/office/drawing/2014/main" id="{88787BD5-43E8-0A31-93B2-31A629815258}"/>
                </a:ext>
              </a:extLst>
            </p:cNvPr>
            <p:cNvSpPr txBox="1"/>
            <p:nvPr/>
          </p:nvSpPr>
          <p:spPr>
            <a:xfrm>
              <a:off x="9666732" y="657793"/>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4</a:t>
              </a:r>
            </a:p>
          </p:txBody>
        </p:sp>
      </p:grpSp>
      <p:grpSp>
        <p:nvGrpSpPr>
          <p:cNvPr id="31" name="Group 30">
            <a:extLst>
              <a:ext uri="{FF2B5EF4-FFF2-40B4-BE49-F238E27FC236}">
                <a16:creationId xmlns:a16="http://schemas.microsoft.com/office/drawing/2014/main" id="{22045207-945F-14ED-A1CE-9C34ADACE0B5}"/>
              </a:ext>
            </a:extLst>
          </p:cNvPr>
          <p:cNvGrpSpPr/>
          <p:nvPr/>
        </p:nvGrpSpPr>
        <p:grpSpPr>
          <a:xfrm>
            <a:off x="432545" y="32268"/>
            <a:ext cx="3644646" cy="6858000"/>
            <a:chOff x="6081522" y="0"/>
            <a:chExt cx="3644646" cy="6858000"/>
          </a:xfrm>
        </p:grpSpPr>
        <p:sp>
          <p:nvSpPr>
            <p:cNvPr id="32" name="Rectangle 31">
              <a:extLst>
                <a:ext uri="{FF2B5EF4-FFF2-40B4-BE49-F238E27FC236}">
                  <a16:creationId xmlns:a16="http://schemas.microsoft.com/office/drawing/2014/main" id="{E9E9E68F-AB1F-2F02-1970-986D26121EDE}"/>
                </a:ext>
              </a:extLst>
            </p:cNvPr>
            <p:cNvSpPr/>
            <p:nvPr/>
          </p:nvSpPr>
          <p:spPr>
            <a:xfrm>
              <a:off x="6081522" y="0"/>
              <a:ext cx="3176016" cy="685800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Isosceles Triangle 32">
              <a:extLst>
                <a:ext uri="{FF2B5EF4-FFF2-40B4-BE49-F238E27FC236}">
                  <a16:creationId xmlns:a16="http://schemas.microsoft.com/office/drawing/2014/main" id="{47F75D0E-32F9-61DD-E32B-E8279B4F8166}"/>
                </a:ext>
              </a:extLst>
            </p:cNvPr>
            <p:cNvSpPr/>
            <p:nvPr/>
          </p:nvSpPr>
          <p:spPr>
            <a:xfrm rot="5400000">
              <a:off x="8852916" y="932850"/>
              <a:ext cx="1225296" cy="521208"/>
            </a:xfrm>
            <a:prstGeom prst="triangle">
              <a:avLst/>
            </a:prstGeom>
            <a:solidFill>
              <a:srgbClr val="8FAA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3F762546-3BC1-77FA-A8A2-44D3BC9D3B87}"/>
                </a:ext>
              </a:extLst>
            </p:cNvPr>
            <p:cNvSpPr txBox="1"/>
            <p:nvPr/>
          </p:nvSpPr>
          <p:spPr>
            <a:xfrm>
              <a:off x="6472428" y="569751"/>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3</a:t>
              </a:r>
            </a:p>
          </p:txBody>
        </p:sp>
        <p:sp>
          <p:nvSpPr>
            <p:cNvPr id="35" name="TextBox 34">
              <a:extLst>
                <a:ext uri="{FF2B5EF4-FFF2-40B4-BE49-F238E27FC236}">
                  <a16:creationId xmlns:a16="http://schemas.microsoft.com/office/drawing/2014/main" id="{47C258AC-0E10-405C-3156-F39BD33F98E9}"/>
                </a:ext>
              </a:extLst>
            </p:cNvPr>
            <p:cNvSpPr txBox="1"/>
            <p:nvPr/>
          </p:nvSpPr>
          <p:spPr>
            <a:xfrm>
              <a:off x="6619494" y="2316163"/>
              <a:ext cx="2423160" cy="3693319"/>
            </a:xfrm>
            <a:prstGeom prst="rect">
              <a:avLst/>
            </a:prstGeom>
            <a:noFill/>
          </p:spPr>
          <p:txBody>
            <a:bodyPr wrap="square" rtlCol="0">
              <a:spAutoFit/>
            </a:bodyPr>
            <a:lstStyle/>
            <a:p>
              <a:r>
                <a:rPr lang="en-US" i="1" dirty="0">
                  <a:solidFill>
                    <a:schemeClr val="tx2"/>
                  </a:solidFill>
                </a:rPr>
                <a:t>“AI-generated content (text, images, code) is now indistinguishable from human-created work.”</a:t>
              </a:r>
              <a:endParaRPr lang="en-US" dirty="0">
                <a:solidFill>
                  <a:schemeClr val="accent1">
                    <a:lumMod val="5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accent1">
                    <a:lumMod val="5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accent1">
                      <a:lumMod val="5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rPr>
                <a:t>True</a:t>
              </a:r>
              <a:endParaRPr lang="en-US" dirty="0">
                <a:solidFill>
                  <a:schemeClr val="accent1">
                    <a:lumMod val="50000"/>
                  </a:schemeClr>
                </a:solidFill>
                <a:latin typeface="Arial Black" panose="020B0A04020102020204" pitchFamily="34" charset="0"/>
              </a:endParaRPr>
            </a:p>
            <a:p>
              <a:pPr marL="342900" indent="-342900">
                <a:buAutoNum type="alphaUcParenR"/>
              </a:pPr>
              <a:r>
                <a:rPr lang="en-US" dirty="0">
                  <a:solidFill>
                    <a:schemeClr val="accent1">
                      <a:lumMod val="5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rPr>
                <a:t>False</a:t>
              </a:r>
              <a:endParaRPr lang="en-US" dirty="0">
                <a:solidFill>
                  <a:schemeClr val="accent1">
                    <a:lumMod val="5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p>
          </p:txBody>
        </p:sp>
      </p:grpSp>
      <p:grpSp>
        <p:nvGrpSpPr>
          <p:cNvPr id="41" name="Group 40">
            <a:extLst>
              <a:ext uri="{FF2B5EF4-FFF2-40B4-BE49-F238E27FC236}">
                <a16:creationId xmlns:a16="http://schemas.microsoft.com/office/drawing/2014/main" id="{49F48D58-2254-09F4-814F-43BB60DE6BB0}"/>
              </a:ext>
            </a:extLst>
          </p:cNvPr>
          <p:cNvGrpSpPr/>
          <p:nvPr/>
        </p:nvGrpSpPr>
        <p:grpSpPr>
          <a:xfrm>
            <a:off x="277969" y="0"/>
            <a:ext cx="3553968" cy="6858000"/>
            <a:chOff x="0" y="0"/>
            <a:chExt cx="3553968" cy="6858000"/>
          </a:xfrm>
        </p:grpSpPr>
        <p:sp>
          <p:nvSpPr>
            <p:cNvPr id="42" name="Rectangle 41">
              <a:extLst>
                <a:ext uri="{FF2B5EF4-FFF2-40B4-BE49-F238E27FC236}">
                  <a16:creationId xmlns:a16="http://schemas.microsoft.com/office/drawing/2014/main" id="{7A2CE4F6-DE30-8105-3F6F-3FD7E91E9AFB}"/>
                </a:ext>
              </a:extLst>
            </p:cNvPr>
            <p:cNvSpPr/>
            <p:nvPr/>
          </p:nvSpPr>
          <p:spPr>
            <a:xfrm>
              <a:off x="0" y="0"/>
              <a:ext cx="3052572" cy="68580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02B40B13-C79F-AEB3-21F8-E9B5E26991CB}"/>
                </a:ext>
              </a:extLst>
            </p:cNvPr>
            <p:cNvSpPr txBox="1"/>
            <p:nvPr/>
          </p:nvSpPr>
          <p:spPr>
            <a:xfrm>
              <a:off x="310896" y="694944"/>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1</a:t>
              </a:r>
            </a:p>
          </p:txBody>
        </p:sp>
        <p:sp>
          <p:nvSpPr>
            <p:cNvPr id="44" name="Isosceles Triangle 43">
              <a:extLst>
                <a:ext uri="{FF2B5EF4-FFF2-40B4-BE49-F238E27FC236}">
                  <a16:creationId xmlns:a16="http://schemas.microsoft.com/office/drawing/2014/main" id="{206537A3-834A-D7C7-9A3A-5AEF733A6DA9}"/>
                </a:ext>
              </a:extLst>
            </p:cNvPr>
            <p:cNvSpPr/>
            <p:nvPr/>
          </p:nvSpPr>
          <p:spPr>
            <a:xfrm rot="5400000">
              <a:off x="2680716" y="958946"/>
              <a:ext cx="1225296" cy="521208"/>
            </a:xfrm>
            <a:prstGeom prst="triangle">
              <a:avLst/>
            </a:prstGeom>
            <a:solidFill>
              <a:srgbClr val="2038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44">
              <a:extLst>
                <a:ext uri="{FF2B5EF4-FFF2-40B4-BE49-F238E27FC236}">
                  <a16:creationId xmlns:a16="http://schemas.microsoft.com/office/drawing/2014/main" id="{DFBEE605-F98E-01BB-73C4-A7D1905DB233}"/>
                </a:ext>
              </a:extLst>
            </p:cNvPr>
            <p:cNvSpPr txBox="1"/>
            <p:nvPr/>
          </p:nvSpPr>
          <p:spPr>
            <a:xfrm>
              <a:off x="310896" y="2316163"/>
              <a:ext cx="2423160" cy="3693319"/>
            </a:xfrm>
            <a:prstGeom prst="rect">
              <a:avLst/>
            </a:prstGeom>
            <a:noFill/>
          </p:spPr>
          <p:txBody>
            <a:bodyPr wrap="square" rtlCol="0">
              <a:spAutoFit/>
            </a:bodyPr>
            <a:lstStyle/>
            <a:p>
              <a:r>
                <a:rPr lang="en-US" i="1" dirty="0">
                  <a:solidFill>
                    <a:schemeClr val="bg2"/>
                  </a:solidFill>
                </a:rPr>
                <a:t>“AI is mostly only useful for generating text in tools like ChatGPT or Gemini.” </a:t>
              </a:r>
              <a:endParaRPr lang="en-US" dirty="0">
                <a:solidFill>
                  <a:schemeClr val="bg2"/>
                </a:solidFill>
              </a:endParaRPr>
            </a:p>
            <a:p>
              <a:endPar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rPr>
                <a:t>True</a:t>
              </a:r>
              <a:endParaRPr lang="en-US" dirty="0">
                <a:solidFill>
                  <a:schemeClr val="bg2">
                    <a:lumMod val="90000"/>
                  </a:schemeClr>
                </a:solidFill>
                <a:latin typeface="Arial Black" panose="020B0A04020102020204" pitchFamily="34" charset="0"/>
              </a:endParaRPr>
            </a:p>
            <a:p>
              <a:pPr marL="342900" indent="-342900">
                <a:buAutoNum type="alphaUcParenR"/>
              </a:pPr>
              <a:r>
                <a:rPr lang="en-US" dirty="0">
                  <a:solidFill>
                    <a:schemeClr val="bg2">
                      <a:lumMod val="90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rPr>
                <a:t>False</a:t>
              </a:r>
              <a:endParaRPr lang="en-US" dirty="0">
                <a:solidFill>
                  <a:schemeClr val="bg2">
                    <a:lumMod val="9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grpSp>
      <p:grpSp>
        <p:nvGrpSpPr>
          <p:cNvPr id="36" name="Group 35">
            <a:extLst>
              <a:ext uri="{FF2B5EF4-FFF2-40B4-BE49-F238E27FC236}">
                <a16:creationId xmlns:a16="http://schemas.microsoft.com/office/drawing/2014/main" id="{A2EB64F5-4E8F-D288-B628-0237F46F9178}"/>
              </a:ext>
            </a:extLst>
          </p:cNvPr>
          <p:cNvGrpSpPr/>
          <p:nvPr/>
        </p:nvGrpSpPr>
        <p:grpSpPr>
          <a:xfrm>
            <a:off x="-68592" y="0"/>
            <a:ext cx="3545586" cy="6858000"/>
            <a:chOff x="3052572" y="0"/>
            <a:chExt cx="3545586" cy="6858000"/>
          </a:xfrm>
        </p:grpSpPr>
        <p:sp>
          <p:nvSpPr>
            <p:cNvPr id="37" name="Rectangle 36">
              <a:extLst>
                <a:ext uri="{FF2B5EF4-FFF2-40B4-BE49-F238E27FC236}">
                  <a16:creationId xmlns:a16="http://schemas.microsoft.com/office/drawing/2014/main" id="{B42BF061-1523-E145-C48A-6133365A5A1F}"/>
                </a:ext>
              </a:extLst>
            </p:cNvPr>
            <p:cNvSpPr/>
            <p:nvPr/>
          </p:nvSpPr>
          <p:spPr>
            <a:xfrm>
              <a:off x="3052572" y="0"/>
              <a:ext cx="3034284" cy="6858000"/>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BAA87904-ED9F-DB90-FD6C-47570086066F}"/>
                </a:ext>
              </a:extLst>
            </p:cNvPr>
            <p:cNvSpPr txBox="1"/>
            <p:nvPr/>
          </p:nvSpPr>
          <p:spPr>
            <a:xfrm>
              <a:off x="3435096" y="606902"/>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2</a:t>
              </a:r>
            </a:p>
          </p:txBody>
        </p:sp>
        <p:sp>
          <p:nvSpPr>
            <p:cNvPr id="39" name="Isosceles Triangle 38">
              <a:extLst>
                <a:ext uri="{FF2B5EF4-FFF2-40B4-BE49-F238E27FC236}">
                  <a16:creationId xmlns:a16="http://schemas.microsoft.com/office/drawing/2014/main" id="{4D3A1606-8B91-0BBF-4BD5-3C8A06F7EDD0}"/>
                </a:ext>
              </a:extLst>
            </p:cNvPr>
            <p:cNvSpPr/>
            <p:nvPr/>
          </p:nvSpPr>
          <p:spPr>
            <a:xfrm rot="5400000">
              <a:off x="5724906" y="921795"/>
              <a:ext cx="1225296" cy="521208"/>
            </a:xfrm>
            <a:prstGeom prst="triangle">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7F7299BA-3F1C-B839-6A71-9AFDE3CAC884}"/>
                </a:ext>
              </a:extLst>
            </p:cNvPr>
            <p:cNvSpPr txBox="1"/>
            <p:nvPr/>
          </p:nvSpPr>
          <p:spPr>
            <a:xfrm>
              <a:off x="3418332" y="2358935"/>
              <a:ext cx="2423160" cy="3693319"/>
            </a:xfrm>
            <a:prstGeom prst="rect">
              <a:avLst/>
            </a:prstGeom>
            <a:noFill/>
          </p:spPr>
          <p:txBody>
            <a:bodyPr wrap="square" rtlCol="0">
              <a:spAutoFit/>
            </a:bodyPr>
            <a:lstStyle/>
            <a:p>
              <a:r>
                <a:rPr lang="en-US" i="1" dirty="0">
                  <a:solidFill>
                    <a:schemeClr val="bg2"/>
                  </a:solidFill>
                </a:rPr>
                <a:t>“AI will replace most jobs in the future.”</a:t>
              </a:r>
              <a:endParaRPr lang="en-US" dirty="0">
                <a:solidFill>
                  <a:schemeClr val="bg2"/>
                </a:solidFill>
              </a:endParaRPr>
            </a:p>
            <a:p>
              <a:endParaRPr lang="en-US" dirty="0">
                <a:solidFill>
                  <a:schemeClr val="bg2">
                    <a:lumMod val="90000"/>
                  </a:schemeClr>
                </a:solidFill>
                <a:latin typeface="Arial Black" panose="020B0A04020102020204" pitchFamily="34" charset="0"/>
                <a:hlinkClick r:id="rId13" action="ppaction://hlinksldjump">
                  <a:extLst>
                    <a:ext uri="{A12FA001-AC4F-418D-AE19-62706E023703}">
                      <ahyp:hlinkClr xmlns:ahyp="http://schemas.microsoft.com/office/drawing/2018/hyperlinkcolor" val="tx"/>
                    </a:ext>
                  </a:extLst>
                </a:hlinkClick>
              </a:endParaRPr>
            </a:p>
            <a:p>
              <a:endParaRPr lang="en-US" dirty="0">
                <a:solidFill>
                  <a:schemeClr val="bg2">
                    <a:lumMod val="90000"/>
                  </a:schemeClr>
                </a:solidFill>
                <a:latin typeface="Arial Black" panose="020B0A04020102020204" pitchFamily="34" charset="0"/>
                <a:hlinkClick r:id="rId13" action="ppaction://hlinksldjump">
                  <a:extLst>
                    <a:ext uri="{A12FA001-AC4F-418D-AE19-62706E023703}">
                      <ahyp:hlinkClr xmlns:ahyp="http://schemas.microsoft.com/office/drawing/2018/hyperlinkcolor" val="tx"/>
                    </a:ext>
                  </a:extLst>
                </a:hlinkClick>
              </a:endParaRPr>
            </a:p>
            <a:p>
              <a:endParaRPr lang="en-US" dirty="0">
                <a:solidFill>
                  <a:schemeClr val="bg2">
                    <a:lumMod val="90000"/>
                  </a:schemeClr>
                </a:solidFill>
                <a:latin typeface="Arial Black" panose="020B0A04020102020204" pitchFamily="34" charset="0"/>
                <a:hlinkClick r:id="rId13"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bg2">
                    <a:lumMod val="90000"/>
                  </a:schemeClr>
                </a:solidFill>
                <a:latin typeface="Arial Black" panose="020B0A04020102020204" pitchFamily="34" charset="0"/>
                <a:hlinkClick r:id="rId13"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bg2">
                      <a:lumMod val="90000"/>
                    </a:schemeClr>
                  </a:solidFill>
                  <a:latin typeface="Arial Black" panose="020B0A04020102020204" pitchFamily="34" charset="0"/>
                  <a:hlinkClick r:id="rId13" action="ppaction://hlinksldjump">
                    <a:extLst>
                      <a:ext uri="{A12FA001-AC4F-418D-AE19-62706E023703}">
                        <ahyp:hlinkClr xmlns:ahyp="http://schemas.microsoft.com/office/drawing/2018/hyperlinkcolor" val="tx"/>
                      </a:ext>
                    </a:extLst>
                  </a:hlinkClick>
                </a:rPr>
                <a:t>True</a:t>
              </a:r>
              <a:endParaRPr lang="en-US" dirty="0">
                <a:solidFill>
                  <a:schemeClr val="bg2">
                    <a:lumMod val="90000"/>
                  </a:schemeClr>
                </a:solidFill>
                <a:latin typeface="Arial Black" panose="020B0A04020102020204" pitchFamily="34" charset="0"/>
              </a:endParaRPr>
            </a:p>
            <a:p>
              <a:pPr marL="342900" indent="-342900">
                <a:buAutoNum type="alphaUcParenR"/>
              </a:pPr>
              <a:r>
                <a:rPr lang="en-US" dirty="0">
                  <a:solidFill>
                    <a:schemeClr val="bg2">
                      <a:lumMod val="90000"/>
                    </a:schemeClr>
                  </a:solidFill>
                  <a:latin typeface="Arial Black" panose="020B0A04020102020204" pitchFamily="34" charset="0"/>
                  <a:hlinkClick r:id="rId14" action="ppaction://hlinksldjump">
                    <a:extLst>
                      <a:ext uri="{A12FA001-AC4F-418D-AE19-62706E023703}">
                        <ahyp:hlinkClr xmlns:ahyp="http://schemas.microsoft.com/office/drawing/2018/hyperlinkcolor" val="tx"/>
                      </a:ext>
                    </a:extLst>
                  </a:hlinkClick>
                </a:rPr>
                <a:t>False</a:t>
              </a:r>
              <a:endParaRPr lang="en-US" dirty="0">
                <a:solidFill>
                  <a:schemeClr val="bg2">
                    <a:lumMod val="9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grpSp>
    </p:spTree>
    <p:extLst>
      <p:ext uri="{BB962C8B-B14F-4D97-AF65-F5344CB8AC3E}">
        <p14:creationId xmlns:p14="http://schemas.microsoft.com/office/powerpoint/2010/main" val="2238096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C73E8-C83F-8CE3-99D8-26F15880FE85}"/>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33797897-B043-6222-927F-57C61383D4E5}"/>
              </a:ext>
            </a:extLst>
          </p:cNvPr>
          <p:cNvSpPr txBox="1"/>
          <p:nvPr/>
        </p:nvSpPr>
        <p:spPr>
          <a:xfrm>
            <a:off x="4502155" y="480784"/>
            <a:ext cx="7590302" cy="3046988"/>
          </a:xfrm>
          <a:prstGeom prst="rect">
            <a:avLst/>
          </a:prstGeom>
          <a:noFill/>
        </p:spPr>
        <p:txBody>
          <a:bodyPr wrap="square" rtlCol="0">
            <a:spAutoFit/>
          </a:bodyPr>
          <a:lstStyle/>
          <a:p>
            <a:r>
              <a:rPr lang="en-US" sz="3200" dirty="0">
                <a:latin typeface="Arial Black" panose="020B0A04020102020204" pitchFamily="34" charset="0"/>
              </a:rPr>
              <a:t>Your Answer is correct!</a:t>
            </a:r>
          </a:p>
          <a:p>
            <a:endParaRPr lang="en-US" sz="3200" dirty="0">
              <a:latin typeface="Arial Black" panose="020B0A04020102020204" pitchFamily="34" charset="0"/>
            </a:endParaRPr>
          </a:p>
          <a:p>
            <a:endParaRPr lang="en-US" sz="3200" dirty="0">
              <a:latin typeface="Arial Black" panose="020B0A04020102020204" pitchFamily="34" charset="0"/>
            </a:endParaRPr>
          </a:p>
          <a:p>
            <a:endParaRPr lang="en-US" sz="3200" dirty="0">
              <a:latin typeface="Arial Black" panose="020B0A04020102020204" pitchFamily="34" charset="0"/>
            </a:endParaRPr>
          </a:p>
          <a:p>
            <a:endParaRPr lang="en-US" sz="3200" dirty="0">
              <a:latin typeface="Arial Black" panose="020B0A04020102020204" pitchFamily="34" charset="0"/>
            </a:endParaRPr>
          </a:p>
          <a:p>
            <a:endParaRPr lang="en-US" sz="3200" dirty="0">
              <a:latin typeface="Arial Black" panose="020B0A04020102020204" pitchFamily="34" charset="0"/>
            </a:endParaRPr>
          </a:p>
        </p:txBody>
      </p:sp>
      <p:grpSp>
        <p:nvGrpSpPr>
          <p:cNvPr id="3" name="Group 2">
            <a:extLst>
              <a:ext uri="{FF2B5EF4-FFF2-40B4-BE49-F238E27FC236}">
                <a16:creationId xmlns:a16="http://schemas.microsoft.com/office/drawing/2014/main" id="{87A923D3-A863-E937-E42F-FCD3E9D28634}"/>
              </a:ext>
            </a:extLst>
          </p:cNvPr>
          <p:cNvGrpSpPr/>
          <p:nvPr/>
        </p:nvGrpSpPr>
        <p:grpSpPr>
          <a:xfrm>
            <a:off x="851361" y="0"/>
            <a:ext cx="3508248" cy="7137585"/>
            <a:chOff x="9204960" y="0"/>
            <a:chExt cx="3508248" cy="7137585"/>
          </a:xfrm>
        </p:grpSpPr>
        <p:sp>
          <p:nvSpPr>
            <p:cNvPr id="24" name="Rectangle 23">
              <a:extLst>
                <a:ext uri="{FF2B5EF4-FFF2-40B4-BE49-F238E27FC236}">
                  <a16:creationId xmlns:a16="http://schemas.microsoft.com/office/drawing/2014/main" id="{3CAE9AC5-5AFD-F7AB-27A4-66D20E6C22A9}"/>
                </a:ext>
              </a:extLst>
            </p:cNvPr>
            <p:cNvSpPr/>
            <p:nvPr/>
          </p:nvSpPr>
          <p:spPr>
            <a:xfrm>
              <a:off x="9204960" y="0"/>
              <a:ext cx="2987040" cy="68580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Isosceles Triangle 24">
              <a:extLst>
                <a:ext uri="{FF2B5EF4-FFF2-40B4-BE49-F238E27FC236}">
                  <a16:creationId xmlns:a16="http://schemas.microsoft.com/office/drawing/2014/main" id="{15822E75-F465-342E-6500-DB35605377E7}"/>
                </a:ext>
              </a:extLst>
            </p:cNvPr>
            <p:cNvSpPr/>
            <p:nvPr/>
          </p:nvSpPr>
          <p:spPr>
            <a:xfrm rot="5400000">
              <a:off x="11839956" y="941994"/>
              <a:ext cx="1225296" cy="521208"/>
            </a:xfrm>
            <a:prstGeom prst="triangle">
              <a:avLst/>
            </a:prstGeom>
            <a:solidFill>
              <a:srgbClr val="B4C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58F20043-3641-AC5C-344A-F2C2EB76F718}"/>
                </a:ext>
              </a:extLst>
            </p:cNvPr>
            <p:cNvSpPr txBox="1"/>
            <p:nvPr/>
          </p:nvSpPr>
          <p:spPr>
            <a:xfrm>
              <a:off x="9604248" y="2336271"/>
              <a:ext cx="2423160" cy="4801314"/>
            </a:xfrm>
            <a:prstGeom prst="rect">
              <a:avLst/>
            </a:prstGeom>
            <a:noFill/>
          </p:spPr>
          <p:txBody>
            <a:bodyPr wrap="square" rtlCol="0">
              <a:spAutoFit/>
            </a:bodyPr>
            <a:lstStyle/>
            <a:p>
              <a:r>
                <a:rPr lang="en-US" i="1" dirty="0">
                  <a:solidFill>
                    <a:schemeClr val="accent1"/>
                  </a:solidFill>
                </a:rPr>
                <a:t>“AI is working like a human brain.”</a:t>
              </a:r>
            </a:p>
            <a:p>
              <a:endParaRPr lang="en-US" dirty="0">
                <a:solidFill>
                  <a:schemeClr val="tx2">
                    <a:lumMod val="75000"/>
                  </a:schemeClr>
                </a:solidFill>
                <a:latin typeface="Arial Black" panose="020B0A04020102020204" pitchFamily="34" charset="0"/>
                <a:hlinkClick r:id="rId3"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3"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3"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3"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tx2">
                      <a:lumMod val="75000"/>
                    </a:schemeClr>
                  </a:solidFill>
                  <a:latin typeface="Arial Black" panose="020B0A04020102020204" pitchFamily="34" charset="0"/>
                  <a:hlinkClick r:id="rId3" action="ppaction://hlinksldjump">
                    <a:extLst>
                      <a:ext uri="{A12FA001-AC4F-418D-AE19-62706E023703}">
                        <ahyp:hlinkClr xmlns:ahyp="http://schemas.microsoft.com/office/drawing/2018/hyperlinkcolor" val="tx"/>
                      </a:ext>
                    </a:extLst>
                  </a:hlinkClick>
                </a:rPr>
                <a:t>True</a:t>
              </a:r>
              <a:endParaRPr lang="en-US" dirty="0">
                <a:solidFill>
                  <a:schemeClr val="tx2">
                    <a:lumMod val="75000"/>
                  </a:schemeClr>
                </a:solidFill>
                <a:latin typeface="Arial Black" panose="020B0A04020102020204" pitchFamily="34" charset="0"/>
              </a:endParaRPr>
            </a:p>
            <a:p>
              <a:pPr marL="342900" indent="-342900">
                <a:buAutoNum type="alphaUcParenR"/>
              </a:pPr>
              <a:r>
                <a:rPr lang="en-US" dirty="0">
                  <a:solidFill>
                    <a:schemeClr val="tx2">
                      <a:lumMod val="75000"/>
                    </a:schemeClr>
                  </a:solidFill>
                  <a:latin typeface="Arial Black" panose="020B0A04020102020204" pitchFamily="34" charset="0"/>
                  <a:hlinkClick r:id="rId4" action="ppaction://hlinksldjump">
                    <a:extLst>
                      <a:ext uri="{A12FA001-AC4F-418D-AE19-62706E023703}">
                        <ahyp:hlinkClr xmlns:ahyp="http://schemas.microsoft.com/office/drawing/2018/hyperlinkcolor" val="tx"/>
                      </a:ext>
                    </a:extLst>
                  </a:hlinkClick>
                </a:rPr>
                <a:t>False</a:t>
              </a:r>
              <a:endParaRPr lang="en-US" dirty="0">
                <a:solidFill>
                  <a:schemeClr val="tx2">
                    <a:lumMod val="75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bg2"/>
                  </a:solidFill>
                  <a:latin typeface="Arial Black" panose="020B0A04020102020204" pitchFamily="34" charset="0"/>
                  <a:hlinkClick r:id="rId6" action="ppaction://hlinksldjump"/>
                </a:rPr>
                <a:t>Next Point</a:t>
              </a: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sp>
          <p:nvSpPr>
            <p:cNvPr id="29" name="TextBox 28">
              <a:extLst>
                <a:ext uri="{FF2B5EF4-FFF2-40B4-BE49-F238E27FC236}">
                  <a16:creationId xmlns:a16="http://schemas.microsoft.com/office/drawing/2014/main" id="{0F0BBA0E-0745-2EEB-DC92-E3489AF0B1C4}"/>
                </a:ext>
              </a:extLst>
            </p:cNvPr>
            <p:cNvSpPr txBox="1"/>
            <p:nvPr/>
          </p:nvSpPr>
          <p:spPr>
            <a:xfrm>
              <a:off x="9666732" y="657793"/>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4</a:t>
              </a:r>
            </a:p>
          </p:txBody>
        </p:sp>
      </p:grpSp>
      <p:grpSp>
        <p:nvGrpSpPr>
          <p:cNvPr id="31" name="Group 30">
            <a:extLst>
              <a:ext uri="{FF2B5EF4-FFF2-40B4-BE49-F238E27FC236}">
                <a16:creationId xmlns:a16="http://schemas.microsoft.com/office/drawing/2014/main" id="{ED47139F-2629-CBB1-C42E-41C74CD2D759}"/>
              </a:ext>
            </a:extLst>
          </p:cNvPr>
          <p:cNvGrpSpPr/>
          <p:nvPr/>
        </p:nvGrpSpPr>
        <p:grpSpPr>
          <a:xfrm>
            <a:off x="422303" y="0"/>
            <a:ext cx="3644646" cy="6858000"/>
            <a:chOff x="6081522" y="0"/>
            <a:chExt cx="3644646" cy="6858000"/>
          </a:xfrm>
        </p:grpSpPr>
        <p:sp>
          <p:nvSpPr>
            <p:cNvPr id="32" name="Rectangle 31">
              <a:extLst>
                <a:ext uri="{FF2B5EF4-FFF2-40B4-BE49-F238E27FC236}">
                  <a16:creationId xmlns:a16="http://schemas.microsoft.com/office/drawing/2014/main" id="{81CA4A52-95BD-6C59-8AD9-6C17E2FF22A8}"/>
                </a:ext>
              </a:extLst>
            </p:cNvPr>
            <p:cNvSpPr/>
            <p:nvPr/>
          </p:nvSpPr>
          <p:spPr>
            <a:xfrm>
              <a:off x="6081522" y="0"/>
              <a:ext cx="3176016" cy="685800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Isosceles Triangle 32">
              <a:extLst>
                <a:ext uri="{FF2B5EF4-FFF2-40B4-BE49-F238E27FC236}">
                  <a16:creationId xmlns:a16="http://schemas.microsoft.com/office/drawing/2014/main" id="{FB145E89-3717-9759-C591-E441B7D07230}"/>
                </a:ext>
              </a:extLst>
            </p:cNvPr>
            <p:cNvSpPr/>
            <p:nvPr/>
          </p:nvSpPr>
          <p:spPr>
            <a:xfrm rot="5400000">
              <a:off x="8852916" y="932850"/>
              <a:ext cx="1225296" cy="521208"/>
            </a:xfrm>
            <a:prstGeom prst="triangle">
              <a:avLst/>
            </a:prstGeom>
            <a:solidFill>
              <a:srgbClr val="8FAA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953072E9-5D1E-90D2-778E-C12F397D6455}"/>
                </a:ext>
              </a:extLst>
            </p:cNvPr>
            <p:cNvSpPr txBox="1"/>
            <p:nvPr/>
          </p:nvSpPr>
          <p:spPr>
            <a:xfrm>
              <a:off x="6472428" y="569751"/>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3</a:t>
              </a:r>
            </a:p>
          </p:txBody>
        </p:sp>
        <p:sp>
          <p:nvSpPr>
            <p:cNvPr id="35" name="TextBox 34">
              <a:extLst>
                <a:ext uri="{FF2B5EF4-FFF2-40B4-BE49-F238E27FC236}">
                  <a16:creationId xmlns:a16="http://schemas.microsoft.com/office/drawing/2014/main" id="{A50A3462-1CBE-CE96-21D1-D9AE91951B49}"/>
                </a:ext>
              </a:extLst>
            </p:cNvPr>
            <p:cNvSpPr txBox="1"/>
            <p:nvPr/>
          </p:nvSpPr>
          <p:spPr>
            <a:xfrm>
              <a:off x="6619494" y="2316163"/>
              <a:ext cx="2423160" cy="3693319"/>
            </a:xfrm>
            <a:prstGeom prst="rect">
              <a:avLst/>
            </a:prstGeom>
            <a:noFill/>
          </p:spPr>
          <p:txBody>
            <a:bodyPr wrap="square" rtlCol="0">
              <a:spAutoFit/>
            </a:bodyPr>
            <a:lstStyle/>
            <a:p>
              <a:r>
                <a:rPr lang="en-US" i="1" dirty="0">
                  <a:solidFill>
                    <a:schemeClr val="tx2"/>
                  </a:solidFill>
                </a:rPr>
                <a:t>“AI-generated content (text, images, code) is now indistinguishable from human-created work.”</a:t>
              </a:r>
              <a:endParaRPr lang="en-US" dirty="0">
                <a:solidFill>
                  <a:schemeClr val="accent1">
                    <a:lumMod val="50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accent1">
                    <a:lumMod val="50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accent1">
                      <a:lumMod val="50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True</a:t>
              </a:r>
              <a:endParaRPr lang="en-US" dirty="0">
                <a:solidFill>
                  <a:schemeClr val="accent1">
                    <a:lumMod val="50000"/>
                  </a:schemeClr>
                </a:solidFill>
                <a:latin typeface="Arial Black" panose="020B0A04020102020204" pitchFamily="34" charset="0"/>
              </a:endParaRPr>
            </a:p>
            <a:p>
              <a:pPr marL="342900" indent="-342900">
                <a:buAutoNum type="alphaUcParenR"/>
              </a:pPr>
              <a:r>
                <a:rPr lang="en-US" dirty="0">
                  <a:solidFill>
                    <a:schemeClr val="accent1">
                      <a:lumMod val="50000"/>
                    </a:schemeClr>
                  </a:solidFill>
                  <a:latin typeface="Arial Black" panose="020B0A04020102020204" pitchFamily="34" charset="0"/>
                  <a:hlinkClick r:id="rId8" action="ppaction://hlinksldjump">
                    <a:extLst>
                      <a:ext uri="{A12FA001-AC4F-418D-AE19-62706E023703}">
                        <ahyp:hlinkClr xmlns:ahyp="http://schemas.microsoft.com/office/drawing/2018/hyperlinkcolor" val="tx"/>
                      </a:ext>
                    </a:extLst>
                  </a:hlinkClick>
                </a:rPr>
                <a:t>False</a:t>
              </a:r>
              <a:endParaRPr lang="en-US" dirty="0">
                <a:solidFill>
                  <a:schemeClr val="accent1">
                    <a:lumMod val="5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p>
          </p:txBody>
        </p:sp>
      </p:grpSp>
      <p:grpSp>
        <p:nvGrpSpPr>
          <p:cNvPr id="41" name="Group 40">
            <a:extLst>
              <a:ext uri="{FF2B5EF4-FFF2-40B4-BE49-F238E27FC236}">
                <a16:creationId xmlns:a16="http://schemas.microsoft.com/office/drawing/2014/main" id="{58F5BE80-554B-5ED0-74F9-DCDE2F686D8C}"/>
              </a:ext>
            </a:extLst>
          </p:cNvPr>
          <p:cNvGrpSpPr/>
          <p:nvPr/>
        </p:nvGrpSpPr>
        <p:grpSpPr>
          <a:xfrm>
            <a:off x="216438" y="0"/>
            <a:ext cx="3553968" cy="6858000"/>
            <a:chOff x="0" y="0"/>
            <a:chExt cx="3553968" cy="6858000"/>
          </a:xfrm>
        </p:grpSpPr>
        <p:sp>
          <p:nvSpPr>
            <p:cNvPr id="42" name="Rectangle 41">
              <a:extLst>
                <a:ext uri="{FF2B5EF4-FFF2-40B4-BE49-F238E27FC236}">
                  <a16:creationId xmlns:a16="http://schemas.microsoft.com/office/drawing/2014/main" id="{2C7C53AF-38BA-D4C6-A630-1143473FDFF9}"/>
                </a:ext>
              </a:extLst>
            </p:cNvPr>
            <p:cNvSpPr/>
            <p:nvPr/>
          </p:nvSpPr>
          <p:spPr>
            <a:xfrm>
              <a:off x="0" y="0"/>
              <a:ext cx="3052572" cy="68580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90222BED-E7DE-6BDF-75C5-226B96FAFB38}"/>
                </a:ext>
              </a:extLst>
            </p:cNvPr>
            <p:cNvSpPr txBox="1"/>
            <p:nvPr/>
          </p:nvSpPr>
          <p:spPr>
            <a:xfrm>
              <a:off x="310896" y="694944"/>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1</a:t>
              </a:r>
            </a:p>
          </p:txBody>
        </p:sp>
        <p:sp>
          <p:nvSpPr>
            <p:cNvPr id="44" name="Isosceles Triangle 43">
              <a:extLst>
                <a:ext uri="{FF2B5EF4-FFF2-40B4-BE49-F238E27FC236}">
                  <a16:creationId xmlns:a16="http://schemas.microsoft.com/office/drawing/2014/main" id="{7DC6EDD3-69FF-1B40-A273-7104AC760378}"/>
                </a:ext>
              </a:extLst>
            </p:cNvPr>
            <p:cNvSpPr/>
            <p:nvPr/>
          </p:nvSpPr>
          <p:spPr>
            <a:xfrm rot="5400000">
              <a:off x="2680716" y="958946"/>
              <a:ext cx="1225296" cy="521208"/>
            </a:xfrm>
            <a:prstGeom prst="triangle">
              <a:avLst/>
            </a:prstGeom>
            <a:solidFill>
              <a:srgbClr val="2038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44">
              <a:extLst>
                <a:ext uri="{FF2B5EF4-FFF2-40B4-BE49-F238E27FC236}">
                  <a16:creationId xmlns:a16="http://schemas.microsoft.com/office/drawing/2014/main" id="{99B55EAC-30B9-BD8B-82C2-0642E016E544}"/>
                </a:ext>
              </a:extLst>
            </p:cNvPr>
            <p:cNvSpPr txBox="1"/>
            <p:nvPr/>
          </p:nvSpPr>
          <p:spPr>
            <a:xfrm>
              <a:off x="310896" y="2316163"/>
              <a:ext cx="2423160" cy="3693319"/>
            </a:xfrm>
            <a:prstGeom prst="rect">
              <a:avLst/>
            </a:prstGeom>
            <a:noFill/>
          </p:spPr>
          <p:txBody>
            <a:bodyPr wrap="square" rtlCol="0">
              <a:spAutoFit/>
            </a:bodyPr>
            <a:lstStyle/>
            <a:p>
              <a:r>
                <a:rPr lang="en-US" i="1" dirty="0">
                  <a:solidFill>
                    <a:schemeClr val="bg2"/>
                  </a:solidFill>
                </a:rPr>
                <a:t>“AI is mostly only useful for generating text in tools like ChatGPT or Gemini.” </a:t>
              </a:r>
              <a:endParaRPr lang="en-US" dirty="0">
                <a:solidFill>
                  <a:schemeClr val="bg2"/>
                </a:solidFill>
              </a:endParaRPr>
            </a:p>
            <a:p>
              <a:endParaRPr lang="en-US" dirty="0">
                <a:solidFill>
                  <a:schemeClr val="bg2">
                    <a:lumMod val="9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bg2">
                    <a:lumMod val="9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bg2">
                      <a:lumMod val="9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rPr>
                <a:t>True</a:t>
              </a:r>
              <a:endParaRPr lang="en-US" dirty="0">
                <a:solidFill>
                  <a:schemeClr val="bg2">
                    <a:lumMod val="90000"/>
                  </a:schemeClr>
                </a:solidFill>
                <a:latin typeface="Arial Black" panose="020B0A04020102020204" pitchFamily="34" charset="0"/>
              </a:endParaRPr>
            </a:p>
            <a:p>
              <a:pPr marL="342900" indent="-342900">
                <a:buAutoNum type="alphaUcParenR"/>
              </a:pPr>
              <a:r>
                <a:rPr lang="en-US" dirty="0">
                  <a:solidFill>
                    <a:schemeClr val="bg2">
                      <a:lumMod val="9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rPr>
                <a:t>False</a:t>
              </a:r>
              <a:endParaRPr lang="en-US" dirty="0">
                <a:solidFill>
                  <a:schemeClr val="bg2">
                    <a:lumMod val="9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grpSp>
      <p:grpSp>
        <p:nvGrpSpPr>
          <p:cNvPr id="36" name="Group 35">
            <a:extLst>
              <a:ext uri="{FF2B5EF4-FFF2-40B4-BE49-F238E27FC236}">
                <a16:creationId xmlns:a16="http://schemas.microsoft.com/office/drawing/2014/main" id="{C7D0AF5E-8BB4-C16F-774A-79F5C95D15B5}"/>
              </a:ext>
            </a:extLst>
          </p:cNvPr>
          <p:cNvGrpSpPr/>
          <p:nvPr/>
        </p:nvGrpSpPr>
        <p:grpSpPr>
          <a:xfrm>
            <a:off x="-71675" y="0"/>
            <a:ext cx="3545586" cy="6858000"/>
            <a:chOff x="3052572" y="0"/>
            <a:chExt cx="3545586" cy="6858000"/>
          </a:xfrm>
        </p:grpSpPr>
        <p:sp>
          <p:nvSpPr>
            <p:cNvPr id="37" name="Rectangle 36">
              <a:extLst>
                <a:ext uri="{FF2B5EF4-FFF2-40B4-BE49-F238E27FC236}">
                  <a16:creationId xmlns:a16="http://schemas.microsoft.com/office/drawing/2014/main" id="{EC3AE345-D587-42DD-1B4A-F7B2DED2A44E}"/>
                </a:ext>
              </a:extLst>
            </p:cNvPr>
            <p:cNvSpPr/>
            <p:nvPr/>
          </p:nvSpPr>
          <p:spPr>
            <a:xfrm>
              <a:off x="3052572" y="0"/>
              <a:ext cx="3034284" cy="6858000"/>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895974F0-EC9D-A79E-9821-1002C1D7525A}"/>
                </a:ext>
              </a:extLst>
            </p:cNvPr>
            <p:cNvSpPr txBox="1"/>
            <p:nvPr/>
          </p:nvSpPr>
          <p:spPr>
            <a:xfrm>
              <a:off x="3435096" y="606902"/>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2</a:t>
              </a:r>
            </a:p>
          </p:txBody>
        </p:sp>
        <p:sp>
          <p:nvSpPr>
            <p:cNvPr id="39" name="Isosceles Triangle 38">
              <a:extLst>
                <a:ext uri="{FF2B5EF4-FFF2-40B4-BE49-F238E27FC236}">
                  <a16:creationId xmlns:a16="http://schemas.microsoft.com/office/drawing/2014/main" id="{84AE136C-AA0C-33CA-3166-D92A64E64431}"/>
                </a:ext>
              </a:extLst>
            </p:cNvPr>
            <p:cNvSpPr/>
            <p:nvPr/>
          </p:nvSpPr>
          <p:spPr>
            <a:xfrm rot="5400000">
              <a:off x="5724906" y="921795"/>
              <a:ext cx="1225296" cy="521208"/>
            </a:xfrm>
            <a:prstGeom prst="triangle">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92CACD3E-CA49-9367-D534-EB8560E5A70A}"/>
                </a:ext>
              </a:extLst>
            </p:cNvPr>
            <p:cNvSpPr txBox="1"/>
            <p:nvPr/>
          </p:nvSpPr>
          <p:spPr>
            <a:xfrm>
              <a:off x="3418332" y="2358935"/>
              <a:ext cx="2423160" cy="3693319"/>
            </a:xfrm>
            <a:prstGeom prst="rect">
              <a:avLst/>
            </a:prstGeom>
            <a:noFill/>
          </p:spPr>
          <p:txBody>
            <a:bodyPr wrap="square" rtlCol="0">
              <a:spAutoFit/>
            </a:bodyPr>
            <a:lstStyle/>
            <a:p>
              <a:r>
                <a:rPr lang="en-US" i="1" dirty="0">
                  <a:solidFill>
                    <a:schemeClr val="bg2"/>
                  </a:solidFill>
                </a:rPr>
                <a:t>“AI will replace most jobs in the future.”</a:t>
              </a:r>
              <a:endParaRPr lang="en-US" dirty="0">
                <a:solidFill>
                  <a:schemeClr val="bg2"/>
                </a:solidFill>
              </a:endParaRPr>
            </a:p>
            <a:p>
              <a:endPar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endParaRPr>
            </a:p>
            <a:p>
              <a:endPar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endParaRPr>
            </a:p>
            <a:p>
              <a:endPar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rPr>
                <a:t>True</a:t>
              </a:r>
              <a:endParaRPr lang="en-US" dirty="0">
                <a:solidFill>
                  <a:schemeClr val="bg2">
                    <a:lumMod val="90000"/>
                  </a:schemeClr>
                </a:solidFill>
                <a:latin typeface="Arial Black" panose="020B0A04020102020204" pitchFamily="34" charset="0"/>
              </a:endParaRPr>
            </a:p>
            <a:p>
              <a:pPr marL="342900" indent="-342900">
                <a:buAutoNum type="alphaUcParenR"/>
              </a:pPr>
              <a:r>
                <a:rPr lang="en-US" dirty="0">
                  <a:solidFill>
                    <a:schemeClr val="bg2">
                      <a:lumMod val="90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rPr>
                <a:t>False</a:t>
              </a:r>
              <a:endParaRPr lang="en-US" dirty="0">
                <a:solidFill>
                  <a:schemeClr val="bg2">
                    <a:lumMod val="9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grpSp>
      <p:sp>
        <p:nvSpPr>
          <p:cNvPr id="2" name="TextBox 1">
            <a:extLst>
              <a:ext uri="{FF2B5EF4-FFF2-40B4-BE49-F238E27FC236}">
                <a16:creationId xmlns:a16="http://schemas.microsoft.com/office/drawing/2014/main" id="{F4191FCB-4214-1F25-B364-6DB9675238BE}"/>
              </a:ext>
            </a:extLst>
          </p:cNvPr>
          <p:cNvSpPr txBox="1"/>
          <p:nvPr/>
        </p:nvSpPr>
        <p:spPr>
          <a:xfrm>
            <a:off x="10029023" y="2004278"/>
            <a:ext cx="2027722" cy="4955203"/>
          </a:xfrm>
          <a:prstGeom prst="rect">
            <a:avLst/>
          </a:prstGeom>
          <a:noFill/>
        </p:spPr>
        <p:txBody>
          <a:bodyPr wrap="square" rtlCol="0">
            <a:spAutoFit/>
          </a:bodyPr>
          <a:lstStyle/>
          <a:p>
            <a:pPr marL="285750" indent="-285750">
              <a:buFont typeface="Arial" panose="020B0604020202020204" pitchFamily="34" charset="0"/>
              <a:buChar char="•"/>
            </a:pPr>
            <a:r>
              <a:rPr lang="en-US" dirty="0"/>
              <a:t>employer demand surged for jobs that are </a:t>
            </a:r>
            <a:r>
              <a:rPr lang="en-US" i="1" dirty="0"/>
              <a:t>augmented</a:t>
            </a:r>
            <a:r>
              <a:rPr lang="en-US" dirty="0"/>
              <a:t> by AI</a:t>
            </a:r>
          </a:p>
          <a:p>
            <a:pPr marL="285750" indent="-285750">
              <a:buFont typeface="Arial" panose="020B0604020202020204" pitchFamily="34" charset="0"/>
              <a:buChar char="•"/>
            </a:pPr>
            <a:endParaRPr lang="en-US" dirty="0"/>
          </a:p>
          <a:p>
            <a:endParaRPr lang="en-US" dirty="0"/>
          </a:p>
          <a:p>
            <a:endParaRPr lang="en-US" dirty="0"/>
          </a:p>
          <a:p>
            <a:pPr marL="285750" indent="-285750">
              <a:buFont typeface="Arial" panose="020B0604020202020204" pitchFamily="34" charset="0"/>
              <a:buChar char="•"/>
            </a:pPr>
            <a:r>
              <a:rPr lang="en-US" dirty="0"/>
              <a:t> meaning AI assists and enhances human capabilities rather than replacing them.</a:t>
            </a:r>
          </a:p>
          <a:p>
            <a:endParaRPr lang="en-US" dirty="0"/>
          </a:p>
          <a:p>
            <a:r>
              <a:rPr lang="en-US" sz="1400" dirty="0"/>
              <a:t>*</a:t>
            </a:r>
            <a:r>
              <a:rPr lang="en-US" sz="1400" i="1" dirty="0"/>
              <a:t>From </a:t>
            </a:r>
            <a:r>
              <a:rPr lang="en-US" sz="1400" i="1" dirty="0">
                <a:hlinkClick r:id="rId13"/>
              </a:rPr>
              <a:t>Harvard Business School</a:t>
            </a:r>
            <a:endParaRPr lang="en-US" sz="1400" i="1" dirty="0"/>
          </a:p>
        </p:txBody>
      </p:sp>
      <p:pic>
        <p:nvPicPr>
          <p:cNvPr id="4" name="Picture 3">
            <a:extLst>
              <a:ext uri="{FF2B5EF4-FFF2-40B4-BE49-F238E27FC236}">
                <a16:creationId xmlns:a16="http://schemas.microsoft.com/office/drawing/2014/main" id="{0385F38F-DD2E-0CFF-2232-890A8EB0BF19}"/>
              </a:ext>
            </a:extLst>
          </p:cNvPr>
          <p:cNvPicPr>
            <a:picLocks noChangeAspect="1"/>
          </p:cNvPicPr>
          <p:nvPr/>
        </p:nvPicPr>
        <p:blipFill>
          <a:blip r:embed="rId14"/>
          <a:stretch>
            <a:fillRect/>
          </a:stretch>
        </p:blipFill>
        <p:spPr>
          <a:xfrm>
            <a:off x="4013434" y="1744131"/>
            <a:ext cx="5955762" cy="504496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761982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CD7F4-5C43-3065-F3ED-35253F1FCB52}"/>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05F1BAEE-5032-71D2-5327-598348046785}"/>
              </a:ext>
            </a:extLst>
          </p:cNvPr>
          <p:cNvSpPr txBox="1"/>
          <p:nvPr/>
        </p:nvSpPr>
        <p:spPr>
          <a:xfrm>
            <a:off x="4659086" y="457200"/>
            <a:ext cx="7024660" cy="8402300"/>
          </a:xfrm>
          <a:prstGeom prst="rect">
            <a:avLst/>
          </a:prstGeom>
          <a:noFill/>
        </p:spPr>
        <p:txBody>
          <a:bodyPr wrap="square" rtlCol="0">
            <a:spAutoFit/>
          </a:bodyPr>
          <a:lstStyle/>
          <a:p>
            <a:r>
              <a:rPr lang="en-US" sz="3200" dirty="0">
                <a:latin typeface="Arial Black" panose="020B0A04020102020204" pitchFamily="34" charset="0"/>
              </a:rPr>
              <a:t>This is a correct answer!</a:t>
            </a:r>
          </a:p>
          <a:p>
            <a:endParaRPr lang="en-US" sz="2000" dirty="0"/>
          </a:p>
          <a:p>
            <a:pPr marL="285750" indent="-285750">
              <a:buFont typeface="Arial" panose="020B0604020202020204" pitchFamily="34" charset="0"/>
              <a:buChar char="•"/>
            </a:pPr>
            <a:r>
              <a:rPr lang="en-US" sz="2000" dirty="0"/>
              <a:t>A study found that people were only able to detect uses of AI only about 50% of the time making it no better than a coin toss.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a:t>
            </a:r>
            <a:r>
              <a:rPr lang="en-US" sz="2000" i="1" dirty="0"/>
              <a:t>From </a:t>
            </a:r>
            <a:r>
              <a:rPr lang="en-US" sz="2000" i="1" dirty="0">
                <a:hlinkClick r:id="rId3"/>
              </a:rPr>
              <a:t>Communications of the ACM </a:t>
            </a:r>
            <a:r>
              <a:rPr lang="en-US" sz="2000" i="1" dirty="0"/>
              <a:t>“As Good as a Coin Toss: Human detection of AI generated content.</a:t>
            </a:r>
            <a:endParaRPr lang="en-US" sz="2000" dirty="0"/>
          </a:p>
          <a:p>
            <a:endParaRPr lang="en-US" sz="3200" dirty="0">
              <a:latin typeface="Arial Black" panose="020B0A04020102020204" pitchFamily="34" charset="0"/>
            </a:endParaRPr>
          </a:p>
          <a:p>
            <a:endParaRPr lang="en-US" sz="3200" dirty="0">
              <a:latin typeface="Arial Black" panose="020B0A04020102020204" pitchFamily="34" charset="0"/>
            </a:endParaRPr>
          </a:p>
          <a:p>
            <a:endParaRPr lang="en-US" sz="3200" dirty="0">
              <a:latin typeface="Arial Black" panose="020B0A04020102020204" pitchFamily="34" charset="0"/>
            </a:endParaRPr>
          </a:p>
          <a:p>
            <a:endParaRPr lang="en-US" sz="3200" dirty="0">
              <a:latin typeface="Arial Black" panose="020B0A04020102020204" pitchFamily="34" charset="0"/>
            </a:endParaRPr>
          </a:p>
        </p:txBody>
      </p:sp>
      <p:pic>
        <p:nvPicPr>
          <p:cNvPr id="24" name="Picture 23" descr="Business Man Suit Images – Browse 6,210,103 Stock Photos, Vectors, and  Video | Adobe Stock">
            <a:extLst>
              <a:ext uri="{FF2B5EF4-FFF2-40B4-BE49-F238E27FC236}">
                <a16:creationId xmlns:a16="http://schemas.microsoft.com/office/drawing/2014/main" id="{1FA15CBD-6446-EA31-B6C0-D9BA8F957681}"/>
              </a:ext>
            </a:extLst>
          </p:cNvPr>
          <p:cNvPicPr>
            <a:picLocks noChangeAspect="1"/>
          </p:cNvPicPr>
          <p:nvPr/>
        </p:nvPicPr>
        <p:blipFill>
          <a:blip r:embed="rId4"/>
          <a:stretch>
            <a:fillRect/>
          </a:stretch>
        </p:blipFill>
        <p:spPr>
          <a:xfrm>
            <a:off x="6987186" y="2519499"/>
            <a:ext cx="5204814" cy="3469875"/>
          </a:xfrm>
          <a:prstGeom prst="rect">
            <a:avLst/>
          </a:prstGeom>
          <a:ln>
            <a:noFill/>
          </a:ln>
          <a:effectLst>
            <a:softEdge rad="112500"/>
          </a:effectLst>
        </p:spPr>
      </p:pic>
      <p:grpSp>
        <p:nvGrpSpPr>
          <p:cNvPr id="25" name="Group 24">
            <a:extLst>
              <a:ext uri="{FF2B5EF4-FFF2-40B4-BE49-F238E27FC236}">
                <a16:creationId xmlns:a16="http://schemas.microsoft.com/office/drawing/2014/main" id="{209E9291-0344-BE4C-6D4E-C5EA8E440EBF}"/>
              </a:ext>
            </a:extLst>
          </p:cNvPr>
          <p:cNvGrpSpPr/>
          <p:nvPr/>
        </p:nvGrpSpPr>
        <p:grpSpPr>
          <a:xfrm>
            <a:off x="985619" y="20108"/>
            <a:ext cx="3508248" cy="7137585"/>
            <a:chOff x="9204960" y="0"/>
            <a:chExt cx="3508248" cy="7137585"/>
          </a:xfrm>
        </p:grpSpPr>
        <p:sp>
          <p:nvSpPr>
            <p:cNvPr id="26" name="Rectangle 25">
              <a:extLst>
                <a:ext uri="{FF2B5EF4-FFF2-40B4-BE49-F238E27FC236}">
                  <a16:creationId xmlns:a16="http://schemas.microsoft.com/office/drawing/2014/main" id="{1EAF56E3-1D55-C8F8-DF88-C84120F4799C}"/>
                </a:ext>
              </a:extLst>
            </p:cNvPr>
            <p:cNvSpPr/>
            <p:nvPr/>
          </p:nvSpPr>
          <p:spPr>
            <a:xfrm>
              <a:off x="9204960" y="0"/>
              <a:ext cx="2987040" cy="68580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Isosceles Triangle 26">
              <a:extLst>
                <a:ext uri="{FF2B5EF4-FFF2-40B4-BE49-F238E27FC236}">
                  <a16:creationId xmlns:a16="http://schemas.microsoft.com/office/drawing/2014/main" id="{1FB95A00-42B5-074B-14FD-AAEDFD1DB90D}"/>
                </a:ext>
              </a:extLst>
            </p:cNvPr>
            <p:cNvSpPr/>
            <p:nvPr/>
          </p:nvSpPr>
          <p:spPr>
            <a:xfrm rot="5400000">
              <a:off x="11839956" y="941994"/>
              <a:ext cx="1225296" cy="521208"/>
            </a:xfrm>
            <a:prstGeom prst="triangle">
              <a:avLst/>
            </a:prstGeom>
            <a:solidFill>
              <a:srgbClr val="B4C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C2E9CDC4-06FC-2B37-AAF6-89E11B0F0C2C}"/>
                </a:ext>
              </a:extLst>
            </p:cNvPr>
            <p:cNvSpPr txBox="1"/>
            <p:nvPr/>
          </p:nvSpPr>
          <p:spPr>
            <a:xfrm>
              <a:off x="9604248" y="2336271"/>
              <a:ext cx="2423160" cy="4801314"/>
            </a:xfrm>
            <a:prstGeom prst="rect">
              <a:avLst/>
            </a:prstGeom>
            <a:noFill/>
          </p:spPr>
          <p:txBody>
            <a:bodyPr wrap="square" rtlCol="0">
              <a:spAutoFit/>
            </a:bodyPr>
            <a:lstStyle/>
            <a:p>
              <a:r>
                <a:rPr lang="en-US" i="1" dirty="0">
                  <a:solidFill>
                    <a:schemeClr val="accent1"/>
                  </a:solidFill>
                </a:rPr>
                <a:t>“AI is working like a human brain.”</a:t>
              </a:r>
            </a:p>
            <a:p>
              <a:endPar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tx2">
                      <a:lumMod val="75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True</a:t>
              </a:r>
              <a:endParaRPr lang="en-US" dirty="0">
                <a:solidFill>
                  <a:schemeClr val="tx2">
                    <a:lumMod val="75000"/>
                  </a:schemeClr>
                </a:solidFill>
                <a:latin typeface="Arial Black" panose="020B0A04020102020204" pitchFamily="34" charset="0"/>
              </a:endParaRPr>
            </a:p>
            <a:p>
              <a:pPr marL="342900" indent="-342900">
                <a:buAutoNum type="alphaUcParenR"/>
              </a:pPr>
              <a:r>
                <a:rPr lang="en-US" dirty="0">
                  <a:solidFill>
                    <a:schemeClr val="tx2">
                      <a:lumMod val="75000"/>
                    </a:schemeClr>
                  </a:solidFill>
                  <a:latin typeface="Arial Black" panose="020B0A04020102020204" pitchFamily="34" charset="0"/>
                  <a:hlinkClick r:id="rId6" action="ppaction://hlinksldjump">
                    <a:extLst>
                      <a:ext uri="{A12FA001-AC4F-418D-AE19-62706E023703}">
                        <ahyp:hlinkClr xmlns:ahyp="http://schemas.microsoft.com/office/drawing/2018/hyperlinkcolor" val="tx"/>
                      </a:ext>
                    </a:extLst>
                  </a:hlinkClick>
                </a:rPr>
                <a:t>False</a:t>
              </a:r>
              <a:endParaRPr lang="en-US" dirty="0">
                <a:solidFill>
                  <a:schemeClr val="tx2">
                    <a:lumMod val="75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bg2"/>
                  </a:solidFill>
                  <a:latin typeface="Arial Black" panose="020B0A04020102020204" pitchFamily="34" charset="0"/>
                  <a:hlinkClick r:id="rId8" action="ppaction://hlinksldjump"/>
                </a:rPr>
                <a:t>Next Point</a:t>
              </a: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sp>
          <p:nvSpPr>
            <p:cNvPr id="29" name="TextBox 28">
              <a:extLst>
                <a:ext uri="{FF2B5EF4-FFF2-40B4-BE49-F238E27FC236}">
                  <a16:creationId xmlns:a16="http://schemas.microsoft.com/office/drawing/2014/main" id="{E12C57DB-7E27-8ECC-2922-500FD19B8C38}"/>
                </a:ext>
              </a:extLst>
            </p:cNvPr>
            <p:cNvSpPr txBox="1"/>
            <p:nvPr/>
          </p:nvSpPr>
          <p:spPr>
            <a:xfrm>
              <a:off x="9666732" y="657793"/>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4</a:t>
              </a:r>
            </a:p>
          </p:txBody>
        </p:sp>
      </p:grpSp>
      <p:grpSp>
        <p:nvGrpSpPr>
          <p:cNvPr id="35" name="Group 34">
            <a:extLst>
              <a:ext uri="{FF2B5EF4-FFF2-40B4-BE49-F238E27FC236}">
                <a16:creationId xmlns:a16="http://schemas.microsoft.com/office/drawing/2014/main" id="{7D328B67-D00A-7F53-585F-C9E3C063367E}"/>
              </a:ext>
            </a:extLst>
          </p:cNvPr>
          <p:cNvGrpSpPr/>
          <p:nvPr/>
        </p:nvGrpSpPr>
        <p:grpSpPr>
          <a:xfrm>
            <a:off x="661895" y="60324"/>
            <a:ext cx="3545586" cy="6858000"/>
            <a:chOff x="3052572" y="0"/>
            <a:chExt cx="3545586" cy="6858000"/>
          </a:xfrm>
        </p:grpSpPr>
        <p:sp>
          <p:nvSpPr>
            <p:cNvPr id="36" name="Rectangle 35">
              <a:extLst>
                <a:ext uri="{FF2B5EF4-FFF2-40B4-BE49-F238E27FC236}">
                  <a16:creationId xmlns:a16="http://schemas.microsoft.com/office/drawing/2014/main" id="{ECA1D6DB-F95F-F70F-92BA-8EA0E71ECF1C}"/>
                </a:ext>
              </a:extLst>
            </p:cNvPr>
            <p:cNvSpPr/>
            <p:nvPr/>
          </p:nvSpPr>
          <p:spPr>
            <a:xfrm>
              <a:off x="3052572" y="0"/>
              <a:ext cx="3034284" cy="6858000"/>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C392DABC-50C0-5CB9-71D8-C94927909165}"/>
                </a:ext>
              </a:extLst>
            </p:cNvPr>
            <p:cNvSpPr txBox="1"/>
            <p:nvPr/>
          </p:nvSpPr>
          <p:spPr>
            <a:xfrm>
              <a:off x="3435096" y="606902"/>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2</a:t>
              </a:r>
            </a:p>
          </p:txBody>
        </p:sp>
        <p:sp>
          <p:nvSpPr>
            <p:cNvPr id="38" name="Isosceles Triangle 37">
              <a:extLst>
                <a:ext uri="{FF2B5EF4-FFF2-40B4-BE49-F238E27FC236}">
                  <a16:creationId xmlns:a16="http://schemas.microsoft.com/office/drawing/2014/main" id="{220F4403-54A1-600E-F7ED-28078DF9F23D}"/>
                </a:ext>
              </a:extLst>
            </p:cNvPr>
            <p:cNvSpPr/>
            <p:nvPr/>
          </p:nvSpPr>
          <p:spPr>
            <a:xfrm rot="5400000">
              <a:off x="5724906" y="921795"/>
              <a:ext cx="1225296" cy="521208"/>
            </a:xfrm>
            <a:prstGeom prst="triangle">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a:extLst>
                <a:ext uri="{FF2B5EF4-FFF2-40B4-BE49-F238E27FC236}">
                  <a16:creationId xmlns:a16="http://schemas.microsoft.com/office/drawing/2014/main" id="{A3020C74-FE72-EC53-52EE-D7A678EE7837}"/>
                </a:ext>
              </a:extLst>
            </p:cNvPr>
            <p:cNvSpPr txBox="1"/>
            <p:nvPr/>
          </p:nvSpPr>
          <p:spPr>
            <a:xfrm>
              <a:off x="3418332" y="2358935"/>
              <a:ext cx="2423160" cy="3693319"/>
            </a:xfrm>
            <a:prstGeom prst="rect">
              <a:avLst/>
            </a:prstGeom>
            <a:noFill/>
          </p:spPr>
          <p:txBody>
            <a:bodyPr wrap="square" rtlCol="0">
              <a:spAutoFit/>
            </a:bodyPr>
            <a:lstStyle/>
            <a:p>
              <a:r>
                <a:rPr lang="en-US" i="1" dirty="0">
                  <a:solidFill>
                    <a:schemeClr val="bg2"/>
                  </a:solidFill>
                </a:rPr>
                <a:t>“AI will replace most jobs in the future.”</a:t>
              </a:r>
              <a:endParaRPr lang="en-US" dirty="0">
                <a:solidFill>
                  <a:schemeClr val="bg2"/>
                </a:solidFill>
              </a:endParaRPr>
            </a:p>
            <a:p>
              <a:endParaRPr lang="en-US" dirty="0">
                <a:solidFill>
                  <a:schemeClr val="bg2">
                    <a:lumMod val="9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endParaRPr>
            </a:p>
            <a:p>
              <a:endParaRPr lang="en-US" dirty="0">
                <a:solidFill>
                  <a:schemeClr val="bg2">
                    <a:lumMod val="9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endParaRPr>
            </a:p>
            <a:p>
              <a:endParaRPr lang="en-US" dirty="0">
                <a:solidFill>
                  <a:schemeClr val="bg2">
                    <a:lumMod val="9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bg2">
                    <a:lumMod val="9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bg2">
                      <a:lumMod val="9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rPr>
                <a:t>True</a:t>
              </a:r>
              <a:endParaRPr lang="en-US" dirty="0">
                <a:solidFill>
                  <a:schemeClr val="bg2">
                    <a:lumMod val="90000"/>
                  </a:schemeClr>
                </a:solidFill>
                <a:latin typeface="Arial Black" panose="020B0A04020102020204" pitchFamily="34" charset="0"/>
              </a:endParaRPr>
            </a:p>
            <a:p>
              <a:pPr marL="342900" indent="-342900">
                <a:buAutoNum type="alphaUcParenR"/>
              </a:pPr>
              <a:r>
                <a:rPr lang="en-US" dirty="0">
                  <a:solidFill>
                    <a:schemeClr val="bg2">
                      <a:lumMod val="9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rPr>
                <a:t>False</a:t>
              </a:r>
              <a:endParaRPr lang="en-US" dirty="0">
                <a:solidFill>
                  <a:schemeClr val="bg2">
                    <a:lumMod val="9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grpSp>
      <p:grpSp>
        <p:nvGrpSpPr>
          <p:cNvPr id="40" name="Group 39">
            <a:extLst>
              <a:ext uri="{FF2B5EF4-FFF2-40B4-BE49-F238E27FC236}">
                <a16:creationId xmlns:a16="http://schemas.microsoft.com/office/drawing/2014/main" id="{1B4C351C-E696-353F-1A2E-B4EAFA16ADB8}"/>
              </a:ext>
            </a:extLst>
          </p:cNvPr>
          <p:cNvGrpSpPr/>
          <p:nvPr/>
        </p:nvGrpSpPr>
        <p:grpSpPr>
          <a:xfrm>
            <a:off x="384368" y="40216"/>
            <a:ext cx="3553968" cy="6858000"/>
            <a:chOff x="0" y="0"/>
            <a:chExt cx="3553968" cy="6858000"/>
          </a:xfrm>
        </p:grpSpPr>
        <p:sp>
          <p:nvSpPr>
            <p:cNvPr id="41" name="Rectangle 40">
              <a:extLst>
                <a:ext uri="{FF2B5EF4-FFF2-40B4-BE49-F238E27FC236}">
                  <a16:creationId xmlns:a16="http://schemas.microsoft.com/office/drawing/2014/main" id="{D2776473-F1FC-FD58-9774-86561640BC7D}"/>
                </a:ext>
              </a:extLst>
            </p:cNvPr>
            <p:cNvSpPr/>
            <p:nvPr/>
          </p:nvSpPr>
          <p:spPr>
            <a:xfrm>
              <a:off x="0" y="0"/>
              <a:ext cx="3052572" cy="68580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TextBox 41">
              <a:extLst>
                <a:ext uri="{FF2B5EF4-FFF2-40B4-BE49-F238E27FC236}">
                  <a16:creationId xmlns:a16="http://schemas.microsoft.com/office/drawing/2014/main" id="{9C28C9E4-E963-2ADE-FF56-D96D3B7094B3}"/>
                </a:ext>
              </a:extLst>
            </p:cNvPr>
            <p:cNvSpPr txBox="1"/>
            <p:nvPr/>
          </p:nvSpPr>
          <p:spPr>
            <a:xfrm>
              <a:off x="310896" y="694944"/>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1</a:t>
              </a:r>
            </a:p>
          </p:txBody>
        </p:sp>
        <p:sp>
          <p:nvSpPr>
            <p:cNvPr id="43" name="Isosceles Triangle 42">
              <a:extLst>
                <a:ext uri="{FF2B5EF4-FFF2-40B4-BE49-F238E27FC236}">
                  <a16:creationId xmlns:a16="http://schemas.microsoft.com/office/drawing/2014/main" id="{19431B59-C20D-3205-49D6-0598E22C0C09}"/>
                </a:ext>
              </a:extLst>
            </p:cNvPr>
            <p:cNvSpPr/>
            <p:nvPr/>
          </p:nvSpPr>
          <p:spPr>
            <a:xfrm rot="5400000">
              <a:off x="2680716" y="958946"/>
              <a:ext cx="1225296" cy="521208"/>
            </a:xfrm>
            <a:prstGeom prst="triangle">
              <a:avLst/>
            </a:prstGeom>
            <a:solidFill>
              <a:srgbClr val="2038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TextBox 43">
              <a:extLst>
                <a:ext uri="{FF2B5EF4-FFF2-40B4-BE49-F238E27FC236}">
                  <a16:creationId xmlns:a16="http://schemas.microsoft.com/office/drawing/2014/main" id="{371E4E54-B4E8-2E4C-EC8A-8D82A80F320D}"/>
                </a:ext>
              </a:extLst>
            </p:cNvPr>
            <p:cNvSpPr txBox="1"/>
            <p:nvPr/>
          </p:nvSpPr>
          <p:spPr>
            <a:xfrm>
              <a:off x="310896" y="2316163"/>
              <a:ext cx="2423160" cy="3693319"/>
            </a:xfrm>
            <a:prstGeom prst="rect">
              <a:avLst/>
            </a:prstGeom>
            <a:noFill/>
          </p:spPr>
          <p:txBody>
            <a:bodyPr wrap="square" rtlCol="0">
              <a:spAutoFit/>
            </a:bodyPr>
            <a:lstStyle/>
            <a:p>
              <a:r>
                <a:rPr lang="en-US" i="1" dirty="0">
                  <a:solidFill>
                    <a:schemeClr val="bg2"/>
                  </a:solidFill>
                </a:rPr>
                <a:t>“AI is mostly only useful for generating text in tools like ChatGPT or Gemini.” </a:t>
              </a:r>
              <a:endParaRPr lang="en-US" dirty="0">
                <a:solidFill>
                  <a:schemeClr val="bg2"/>
                </a:solidFill>
              </a:endParaRPr>
            </a:p>
            <a:p>
              <a:endPar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rPr>
                <a:t>True</a:t>
              </a:r>
              <a:endParaRPr lang="en-US" dirty="0">
                <a:solidFill>
                  <a:schemeClr val="bg2">
                    <a:lumMod val="90000"/>
                  </a:schemeClr>
                </a:solidFill>
                <a:latin typeface="Arial Black" panose="020B0A04020102020204" pitchFamily="34" charset="0"/>
              </a:endParaRPr>
            </a:p>
            <a:p>
              <a:pPr marL="342900" indent="-342900">
                <a:buAutoNum type="alphaUcParenR"/>
              </a:pPr>
              <a:r>
                <a:rPr lang="en-US" dirty="0">
                  <a:solidFill>
                    <a:schemeClr val="bg2">
                      <a:lumMod val="90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rPr>
                <a:t>False</a:t>
              </a:r>
              <a:endParaRPr lang="en-US" dirty="0">
                <a:solidFill>
                  <a:schemeClr val="bg2">
                    <a:lumMod val="9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grpSp>
      <p:grpSp>
        <p:nvGrpSpPr>
          <p:cNvPr id="30" name="Group 29">
            <a:extLst>
              <a:ext uri="{FF2B5EF4-FFF2-40B4-BE49-F238E27FC236}">
                <a16:creationId xmlns:a16="http://schemas.microsoft.com/office/drawing/2014/main" id="{F3044BE7-08F8-1ACE-8268-78D74EB700A1}"/>
              </a:ext>
            </a:extLst>
          </p:cNvPr>
          <p:cNvGrpSpPr/>
          <p:nvPr/>
        </p:nvGrpSpPr>
        <p:grpSpPr>
          <a:xfrm>
            <a:off x="-112028" y="-20108"/>
            <a:ext cx="3644646" cy="6858000"/>
            <a:chOff x="6081522" y="0"/>
            <a:chExt cx="3644646" cy="6858000"/>
          </a:xfrm>
        </p:grpSpPr>
        <p:sp>
          <p:nvSpPr>
            <p:cNvPr id="31" name="Rectangle 30">
              <a:extLst>
                <a:ext uri="{FF2B5EF4-FFF2-40B4-BE49-F238E27FC236}">
                  <a16:creationId xmlns:a16="http://schemas.microsoft.com/office/drawing/2014/main" id="{D1770A8A-FD89-88E0-2EAF-71FB7D484D24}"/>
                </a:ext>
              </a:extLst>
            </p:cNvPr>
            <p:cNvSpPr/>
            <p:nvPr/>
          </p:nvSpPr>
          <p:spPr>
            <a:xfrm>
              <a:off x="6081522" y="0"/>
              <a:ext cx="3176016" cy="685800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Isosceles Triangle 31">
              <a:extLst>
                <a:ext uri="{FF2B5EF4-FFF2-40B4-BE49-F238E27FC236}">
                  <a16:creationId xmlns:a16="http://schemas.microsoft.com/office/drawing/2014/main" id="{EE13869A-1125-1D55-C5B1-034395C5A6A8}"/>
                </a:ext>
              </a:extLst>
            </p:cNvPr>
            <p:cNvSpPr/>
            <p:nvPr/>
          </p:nvSpPr>
          <p:spPr>
            <a:xfrm rot="5400000">
              <a:off x="8852916" y="932850"/>
              <a:ext cx="1225296" cy="521208"/>
            </a:xfrm>
            <a:prstGeom prst="triangle">
              <a:avLst/>
            </a:prstGeom>
            <a:solidFill>
              <a:srgbClr val="8FAA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B1CD18C8-7748-6D23-F3BE-32B569EAE355}"/>
                </a:ext>
              </a:extLst>
            </p:cNvPr>
            <p:cNvSpPr txBox="1"/>
            <p:nvPr/>
          </p:nvSpPr>
          <p:spPr>
            <a:xfrm>
              <a:off x="6472428" y="569751"/>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3</a:t>
              </a:r>
            </a:p>
          </p:txBody>
        </p:sp>
        <p:sp>
          <p:nvSpPr>
            <p:cNvPr id="34" name="TextBox 33">
              <a:extLst>
                <a:ext uri="{FF2B5EF4-FFF2-40B4-BE49-F238E27FC236}">
                  <a16:creationId xmlns:a16="http://schemas.microsoft.com/office/drawing/2014/main" id="{BB4E6389-63D3-EAF3-44F8-9FEB0B139C2D}"/>
                </a:ext>
              </a:extLst>
            </p:cNvPr>
            <p:cNvSpPr txBox="1"/>
            <p:nvPr/>
          </p:nvSpPr>
          <p:spPr>
            <a:xfrm>
              <a:off x="6619494" y="2316163"/>
              <a:ext cx="2423160" cy="3693319"/>
            </a:xfrm>
            <a:prstGeom prst="rect">
              <a:avLst/>
            </a:prstGeom>
            <a:noFill/>
          </p:spPr>
          <p:txBody>
            <a:bodyPr wrap="square" rtlCol="0">
              <a:spAutoFit/>
            </a:bodyPr>
            <a:lstStyle/>
            <a:p>
              <a:r>
                <a:rPr lang="en-US" i="1" dirty="0">
                  <a:solidFill>
                    <a:schemeClr val="tx2"/>
                  </a:solidFill>
                </a:rPr>
                <a:t>“AI-generated content (text, images, code) is now indistinguishable from human-created work.”</a:t>
              </a:r>
              <a:endParaRPr lang="en-US" dirty="0">
                <a:solidFill>
                  <a:schemeClr val="accent1">
                    <a:lumMod val="50000"/>
                  </a:schemeClr>
                </a:solidFill>
                <a:latin typeface="Arial Black" panose="020B0A04020102020204" pitchFamily="34" charset="0"/>
                <a:hlinkClick r:id="rId13"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accent1">
                    <a:lumMod val="50000"/>
                  </a:schemeClr>
                </a:solidFill>
                <a:latin typeface="Arial Black" panose="020B0A04020102020204" pitchFamily="34" charset="0"/>
                <a:hlinkClick r:id="rId13"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accent1">
                      <a:lumMod val="50000"/>
                    </a:schemeClr>
                  </a:solidFill>
                  <a:latin typeface="Arial Black" panose="020B0A04020102020204" pitchFamily="34" charset="0"/>
                  <a:hlinkClick r:id="rId13" action="ppaction://hlinksldjump">
                    <a:extLst>
                      <a:ext uri="{A12FA001-AC4F-418D-AE19-62706E023703}">
                        <ahyp:hlinkClr xmlns:ahyp="http://schemas.microsoft.com/office/drawing/2018/hyperlinkcolor" val="tx"/>
                      </a:ext>
                    </a:extLst>
                  </a:hlinkClick>
                </a:rPr>
                <a:t>True</a:t>
              </a:r>
              <a:endParaRPr lang="en-US" dirty="0">
                <a:solidFill>
                  <a:schemeClr val="accent1">
                    <a:lumMod val="50000"/>
                  </a:schemeClr>
                </a:solidFill>
                <a:latin typeface="Arial Black" panose="020B0A04020102020204" pitchFamily="34" charset="0"/>
              </a:endParaRPr>
            </a:p>
            <a:p>
              <a:pPr marL="342900" indent="-342900">
                <a:buAutoNum type="alphaUcParenR"/>
              </a:pPr>
              <a:r>
                <a:rPr lang="en-US" dirty="0">
                  <a:solidFill>
                    <a:schemeClr val="accent1">
                      <a:lumMod val="50000"/>
                    </a:schemeClr>
                  </a:solidFill>
                  <a:latin typeface="Arial Black" panose="020B0A04020102020204" pitchFamily="34" charset="0"/>
                  <a:hlinkClick r:id="rId14" action="ppaction://hlinksldjump">
                    <a:extLst>
                      <a:ext uri="{A12FA001-AC4F-418D-AE19-62706E023703}">
                        <ahyp:hlinkClr xmlns:ahyp="http://schemas.microsoft.com/office/drawing/2018/hyperlinkcolor" val="tx"/>
                      </a:ext>
                    </a:extLst>
                  </a:hlinkClick>
                </a:rPr>
                <a:t>False</a:t>
              </a:r>
              <a:endParaRPr lang="en-US" dirty="0">
                <a:solidFill>
                  <a:schemeClr val="accent1">
                    <a:lumMod val="5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p>
          </p:txBody>
        </p:sp>
      </p:grpSp>
      <p:pic>
        <p:nvPicPr>
          <p:cNvPr id="5" name="Picture 4">
            <a:extLst>
              <a:ext uri="{FF2B5EF4-FFF2-40B4-BE49-F238E27FC236}">
                <a16:creationId xmlns:a16="http://schemas.microsoft.com/office/drawing/2014/main" id="{902585CF-DFAE-5986-C91C-D4095CB1662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183226" y="2293831"/>
            <a:ext cx="2804381" cy="3755867"/>
          </a:xfrm>
          <a:prstGeom prst="rect">
            <a:avLst/>
          </a:prstGeom>
          <a:ln>
            <a:noFill/>
          </a:ln>
          <a:effectLst>
            <a:softEdge rad="112500"/>
          </a:effectLst>
        </p:spPr>
      </p:pic>
    </p:spTree>
    <p:extLst>
      <p:ext uri="{BB962C8B-B14F-4D97-AF65-F5344CB8AC3E}">
        <p14:creationId xmlns:p14="http://schemas.microsoft.com/office/powerpoint/2010/main" val="26619397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F9891-6D54-C820-0941-A10988D761B1}"/>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B47C52F1-32CB-8732-7B60-4707F185B194}"/>
              </a:ext>
            </a:extLst>
          </p:cNvPr>
          <p:cNvSpPr txBox="1"/>
          <p:nvPr/>
        </p:nvSpPr>
        <p:spPr>
          <a:xfrm>
            <a:off x="4598398" y="228821"/>
            <a:ext cx="7024660" cy="8710077"/>
          </a:xfrm>
          <a:prstGeom prst="rect">
            <a:avLst/>
          </a:prstGeom>
          <a:noFill/>
        </p:spPr>
        <p:txBody>
          <a:bodyPr wrap="square" rtlCol="0">
            <a:spAutoFit/>
          </a:bodyPr>
          <a:lstStyle/>
          <a:p>
            <a:r>
              <a:rPr lang="en-US" sz="3200" dirty="0">
                <a:latin typeface="Arial Black" panose="020B0A04020102020204" pitchFamily="34" charset="0"/>
              </a:rPr>
              <a:t>This is a misconception</a:t>
            </a:r>
          </a:p>
          <a:p>
            <a:endParaRPr lang="en-US" sz="2000" dirty="0"/>
          </a:p>
          <a:p>
            <a:pPr marL="285750" indent="-285750">
              <a:buFont typeface="Arial" panose="020B0604020202020204" pitchFamily="34" charset="0"/>
              <a:buChar char="•"/>
            </a:pPr>
            <a:r>
              <a:rPr lang="en-US" sz="2000" dirty="0"/>
              <a:t>A study found that people were only able to detect uses of AI only about 50% of the time making it no better than a coin toss.</a:t>
            </a:r>
          </a:p>
          <a:p>
            <a:endParaRPr lang="en-US" sz="2000" dirty="0"/>
          </a:p>
          <a:p>
            <a:endParaRPr lang="en-US" sz="2000" dirty="0"/>
          </a:p>
          <a:p>
            <a:endParaRPr lang="en-US" sz="2000" dirty="0"/>
          </a:p>
          <a:p>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endParaRPr lang="en-US" sz="2000" dirty="0"/>
          </a:p>
          <a:p>
            <a:endParaRPr lang="en-US" sz="2000" dirty="0"/>
          </a:p>
          <a:p>
            <a:r>
              <a:rPr lang="en-US" sz="2000" dirty="0"/>
              <a:t>*</a:t>
            </a:r>
            <a:r>
              <a:rPr lang="en-US" sz="2000" i="1" dirty="0"/>
              <a:t>From </a:t>
            </a:r>
            <a:r>
              <a:rPr lang="en-US" sz="2000" i="1" dirty="0">
                <a:hlinkClick r:id="rId3"/>
              </a:rPr>
              <a:t>Communications of the ACM </a:t>
            </a:r>
            <a:r>
              <a:rPr lang="en-US" sz="2000" i="1" dirty="0"/>
              <a:t>“As Good as a Coin Toss: Human detection of AI generated content.</a:t>
            </a:r>
            <a:endParaRPr lang="en-US" sz="2000" dirty="0"/>
          </a:p>
          <a:p>
            <a:endParaRPr lang="en-US" sz="3200" dirty="0">
              <a:latin typeface="Arial Black" panose="020B0A04020102020204" pitchFamily="34" charset="0"/>
            </a:endParaRPr>
          </a:p>
          <a:p>
            <a:endParaRPr lang="en-US" sz="3200" dirty="0">
              <a:latin typeface="Arial Black" panose="020B0A04020102020204" pitchFamily="34" charset="0"/>
            </a:endParaRPr>
          </a:p>
          <a:p>
            <a:endParaRPr lang="en-US" sz="3200" dirty="0">
              <a:latin typeface="Arial Black" panose="020B0A04020102020204" pitchFamily="34" charset="0"/>
            </a:endParaRPr>
          </a:p>
          <a:p>
            <a:endParaRPr lang="en-US" sz="3200" dirty="0">
              <a:latin typeface="Arial Black" panose="020B0A04020102020204" pitchFamily="34" charset="0"/>
            </a:endParaRPr>
          </a:p>
        </p:txBody>
      </p:sp>
      <p:pic>
        <p:nvPicPr>
          <p:cNvPr id="28" name="Picture 27">
            <a:extLst>
              <a:ext uri="{FF2B5EF4-FFF2-40B4-BE49-F238E27FC236}">
                <a16:creationId xmlns:a16="http://schemas.microsoft.com/office/drawing/2014/main" id="{2AD398B0-515C-69DB-E182-084A188377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02495" y="1483521"/>
            <a:ext cx="5374479" cy="5374479"/>
          </a:xfrm>
          <a:prstGeom prst="rect">
            <a:avLst/>
          </a:prstGeom>
        </p:spPr>
      </p:pic>
      <p:pic>
        <p:nvPicPr>
          <p:cNvPr id="29" name="Picture 28" descr="Business Man Suit Images – Browse 6,210,103 Stock Photos, Vectors, and  Video | Adobe Stock">
            <a:extLst>
              <a:ext uri="{FF2B5EF4-FFF2-40B4-BE49-F238E27FC236}">
                <a16:creationId xmlns:a16="http://schemas.microsoft.com/office/drawing/2014/main" id="{58F2084A-4BCD-4748-7326-539B569AF37E}"/>
              </a:ext>
            </a:extLst>
          </p:cNvPr>
          <p:cNvPicPr>
            <a:picLocks noChangeAspect="1"/>
          </p:cNvPicPr>
          <p:nvPr/>
        </p:nvPicPr>
        <p:blipFill>
          <a:blip r:embed="rId5"/>
          <a:stretch>
            <a:fillRect/>
          </a:stretch>
        </p:blipFill>
        <p:spPr>
          <a:xfrm>
            <a:off x="12501066" y="951346"/>
            <a:ext cx="6432560" cy="4288373"/>
          </a:xfrm>
          <a:prstGeom prst="rect">
            <a:avLst/>
          </a:prstGeom>
        </p:spPr>
      </p:pic>
      <p:grpSp>
        <p:nvGrpSpPr>
          <p:cNvPr id="3" name="Group 2">
            <a:extLst>
              <a:ext uri="{FF2B5EF4-FFF2-40B4-BE49-F238E27FC236}">
                <a16:creationId xmlns:a16="http://schemas.microsoft.com/office/drawing/2014/main" id="{7CBD491A-2419-61C7-CCB8-0426A92C6A6B}"/>
              </a:ext>
            </a:extLst>
          </p:cNvPr>
          <p:cNvGrpSpPr/>
          <p:nvPr/>
        </p:nvGrpSpPr>
        <p:grpSpPr>
          <a:xfrm>
            <a:off x="985619" y="20108"/>
            <a:ext cx="3508248" cy="7137585"/>
            <a:chOff x="9204960" y="0"/>
            <a:chExt cx="3508248" cy="7137585"/>
          </a:xfrm>
        </p:grpSpPr>
        <p:sp>
          <p:nvSpPr>
            <p:cNvPr id="25" name="Rectangle 24">
              <a:extLst>
                <a:ext uri="{FF2B5EF4-FFF2-40B4-BE49-F238E27FC236}">
                  <a16:creationId xmlns:a16="http://schemas.microsoft.com/office/drawing/2014/main" id="{D4069D78-5C74-8E87-7309-5FD78C49439B}"/>
                </a:ext>
              </a:extLst>
            </p:cNvPr>
            <p:cNvSpPr/>
            <p:nvPr/>
          </p:nvSpPr>
          <p:spPr>
            <a:xfrm>
              <a:off x="9204960" y="0"/>
              <a:ext cx="2987040" cy="68580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Isosceles Triangle 25">
              <a:extLst>
                <a:ext uri="{FF2B5EF4-FFF2-40B4-BE49-F238E27FC236}">
                  <a16:creationId xmlns:a16="http://schemas.microsoft.com/office/drawing/2014/main" id="{E7952285-7A2A-7F3A-E3AE-9D1DF52B6B72}"/>
                </a:ext>
              </a:extLst>
            </p:cNvPr>
            <p:cNvSpPr/>
            <p:nvPr/>
          </p:nvSpPr>
          <p:spPr>
            <a:xfrm rot="5400000">
              <a:off x="11839956" y="941994"/>
              <a:ext cx="1225296" cy="521208"/>
            </a:xfrm>
            <a:prstGeom prst="triangle">
              <a:avLst/>
            </a:prstGeom>
            <a:solidFill>
              <a:srgbClr val="B4C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7AAF02BC-B9BF-8633-6BDF-317FE717A2A3}"/>
                </a:ext>
              </a:extLst>
            </p:cNvPr>
            <p:cNvSpPr txBox="1"/>
            <p:nvPr/>
          </p:nvSpPr>
          <p:spPr>
            <a:xfrm>
              <a:off x="9604248" y="2336271"/>
              <a:ext cx="2423160" cy="4801314"/>
            </a:xfrm>
            <a:prstGeom prst="rect">
              <a:avLst/>
            </a:prstGeom>
            <a:noFill/>
          </p:spPr>
          <p:txBody>
            <a:bodyPr wrap="square" rtlCol="0">
              <a:spAutoFit/>
            </a:bodyPr>
            <a:lstStyle/>
            <a:p>
              <a:r>
                <a:rPr lang="en-US" i="1" dirty="0">
                  <a:solidFill>
                    <a:schemeClr val="accent1"/>
                  </a:solidFill>
                </a:rPr>
                <a:t>“AI is working like a human brain.”</a:t>
              </a:r>
            </a:p>
            <a:p>
              <a:endParaRPr lang="en-US" dirty="0">
                <a:solidFill>
                  <a:schemeClr val="tx2">
                    <a:lumMod val="75000"/>
                  </a:schemeClr>
                </a:solidFill>
                <a:latin typeface="Arial Black" panose="020B0A04020102020204" pitchFamily="34" charset="0"/>
                <a:hlinkClick r:id="rId6"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6"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6"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6"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tx2">
                      <a:lumMod val="75000"/>
                    </a:schemeClr>
                  </a:solidFill>
                  <a:latin typeface="Arial Black" panose="020B0A04020102020204" pitchFamily="34" charset="0"/>
                  <a:hlinkClick r:id="rId6" action="ppaction://hlinksldjump">
                    <a:extLst>
                      <a:ext uri="{A12FA001-AC4F-418D-AE19-62706E023703}">
                        <ahyp:hlinkClr xmlns:ahyp="http://schemas.microsoft.com/office/drawing/2018/hyperlinkcolor" val="tx"/>
                      </a:ext>
                    </a:extLst>
                  </a:hlinkClick>
                </a:rPr>
                <a:t>True</a:t>
              </a:r>
              <a:endParaRPr lang="en-US" dirty="0">
                <a:solidFill>
                  <a:schemeClr val="tx2">
                    <a:lumMod val="75000"/>
                  </a:schemeClr>
                </a:solidFill>
                <a:latin typeface="Arial Black" panose="020B0A04020102020204" pitchFamily="34" charset="0"/>
              </a:endParaRPr>
            </a:p>
            <a:p>
              <a:pPr marL="342900" indent="-342900">
                <a:buAutoNum type="alphaUcParenR"/>
              </a:pPr>
              <a:r>
                <a:rPr lang="en-US" dirty="0">
                  <a:solidFill>
                    <a:schemeClr val="tx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False</a:t>
              </a:r>
              <a:endParaRPr lang="en-US" dirty="0">
                <a:solidFill>
                  <a:schemeClr val="tx2">
                    <a:lumMod val="75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8"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8"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bg2"/>
                  </a:solidFill>
                  <a:latin typeface="Arial Black" panose="020B0A04020102020204" pitchFamily="34" charset="0"/>
                  <a:hlinkClick r:id="rId9" action="ppaction://hlinksldjump"/>
                </a:rPr>
                <a:t>Next Point</a:t>
              </a: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sp>
          <p:nvSpPr>
            <p:cNvPr id="30" name="TextBox 29">
              <a:extLst>
                <a:ext uri="{FF2B5EF4-FFF2-40B4-BE49-F238E27FC236}">
                  <a16:creationId xmlns:a16="http://schemas.microsoft.com/office/drawing/2014/main" id="{F4318A39-E583-1186-8EC8-50DBA88957E2}"/>
                </a:ext>
              </a:extLst>
            </p:cNvPr>
            <p:cNvSpPr txBox="1"/>
            <p:nvPr/>
          </p:nvSpPr>
          <p:spPr>
            <a:xfrm>
              <a:off x="9666732" y="657793"/>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4</a:t>
              </a:r>
            </a:p>
          </p:txBody>
        </p:sp>
      </p:grpSp>
      <p:grpSp>
        <p:nvGrpSpPr>
          <p:cNvPr id="31" name="Group 30">
            <a:extLst>
              <a:ext uri="{FF2B5EF4-FFF2-40B4-BE49-F238E27FC236}">
                <a16:creationId xmlns:a16="http://schemas.microsoft.com/office/drawing/2014/main" id="{F5B0F566-7B74-489A-3578-C5515250813D}"/>
              </a:ext>
            </a:extLst>
          </p:cNvPr>
          <p:cNvGrpSpPr/>
          <p:nvPr/>
        </p:nvGrpSpPr>
        <p:grpSpPr>
          <a:xfrm>
            <a:off x="647693" y="10054"/>
            <a:ext cx="3545586" cy="6858000"/>
            <a:chOff x="3052572" y="0"/>
            <a:chExt cx="3545586" cy="6858000"/>
          </a:xfrm>
        </p:grpSpPr>
        <p:sp>
          <p:nvSpPr>
            <p:cNvPr id="32" name="Rectangle 31">
              <a:extLst>
                <a:ext uri="{FF2B5EF4-FFF2-40B4-BE49-F238E27FC236}">
                  <a16:creationId xmlns:a16="http://schemas.microsoft.com/office/drawing/2014/main" id="{B5A1965C-63E8-985D-760B-613756373DB5}"/>
                </a:ext>
              </a:extLst>
            </p:cNvPr>
            <p:cNvSpPr/>
            <p:nvPr/>
          </p:nvSpPr>
          <p:spPr>
            <a:xfrm>
              <a:off x="3052572" y="0"/>
              <a:ext cx="3034284" cy="6858000"/>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FED8D92E-48E1-184C-B0E1-2C1AEEAF2D3D}"/>
                </a:ext>
              </a:extLst>
            </p:cNvPr>
            <p:cNvSpPr txBox="1"/>
            <p:nvPr/>
          </p:nvSpPr>
          <p:spPr>
            <a:xfrm>
              <a:off x="3435096" y="606902"/>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2</a:t>
              </a:r>
            </a:p>
          </p:txBody>
        </p:sp>
        <p:sp>
          <p:nvSpPr>
            <p:cNvPr id="34" name="Isosceles Triangle 33">
              <a:extLst>
                <a:ext uri="{FF2B5EF4-FFF2-40B4-BE49-F238E27FC236}">
                  <a16:creationId xmlns:a16="http://schemas.microsoft.com/office/drawing/2014/main" id="{CFC634EC-217D-013B-6E3F-ABC6A81DFF66}"/>
                </a:ext>
              </a:extLst>
            </p:cNvPr>
            <p:cNvSpPr/>
            <p:nvPr/>
          </p:nvSpPr>
          <p:spPr>
            <a:xfrm rot="5400000">
              <a:off x="5724906" y="921795"/>
              <a:ext cx="1225296" cy="521208"/>
            </a:xfrm>
            <a:prstGeom prst="triangle">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B6B7EE05-DE76-FD22-B00C-47A6C9B66A64}"/>
                </a:ext>
              </a:extLst>
            </p:cNvPr>
            <p:cNvSpPr txBox="1"/>
            <p:nvPr/>
          </p:nvSpPr>
          <p:spPr>
            <a:xfrm>
              <a:off x="3418332" y="2358935"/>
              <a:ext cx="2423160" cy="3693319"/>
            </a:xfrm>
            <a:prstGeom prst="rect">
              <a:avLst/>
            </a:prstGeom>
            <a:noFill/>
          </p:spPr>
          <p:txBody>
            <a:bodyPr wrap="square" rtlCol="0">
              <a:spAutoFit/>
            </a:bodyPr>
            <a:lstStyle/>
            <a:p>
              <a:r>
                <a:rPr lang="en-US" i="1" dirty="0">
                  <a:solidFill>
                    <a:schemeClr val="bg2"/>
                  </a:solidFill>
                </a:rPr>
                <a:t>“AI will replace most jobs in the future.”</a:t>
              </a:r>
              <a:endParaRPr lang="en-US" dirty="0">
                <a:solidFill>
                  <a:schemeClr val="bg2"/>
                </a:solidFill>
              </a:endParaRPr>
            </a:p>
            <a:p>
              <a:endParaRPr lang="en-US" dirty="0">
                <a:solidFill>
                  <a:schemeClr val="bg2">
                    <a:lumMod val="9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endParaRPr>
            </a:p>
            <a:p>
              <a:endParaRPr lang="en-US" dirty="0">
                <a:solidFill>
                  <a:schemeClr val="bg2">
                    <a:lumMod val="9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endParaRPr>
            </a:p>
            <a:p>
              <a:endParaRPr lang="en-US" dirty="0">
                <a:solidFill>
                  <a:schemeClr val="bg2">
                    <a:lumMod val="9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bg2">
                    <a:lumMod val="9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bg2">
                      <a:lumMod val="9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rPr>
                <a:t>True</a:t>
              </a:r>
              <a:endParaRPr lang="en-US" dirty="0">
                <a:solidFill>
                  <a:schemeClr val="bg2">
                    <a:lumMod val="90000"/>
                  </a:schemeClr>
                </a:solidFill>
                <a:latin typeface="Arial Black" panose="020B0A04020102020204" pitchFamily="34" charset="0"/>
              </a:endParaRPr>
            </a:p>
            <a:p>
              <a:pPr marL="342900" indent="-342900">
                <a:buAutoNum type="alphaUcParenR"/>
              </a:pPr>
              <a:r>
                <a:rPr lang="en-US" dirty="0">
                  <a:solidFill>
                    <a:schemeClr val="bg2">
                      <a:lumMod val="9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rPr>
                <a:t>False</a:t>
              </a:r>
              <a:endParaRPr lang="en-US" dirty="0">
                <a:solidFill>
                  <a:schemeClr val="bg2">
                    <a:lumMod val="9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8"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8"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grpSp>
      <p:grpSp>
        <p:nvGrpSpPr>
          <p:cNvPr id="36" name="Group 35">
            <a:extLst>
              <a:ext uri="{FF2B5EF4-FFF2-40B4-BE49-F238E27FC236}">
                <a16:creationId xmlns:a16="http://schemas.microsoft.com/office/drawing/2014/main" id="{0533009C-705F-6EC9-8A4A-CC1C807227C2}"/>
              </a:ext>
            </a:extLst>
          </p:cNvPr>
          <p:cNvGrpSpPr/>
          <p:nvPr/>
        </p:nvGrpSpPr>
        <p:grpSpPr>
          <a:xfrm>
            <a:off x="384368" y="40216"/>
            <a:ext cx="3553968" cy="6858000"/>
            <a:chOff x="0" y="0"/>
            <a:chExt cx="3553968" cy="6858000"/>
          </a:xfrm>
        </p:grpSpPr>
        <p:sp>
          <p:nvSpPr>
            <p:cNvPr id="37" name="Rectangle 36">
              <a:extLst>
                <a:ext uri="{FF2B5EF4-FFF2-40B4-BE49-F238E27FC236}">
                  <a16:creationId xmlns:a16="http://schemas.microsoft.com/office/drawing/2014/main" id="{99452CCE-5B54-836F-C9C3-9414117A2333}"/>
                </a:ext>
              </a:extLst>
            </p:cNvPr>
            <p:cNvSpPr/>
            <p:nvPr/>
          </p:nvSpPr>
          <p:spPr>
            <a:xfrm>
              <a:off x="0" y="0"/>
              <a:ext cx="3052572" cy="68580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7200BF61-3196-7D2A-EAD0-1574FDDC98D6}"/>
                </a:ext>
              </a:extLst>
            </p:cNvPr>
            <p:cNvSpPr txBox="1"/>
            <p:nvPr/>
          </p:nvSpPr>
          <p:spPr>
            <a:xfrm>
              <a:off x="310896" y="694944"/>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1</a:t>
              </a:r>
            </a:p>
          </p:txBody>
        </p:sp>
        <p:sp>
          <p:nvSpPr>
            <p:cNvPr id="39" name="Isosceles Triangle 38">
              <a:extLst>
                <a:ext uri="{FF2B5EF4-FFF2-40B4-BE49-F238E27FC236}">
                  <a16:creationId xmlns:a16="http://schemas.microsoft.com/office/drawing/2014/main" id="{FF39D107-6531-A44A-7000-677195CD60AD}"/>
                </a:ext>
              </a:extLst>
            </p:cNvPr>
            <p:cNvSpPr/>
            <p:nvPr/>
          </p:nvSpPr>
          <p:spPr>
            <a:xfrm rot="5400000">
              <a:off x="2680716" y="958946"/>
              <a:ext cx="1225296" cy="521208"/>
            </a:xfrm>
            <a:prstGeom prst="triangle">
              <a:avLst/>
            </a:prstGeom>
            <a:solidFill>
              <a:srgbClr val="2038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EC8BAB90-87B8-9810-066B-A74422DBDF4B}"/>
                </a:ext>
              </a:extLst>
            </p:cNvPr>
            <p:cNvSpPr txBox="1"/>
            <p:nvPr/>
          </p:nvSpPr>
          <p:spPr>
            <a:xfrm>
              <a:off x="310896" y="2316163"/>
              <a:ext cx="2423160" cy="3693319"/>
            </a:xfrm>
            <a:prstGeom prst="rect">
              <a:avLst/>
            </a:prstGeom>
            <a:noFill/>
          </p:spPr>
          <p:txBody>
            <a:bodyPr wrap="square" rtlCol="0">
              <a:spAutoFit/>
            </a:bodyPr>
            <a:lstStyle/>
            <a:p>
              <a:r>
                <a:rPr lang="en-US" i="1" dirty="0">
                  <a:solidFill>
                    <a:schemeClr val="bg2"/>
                  </a:solidFill>
                </a:rPr>
                <a:t>“AI is mostly only useful for generating text in tools like ChatGPT or Gemini.” </a:t>
              </a:r>
              <a:endParaRPr lang="en-US" dirty="0">
                <a:solidFill>
                  <a:schemeClr val="bg2"/>
                </a:solidFill>
              </a:endParaRPr>
            </a:p>
            <a:p>
              <a:endParaRPr lang="en-US" dirty="0">
                <a:solidFill>
                  <a:schemeClr val="bg2">
                    <a:lumMod val="90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bg2">
                    <a:lumMod val="90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bg2">
                      <a:lumMod val="90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rPr>
                <a:t>True</a:t>
              </a:r>
              <a:endParaRPr lang="en-US" dirty="0">
                <a:solidFill>
                  <a:schemeClr val="bg2">
                    <a:lumMod val="90000"/>
                  </a:schemeClr>
                </a:solidFill>
                <a:latin typeface="Arial Black" panose="020B0A04020102020204" pitchFamily="34" charset="0"/>
              </a:endParaRPr>
            </a:p>
            <a:p>
              <a:pPr marL="342900" indent="-342900">
                <a:buAutoNum type="alphaUcParenR"/>
              </a:pPr>
              <a:r>
                <a:rPr lang="en-US" dirty="0">
                  <a:solidFill>
                    <a:schemeClr val="bg2">
                      <a:lumMod val="90000"/>
                    </a:schemeClr>
                  </a:solidFill>
                  <a:latin typeface="Arial Black" panose="020B0A04020102020204" pitchFamily="34" charset="0"/>
                  <a:hlinkClick r:id="rId13" action="ppaction://hlinksldjump">
                    <a:extLst>
                      <a:ext uri="{A12FA001-AC4F-418D-AE19-62706E023703}">
                        <ahyp:hlinkClr xmlns:ahyp="http://schemas.microsoft.com/office/drawing/2018/hyperlinkcolor" val="tx"/>
                      </a:ext>
                    </a:extLst>
                  </a:hlinkClick>
                </a:rPr>
                <a:t>False</a:t>
              </a:r>
              <a:endParaRPr lang="en-US" dirty="0">
                <a:solidFill>
                  <a:schemeClr val="bg2">
                    <a:lumMod val="9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8"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8"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grpSp>
      <p:grpSp>
        <p:nvGrpSpPr>
          <p:cNvPr id="41" name="Group 40">
            <a:extLst>
              <a:ext uri="{FF2B5EF4-FFF2-40B4-BE49-F238E27FC236}">
                <a16:creationId xmlns:a16="http://schemas.microsoft.com/office/drawing/2014/main" id="{1D4A44DC-7A6E-C998-6675-355D1C41C266}"/>
              </a:ext>
            </a:extLst>
          </p:cNvPr>
          <p:cNvGrpSpPr/>
          <p:nvPr/>
        </p:nvGrpSpPr>
        <p:grpSpPr>
          <a:xfrm>
            <a:off x="-112028" y="-20108"/>
            <a:ext cx="3644646" cy="6858000"/>
            <a:chOff x="6081522" y="0"/>
            <a:chExt cx="3644646" cy="6858000"/>
          </a:xfrm>
        </p:grpSpPr>
        <p:sp>
          <p:nvSpPr>
            <p:cNvPr id="42" name="Rectangle 41">
              <a:extLst>
                <a:ext uri="{FF2B5EF4-FFF2-40B4-BE49-F238E27FC236}">
                  <a16:creationId xmlns:a16="http://schemas.microsoft.com/office/drawing/2014/main" id="{ABEA5021-F52B-E2A1-10F4-28261E41BEFD}"/>
                </a:ext>
              </a:extLst>
            </p:cNvPr>
            <p:cNvSpPr/>
            <p:nvPr/>
          </p:nvSpPr>
          <p:spPr>
            <a:xfrm>
              <a:off x="6081522" y="0"/>
              <a:ext cx="3176016" cy="685800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Isosceles Triangle 42">
              <a:extLst>
                <a:ext uri="{FF2B5EF4-FFF2-40B4-BE49-F238E27FC236}">
                  <a16:creationId xmlns:a16="http://schemas.microsoft.com/office/drawing/2014/main" id="{4A4E8D97-4DDC-F61B-E78F-16344AC42171}"/>
                </a:ext>
              </a:extLst>
            </p:cNvPr>
            <p:cNvSpPr/>
            <p:nvPr/>
          </p:nvSpPr>
          <p:spPr>
            <a:xfrm rot="5400000">
              <a:off x="8852916" y="932850"/>
              <a:ext cx="1225296" cy="521208"/>
            </a:xfrm>
            <a:prstGeom prst="triangle">
              <a:avLst/>
            </a:prstGeom>
            <a:solidFill>
              <a:srgbClr val="8FAA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415397C8-B143-22ED-E2A0-3788EF018E10}"/>
                </a:ext>
              </a:extLst>
            </p:cNvPr>
            <p:cNvSpPr txBox="1"/>
            <p:nvPr/>
          </p:nvSpPr>
          <p:spPr>
            <a:xfrm>
              <a:off x="6472428" y="569751"/>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3</a:t>
              </a:r>
            </a:p>
          </p:txBody>
        </p:sp>
        <p:sp>
          <p:nvSpPr>
            <p:cNvPr id="45" name="TextBox 44">
              <a:extLst>
                <a:ext uri="{FF2B5EF4-FFF2-40B4-BE49-F238E27FC236}">
                  <a16:creationId xmlns:a16="http://schemas.microsoft.com/office/drawing/2014/main" id="{B873D91C-99A7-94EA-50F4-C2A24F060AE8}"/>
                </a:ext>
              </a:extLst>
            </p:cNvPr>
            <p:cNvSpPr txBox="1"/>
            <p:nvPr/>
          </p:nvSpPr>
          <p:spPr>
            <a:xfrm>
              <a:off x="6619494" y="2316163"/>
              <a:ext cx="2423160" cy="3693319"/>
            </a:xfrm>
            <a:prstGeom prst="rect">
              <a:avLst/>
            </a:prstGeom>
            <a:noFill/>
          </p:spPr>
          <p:txBody>
            <a:bodyPr wrap="square" rtlCol="0">
              <a:spAutoFit/>
            </a:bodyPr>
            <a:lstStyle/>
            <a:p>
              <a:r>
                <a:rPr lang="en-US" i="1" dirty="0"/>
                <a:t>“AI-generated content (text, images, code) is now indistinguishable from human-created work.”</a:t>
              </a:r>
              <a:endParaRPr lang="en-US" dirty="0">
                <a:latin typeface="Arial Black" panose="020B0A04020102020204" pitchFamily="34" charset="0"/>
                <a:hlinkClick r:id="rId14"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accent1">
                    <a:lumMod val="50000"/>
                  </a:schemeClr>
                </a:solidFill>
                <a:latin typeface="Arial Black" panose="020B0A04020102020204" pitchFamily="34" charset="0"/>
                <a:hlinkClick r:id="rId14"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accent1">
                      <a:lumMod val="50000"/>
                    </a:schemeClr>
                  </a:solidFill>
                  <a:latin typeface="Arial Black" panose="020B0A04020102020204" pitchFamily="34" charset="0"/>
                  <a:hlinkClick r:id="rId14" action="ppaction://hlinksldjump">
                    <a:extLst>
                      <a:ext uri="{A12FA001-AC4F-418D-AE19-62706E023703}">
                        <ahyp:hlinkClr xmlns:ahyp="http://schemas.microsoft.com/office/drawing/2018/hyperlinkcolor" val="tx"/>
                      </a:ext>
                    </a:extLst>
                  </a:hlinkClick>
                </a:rPr>
                <a:t>True</a:t>
              </a:r>
              <a:endParaRPr lang="en-US" dirty="0">
                <a:solidFill>
                  <a:schemeClr val="accent1">
                    <a:lumMod val="50000"/>
                  </a:schemeClr>
                </a:solidFill>
                <a:latin typeface="Arial Black" panose="020B0A04020102020204" pitchFamily="34" charset="0"/>
              </a:endParaRPr>
            </a:p>
            <a:p>
              <a:pPr marL="342900" indent="-342900">
                <a:buAutoNum type="alphaUcParenR"/>
              </a:pPr>
              <a:r>
                <a:rPr lang="en-US" dirty="0">
                  <a:solidFill>
                    <a:schemeClr val="accent1">
                      <a:lumMod val="50000"/>
                    </a:schemeClr>
                  </a:solidFill>
                  <a:latin typeface="Arial Black" panose="020B0A04020102020204" pitchFamily="34" charset="0"/>
                  <a:hlinkClick r:id="rId15" action="ppaction://hlinksldjump">
                    <a:extLst>
                      <a:ext uri="{A12FA001-AC4F-418D-AE19-62706E023703}">
                        <ahyp:hlinkClr xmlns:ahyp="http://schemas.microsoft.com/office/drawing/2018/hyperlinkcolor" val="tx"/>
                      </a:ext>
                    </a:extLst>
                  </a:hlinkClick>
                </a:rPr>
                <a:t>False</a:t>
              </a:r>
              <a:endParaRPr lang="en-US" dirty="0">
                <a:solidFill>
                  <a:schemeClr val="accent1">
                    <a:lumMod val="5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8"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8"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p>
          </p:txBody>
        </p:sp>
      </p:grpSp>
      <p:pic>
        <p:nvPicPr>
          <p:cNvPr id="4" name="Picture 3" descr="Business Man Suit Images – Browse 6,210,103 Stock Photos, Vectors, and  Video | Adobe Stock">
            <a:extLst>
              <a:ext uri="{FF2B5EF4-FFF2-40B4-BE49-F238E27FC236}">
                <a16:creationId xmlns:a16="http://schemas.microsoft.com/office/drawing/2014/main" id="{CF2A2D3B-BB8A-30CE-D809-37D37BBA140F}"/>
              </a:ext>
            </a:extLst>
          </p:cNvPr>
          <p:cNvPicPr>
            <a:picLocks noChangeAspect="1"/>
          </p:cNvPicPr>
          <p:nvPr/>
        </p:nvPicPr>
        <p:blipFill>
          <a:blip r:embed="rId5"/>
          <a:stretch>
            <a:fillRect/>
          </a:stretch>
        </p:blipFill>
        <p:spPr>
          <a:xfrm>
            <a:off x="6987186" y="2296055"/>
            <a:ext cx="5204814" cy="3469875"/>
          </a:xfrm>
          <a:prstGeom prst="rect">
            <a:avLst/>
          </a:prstGeom>
          <a:ln>
            <a:noFill/>
          </a:ln>
          <a:effectLst>
            <a:softEdge rad="112500"/>
          </a:effectLst>
        </p:spPr>
      </p:pic>
      <p:pic>
        <p:nvPicPr>
          <p:cNvPr id="7" name="Picture 6">
            <a:extLst>
              <a:ext uri="{FF2B5EF4-FFF2-40B4-BE49-F238E27FC236}">
                <a16:creationId xmlns:a16="http://schemas.microsoft.com/office/drawing/2014/main" id="{3EC8D7CB-9E56-2A99-81ED-FDC1DD3D147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099737" y="2153058"/>
            <a:ext cx="2804381" cy="3755867"/>
          </a:xfrm>
          <a:prstGeom prst="rect">
            <a:avLst/>
          </a:prstGeom>
          <a:ln>
            <a:noFill/>
          </a:ln>
          <a:effectLst>
            <a:softEdge rad="112500"/>
          </a:effectLst>
        </p:spPr>
      </p:pic>
    </p:spTree>
    <p:extLst>
      <p:ext uri="{BB962C8B-B14F-4D97-AF65-F5344CB8AC3E}">
        <p14:creationId xmlns:p14="http://schemas.microsoft.com/office/powerpoint/2010/main" val="16955599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AFD3B-A955-BDF3-B8B3-C5F36328B73C}"/>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233E15AE-A916-D439-0929-29A5266B1B21}"/>
              </a:ext>
            </a:extLst>
          </p:cNvPr>
          <p:cNvSpPr txBox="1"/>
          <p:nvPr/>
        </p:nvSpPr>
        <p:spPr>
          <a:xfrm>
            <a:off x="5146766" y="606902"/>
            <a:ext cx="5995851" cy="7232749"/>
          </a:xfrm>
          <a:prstGeom prst="rect">
            <a:avLst/>
          </a:prstGeom>
          <a:noFill/>
        </p:spPr>
        <p:txBody>
          <a:bodyPr wrap="square" rtlCol="0">
            <a:spAutoFit/>
          </a:bodyPr>
          <a:lstStyle/>
          <a:p>
            <a:r>
              <a:rPr lang="en-US" sz="3200" dirty="0">
                <a:latin typeface="Arial Black" panose="020B0A04020102020204" pitchFamily="34" charset="0"/>
              </a:rPr>
              <a:t>This is a misconception</a:t>
            </a:r>
          </a:p>
          <a:p>
            <a:endParaRPr lang="en-US" dirty="0"/>
          </a:p>
          <a:p>
            <a:pPr marL="285750" indent="-285750">
              <a:buFont typeface="Arial" panose="020B0604020202020204" pitchFamily="34" charset="0"/>
              <a:buChar char="•"/>
            </a:pPr>
            <a:r>
              <a:rPr lang="en-US" dirty="0"/>
              <a:t>Even we don’t know all of how our brain works that’s why we call our brains “black boxes”.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AI does not think or understand the way humans do.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you were to ask ChatGPT, “Are you similar to the human brain?” it will convert your text into numbers, processing, and finding the statistical best answer.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r>
              <a:rPr lang="en-US" dirty="0"/>
              <a:t>*</a:t>
            </a:r>
            <a:r>
              <a:rPr lang="en-US" i="1" dirty="0"/>
              <a:t>From </a:t>
            </a:r>
            <a:r>
              <a:rPr lang="en-US" i="1" dirty="0">
                <a:hlinkClick r:id="rId3"/>
              </a:rPr>
              <a:t>Quanta Magazine</a:t>
            </a:r>
            <a:r>
              <a:rPr lang="en-US" i="1" dirty="0"/>
              <a:t>, “AI is nothing like the brain, and that’s Ok”</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3" name="Picture 2" descr="File:Google Favicon 2025.svg - Wikimedia Commons">
            <a:extLst>
              <a:ext uri="{FF2B5EF4-FFF2-40B4-BE49-F238E27FC236}">
                <a16:creationId xmlns:a16="http://schemas.microsoft.com/office/drawing/2014/main" id="{0EA9DC97-37EC-8399-FFA2-73E60FD83F61}"/>
              </a:ext>
            </a:extLst>
          </p:cNvPr>
          <p:cNvPicPr>
            <a:picLocks noChangeAspect="1"/>
          </p:cNvPicPr>
          <p:nvPr/>
        </p:nvPicPr>
        <p:blipFill>
          <a:blip r:embed="rId4"/>
          <a:stretch>
            <a:fillRect/>
          </a:stretch>
        </p:blipFill>
        <p:spPr>
          <a:xfrm>
            <a:off x="5762972" y="-851005"/>
            <a:ext cx="666055" cy="682040"/>
          </a:xfrm>
          <a:prstGeom prst="rect">
            <a:avLst/>
          </a:prstGeom>
          <a:effectLst>
            <a:outerShdw blurRad="50800" dist="38100" dir="5400000" algn="t" rotWithShape="0">
              <a:prstClr val="black">
                <a:alpha val="40000"/>
              </a:prstClr>
            </a:outerShdw>
          </a:effectLst>
        </p:spPr>
      </p:pic>
      <p:grpSp>
        <p:nvGrpSpPr>
          <p:cNvPr id="29" name="Group 28">
            <a:extLst>
              <a:ext uri="{FF2B5EF4-FFF2-40B4-BE49-F238E27FC236}">
                <a16:creationId xmlns:a16="http://schemas.microsoft.com/office/drawing/2014/main" id="{7C7CC152-3BD9-E2C3-76CA-485C5D8DD813}"/>
              </a:ext>
            </a:extLst>
          </p:cNvPr>
          <p:cNvGrpSpPr/>
          <p:nvPr/>
        </p:nvGrpSpPr>
        <p:grpSpPr>
          <a:xfrm>
            <a:off x="1060989" y="0"/>
            <a:ext cx="3545586" cy="6858000"/>
            <a:chOff x="3052572" y="0"/>
            <a:chExt cx="3545586" cy="6858000"/>
          </a:xfrm>
        </p:grpSpPr>
        <p:sp>
          <p:nvSpPr>
            <p:cNvPr id="30" name="Rectangle 29">
              <a:extLst>
                <a:ext uri="{FF2B5EF4-FFF2-40B4-BE49-F238E27FC236}">
                  <a16:creationId xmlns:a16="http://schemas.microsoft.com/office/drawing/2014/main" id="{67E6110E-1415-0420-22E4-CA135069EDA1}"/>
                </a:ext>
              </a:extLst>
            </p:cNvPr>
            <p:cNvSpPr/>
            <p:nvPr/>
          </p:nvSpPr>
          <p:spPr>
            <a:xfrm>
              <a:off x="3052572" y="0"/>
              <a:ext cx="3034284" cy="6858000"/>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AA129E90-6E8C-08EC-5A58-51B2D3C1D4CA}"/>
                </a:ext>
              </a:extLst>
            </p:cNvPr>
            <p:cNvSpPr txBox="1"/>
            <p:nvPr/>
          </p:nvSpPr>
          <p:spPr>
            <a:xfrm>
              <a:off x="3435096" y="606902"/>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2</a:t>
              </a:r>
            </a:p>
          </p:txBody>
        </p:sp>
        <p:sp>
          <p:nvSpPr>
            <p:cNvPr id="32" name="Isosceles Triangle 31">
              <a:extLst>
                <a:ext uri="{FF2B5EF4-FFF2-40B4-BE49-F238E27FC236}">
                  <a16:creationId xmlns:a16="http://schemas.microsoft.com/office/drawing/2014/main" id="{32241381-7249-9EA3-8DC7-F18BD15B10EF}"/>
                </a:ext>
              </a:extLst>
            </p:cNvPr>
            <p:cNvSpPr/>
            <p:nvPr/>
          </p:nvSpPr>
          <p:spPr>
            <a:xfrm rot="5400000">
              <a:off x="5724906" y="921795"/>
              <a:ext cx="1225296" cy="521208"/>
            </a:xfrm>
            <a:prstGeom prst="triangle">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87E05119-692D-C294-3286-3667F49ECE23}"/>
                </a:ext>
              </a:extLst>
            </p:cNvPr>
            <p:cNvSpPr txBox="1"/>
            <p:nvPr/>
          </p:nvSpPr>
          <p:spPr>
            <a:xfrm>
              <a:off x="3418332" y="2358935"/>
              <a:ext cx="2423160" cy="3693319"/>
            </a:xfrm>
            <a:prstGeom prst="rect">
              <a:avLst/>
            </a:prstGeom>
            <a:noFill/>
          </p:spPr>
          <p:txBody>
            <a:bodyPr wrap="square" rtlCol="0">
              <a:spAutoFit/>
            </a:bodyPr>
            <a:lstStyle/>
            <a:p>
              <a:r>
                <a:rPr lang="en-US" i="1" dirty="0">
                  <a:solidFill>
                    <a:schemeClr val="bg2"/>
                  </a:solidFill>
                </a:rPr>
                <a:t>“AI will replace most jobs in the future.”</a:t>
              </a:r>
              <a:endParaRPr lang="en-US" dirty="0">
                <a:solidFill>
                  <a:schemeClr val="bg2"/>
                </a:solidFill>
              </a:endParaRPr>
            </a:p>
            <a:p>
              <a:endParaRPr lang="en-US" dirty="0">
                <a:solidFill>
                  <a:schemeClr val="bg2">
                    <a:lumMod val="90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endParaRPr lang="en-US" dirty="0">
                <a:solidFill>
                  <a:schemeClr val="bg2">
                    <a:lumMod val="90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endParaRPr lang="en-US" dirty="0">
                <a:solidFill>
                  <a:schemeClr val="bg2">
                    <a:lumMod val="90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bg2">
                    <a:lumMod val="90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bg2">
                      <a:lumMod val="90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True</a:t>
              </a:r>
              <a:endParaRPr lang="en-US" dirty="0">
                <a:solidFill>
                  <a:schemeClr val="bg2">
                    <a:lumMod val="90000"/>
                  </a:schemeClr>
                </a:solidFill>
                <a:latin typeface="Arial Black" panose="020B0A04020102020204" pitchFamily="34" charset="0"/>
              </a:endParaRPr>
            </a:p>
            <a:p>
              <a:pPr marL="342900" indent="-342900">
                <a:buAutoNum type="alphaUcParenR"/>
              </a:pPr>
              <a:r>
                <a:rPr lang="en-US" dirty="0">
                  <a:solidFill>
                    <a:schemeClr val="bg2">
                      <a:lumMod val="90000"/>
                    </a:schemeClr>
                  </a:solidFill>
                  <a:latin typeface="Arial Black" panose="020B0A04020102020204" pitchFamily="34" charset="0"/>
                  <a:hlinkClick r:id="rId6" action="ppaction://hlinksldjump">
                    <a:extLst>
                      <a:ext uri="{A12FA001-AC4F-418D-AE19-62706E023703}">
                        <ahyp:hlinkClr xmlns:ahyp="http://schemas.microsoft.com/office/drawing/2018/hyperlinkcolor" val="tx"/>
                      </a:ext>
                    </a:extLst>
                  </a:hlinkClick>
                </a:rPr>
                <a:t>False</a:t>
              </a:r>
              <a:endParaRPr lang="en-US" dirty="0">
                <a:solidFill>
                  <a:schemeClr val="bg2">
                    <a:lumMod val="9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grpSp>
      <p:grpSp>
        <p:nvGrpSpPr>
          <p:cNvPr id="34" name="Group 33">
            <a:extLst>
              <a:ext uri="{FF2B5EF4-FFF2-40B4-BE49-F238E27FC236}">
                <a16:creationId xmlns:a16="http://schemas.microsoft.com/office/drawing/2014/main" id="{101F099C-AFCF-2A8B-DA34-1E0465AFA67D}"/>
              </a:ext>
            </a:extLst>
          </p:cNvPr>
          <p:cNvGrpSpPr/>
          <p:nvPr/>
        </p:nvGrpSpPr>
        <p:grpSpPr>
          <a:xfrm>
            <a:off x="780858" y="0"/>
            <a:ext cx="3553968" cy="6858000"/>
            <a:chOff x="0" y="0"/>
            <a:chExt cx="3553968" cy="6858000"/>
          </a:xfrm>
        </p:grpSpPr>
        <p:sp>
          <p:nvSpPr>
            <p:cNvPr id="35" name="Rectangle 34">
              <a:extLst>
                <a:ext uri="{FF2B5EF4-FFF2-40B4-BE49-F238E27FC236}">
                  <a16:creationId xmlns:a16="http://schemas.microsoft.com/office/drawing/2014/main" id="{3324B6A9-48EC-9BD1-DB5F-1B0D731BFB9E}"/>
                </a:ext>
              </a:extLst>
            </p:cNvPr>
            <p:cNvSpPr/>
            <p:nvPr/>
          </p:nvSpPr>
          <p:spPr>
            <a:xfrm>
              <a:off x="0" y="0"/>
              <a:ext cx="3052572" cy="68580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a:extLst>
                <a:ext uri="{FF2B5EF4-FFF2-40B4-BE49-F238E27FC236}">
                  <a16:creationId xmlns:a16="http://schemas.microsoft.com/office/drawing/2014/main" id="{83B94175-B756-A1FC-F5D9-D9FA2589D1A9}"/>
                </a:ext>
              </a:extLst>
            </p:cNvPr>
            <p:cNvSpPr txBox="1"/>
            <p:nvPr/>
          </p:nvSpPr>
          <p:spPr>
            <a:xfrm>
              <a:off x="310896" y="694944"/>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1</a:t>
              </a:r>
            </a:p>
          </p:txBody>
        </p:sp>
        <p:sp>
          <p:nvSpPr>
            <p:cNvPr id="37" name="Isosceles Triangle 36">
              <a:extLst>
                <a:ext uri="{FF2B5EF4-FFF2-40B4-BE49-F238E27FC236}">
                  <a16:creationId xmlns:a16="http://schemas.microsoft.com/office/drawing/2014/main" id="{0579D76F-7216-E044-A955-376F86DF669E}"/>
                </a:ext>
              </a:extLst>
            </p:cNvPr>
            <p:cNvSpPr/>
            <p:nvPr/>
          </p:nvSpPr>
          <p:spPr>
            <a:xfrm rot="5400000">
              <a:off x="2680716" y="958946"/>
              <a:ext cx="1225296" cy="521208"/>
            </a:xfrm>
            <a:prstGeom prst="triangle">
              <a:avLst/>
            </a:prstGeom>
            <a:solidFill>
              <a:srgbClr val="2038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868F7EF5-D87A-38F3-DE86-2808B067CAB2}"/>
                </a:ext>
              </a:extLst>
            </p:cNvPr>
            <p:cNvSpPr txBox="1"/>
            <p:nvPr/>
          </p:nvSpPr>
          <p:spPr>
            <a:xfrm>
              <a:off x="310896" y="2316163"/>
              <a:ext cx="2423160" cy="3693319"/>
            </a:xfrm>
            <a:prstGeom prst="rect">
              <a:avLst/>
            </a:prstGeom>
            <a:noFill/>
          </p:spPr>
          <p:txBody>
            <a:bodyPr wrap="square" rtlCol="0">
              <a:spAutoFit/>
            </a:bodyPr>
            <a:lstStyle/>
            <a:p>
              <a:r>
                <a:rPr lang="en-US" i="1" dirty="0">
                  <a:solidFill>
                    <a:schemeClr val="bg2"/>
                  </a:solidFill>
                </a:rPr>
                <a:t>“AI is mostly only useful for generating text in tools like ChatGPT or Gemini.” </a:t>
              </a:r>
              <a:endParaRPr lang="en-US" dirty="0">
                <a:solidFill>
                  <a:schemeClr val="bg2"/>
                </a:solidFill>
              </a:endParaRPr>
            </a:p>
            <a:p>
              <a:endParaRPr lang="en-US" dirty="0">
                <a:solidFill>
                  <a:schemeClr val="bg2">
                    <a:lumMod val="90000"/>
                  </a:schemeClr>
                </a:solidFill>
                <a:latin typeface="Arial Black" panose="020B0A04020102020204" pitchFamily="34" charset="0"/>
                <a:hlinkClick r:id="rId8"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bg2">
                    <a:lumMod val="90000"/>
                  </a:schemeClr>
                </a:solidFill>
                <a:latin typeface="Arial Black" panose="020B0A04020102020204" pitchFamily="34" charset="0"/>
                <a:hlinkClick r:id="rId8"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bg2">
                      <a:lumMod val="90000"/>
                    </a:schemeClr>
                  </a:solidFill>
                  <a:latin typeface="Arial Black" panose="020B0A04020102020204" pitchFamily="34" charset="0"/>
                  <a:hlinkClick r:id="rId8" action="ppaction://hlinksldjump">
                    <a:extLst>
                      <a:ext uri="{A12FA001-AC4F-418D-AE19-62706E023703}">
                        <ahyp:hlinkClr xmlns:ahyp="http://schemas.microsoft.com/office/drawing/2018/hyperlinkcolor" val="tx"/>
                      </a:ext>
                    </a:extLst>
                  </a:hlinkClick>
                </a:rPr>
                <a:t>True</a:t>
              </a:r>
              <a:endParaRPr lang="en-US" dirty="0">
                <a:solidFill>
                  <a:schemeClr val="bg2">
                    <a:lumMod val="90000"/>
                  </a:schemeClr>
                </a:solidFill>
                <a:latin typeface="Arial Black" panose="020B0A04020102020204" pitchFamily="34" charset="0"/>
              </a:endParaRPr>
            </a:p>
            <a:p>
              <a:pPr marL="342900" indent="-342900">
                <a:buAutoNum type="alphaUcParenR"/>
              </a:pPr>
              <a:r>
                <a:rPr lang="en-US" dirty="0">
                  <a:solidFill>
                    <a:schemeClr val="bg2">
                      <a:lumMod val="9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rPr>
                <a:t>False</a:t>
              </a:r>
              <a:endParaRPr lang="en-US" dirty="0">
                <a:solidFill>
                  <a:schemeClr val="bg2">
                    <a:lumMod val="9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grpSp>
      <p:grpSp>
        <p:nvGrpSpPr>
          <p:cNvPr id="39" name="Group 38">
            <a:extLst>
              <a:ext uri="{FF2B5EF4-FFF2-40B4-BE49-F238E27FC236}">
                <a16:creationId xmlns:a16="http://schemas.microsoft.com/office/drawing/2014/main" id="{9EBE5C64-4193-3CAD-9C8D-49DDB242F190}"/>
              </a:ext>
            </a:extLst>
          </p:cNvPr>
          <p:cNvGrpSpPr/>
          <p:nvPr/>
        </p:nvGrpSpPr>
        <p:grpSpPr>
          <a:xfrm>
            <a:off x="188784" y="0"/>
            <a:ext cx="3644646" cy="6858000"/>
            <a:chOff x="6081522" y="0"/>
            <a:chExt cx="3644646" cy="6858000"/>
          </a:xfrm>
        </p:grpSpPr>
        <p:sp>
          <p:nvSpPr>
            <p:cNvPr id="40" name="Rectangle 39">
              <a:extLst>
                <a:ext uri="{FF2B5EF4-FFF2-40B4-BE49-F238E27FC236}">
                  <a16:creationId xmlns:a16="http://schemas.microsoft.com/office/drawing/2014/main" id="{D29F0FC0-E293-132F-32FC-BC11C5D2CB78}"/>
                </a:ext>
              </a:extLst>
            </p:cNvPr>
            <p:cNvSpPr/>
            <p:nvPr/>
          </p:nvSpPr>
          <p:spPr>
            <a:xfrm>
              <a:off x="6081522" y="0"/>
              <a:ext cx="3176016" cy="685800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Isosceles Triangle 40">
              <a:extLst>
                <a:ext uri="{FF2B5EF4-FFF2-40B4-BE49-F238E27FC236}">
                  <a16:creationId xmlns:a16="http://schemas.microsoft.com/office/drawing/2014/main" id="{A701DA08-49ED-2AF1-D292-D1DF0AB5F34A}"/>
                </a:ext>
              </a:extLst>
            </p:cNvPr>
            <p:cNvSpPr/>
            <p:nvPr/>
          </p:nvSpPr>
          <p:spPr>
            <a:xfrm rot="5400000">
              <a:off x="8852916" y="932850"/>
              <a:ext cx="1225296" cy="521208"/>
            </a:xfrm>
            <a:prstGeom prst="triangle">
              <a:avLst/>
            </a:prstGeom>
            <a:solidFill>
              <a:srgbClr val="8FAA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10327E7E-1226-3BE7-08FB-6F0420652AB3}"/>
                </a:ext>
              </a:extLst>
            </p:cNvPr>
            <p:cNvSpPr txBox="1"/>
            <p:nvPr/>
          </p:nvSpPr>
          <p:spPr>
            <a:xfrm>
              <a:off x="6472428" y="569751"/>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3</a:t>
              </a:r>
            </a:p>
          </p:txBody>
        </p:sp>
        <p:sp>
          <p:nvSpPr>
            <p:cNvPr id="43" name="TextBox 42">
              <a:extLst>
                <a:ext uri="{FF2B5EF4-FFF2-40B4-BE49-F238E27FC236}">
                  <a16:creationId xmlns:a16="http://schemas.microsoft.com/office/drawing/2014/main" id="{8AF84153-AC15-75E6-18A8-224D17B2BEF3}"/>
                </a:ext>
              </a:extLst>
            </p:cNvPr>
            <p:cNvSpPr txBox="1"/>
            <p:nvPr/>
          </p:nvSpPr>
          <p:spPr>
            <a:xfrm>
              <a:off x="6619494" y="2316163"/>
              <a:ext cx="2423160" cy="3693319"/>
            </a:xfrm>
            <a:prstGeom prst="rect">
              <a:avLst/>
            </a:prstGeom>
            <a:noFill/>
          </p:spPr>
          <p:txBody>
            <a:bodyPr wrap="square" rtlCol="0">
              <a:spAutoFit/>
            </a:bodyPr>
            <a:lstStyle/>
            <a:p>
              <a:r>
                <a:rPr lang="en-US" i="1" dirty="0">
                  <a:solidFill>
                    <a:schemeClr val="tx2"/>
                  </a:solidFill>
                </a:rPr>
                <a:t>“AI-generated content (text, images, code) is now indistinguishable from human-created work.”</a:t>
              </a:r>
              <a:endParaRPr lang="en-US" dirty="0">
                <a:solidFill>
                  <a:schemeClr val="accent1">
                    <a:lumMod val="5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accent1">
                    <a:lumMod val="5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accent1">
                      <a:lumMod val="5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rPr>
                <a:t>True</a:t>
              </a:r>
              <a:endParaRPr lang="en-US" dirty="0">
                <a:solidFill>
                  <a:schemeClr val="accent1">
                    <a:lumMod val="50000"/>
                  </a:schemeClr>
                </a:solidFill>
                <a:latin typeface="Arial Black" panose="020B0A04020102020204" pitchFamily="34" charset="0"/>
              </a:endParaRPr>
            </a:p>
            <a:p>
              <a:pPr marL="342900" indent="-342900">
                <a:buAutoNum type="alphaUcParenR"/>
              </a:pPr>
              <a:r>
                <a:rPr lang="en-US" dirty="0">
                  <a:solidFill>
                    <a:schemeClr val="accent1">
                      <a:lumMod val="5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rPr>
                <a:t>False</a:t>
              </a:r>
              <a:endParaRPr lang="en-US" dirty="0">
                <a:solidFill>
                  <a:schemeClr val="accent1">
                    <a:lumMod val="5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p>
          </p:txBody>
        </p:sp>
      </p:grpSp>
      <p:grpSp>
        <p:nvGrpSpPr>
          <p:cNvPr id="24" name="Group 23">
            <a:extLst>
              <a:ext uri="{FF2B5EF4-FFF2-40B4-BE49-F238E27FC236}">
                <a16:creationId xmlns:a16="http://schemas.microsoft.com/office/drawing/2014/main" id="{D6F22ACB-3E5F-16F3-29FB-BC0E7B02A21F}"/>
              </a:ext>
            </a:extLst>
          </p:cNvPr>
          <p:cNvGrpSpPr/>
          <p:nvPr/>
        </p:nvGrpSpPr>
        <p:grpSpPr>
          <a:xfrm>
            <a:off x="-96108" y="0"/>
            <a:ext cx="3508248" cy="6860586"/>
            <a:chOff x="9204960" y="0"/>
            <a:chExt cx="3508248" cy="6860586"/>
          </a:xfrm>
        </p:grpSpPr>
        <p:sp>
          <p:nvSpPr>
            <p:cNvPr id="25" name="Rectangle 24">
              <a:extLst>
                <a:ext uri="{FF2B5EF4-FFF2-40B4-BE49-F238E27FC236}">
                  <a16:creationId xmlns:a16="http://schemas.microsoft.com/office/drawing/2014/main" id="{B1D39F6D-89DB-824E-F978-94A3EC4B6A5B}"/>
                </a:ext>
              </a:extLst>
            </p:cNvPr>
            <p:cNvSpPr/>
            <p:nvPr/>
          </p:nvSpPr>
          <p:spPr>
            <a:xfrm>
              <a:off x="9204960" y="0"/>
              <a:ext cx="2987040" cy="68580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Isosceles Triangle 25">
              <a:extLst>
                <a:ext uri="{FF2B5EF4-FFF2-40B4-BE49-F238E27FC236}">
                  <a16:creationId xmlns:a16="http://schemas.microsoft.com/office/drawing/2014/main" id="{092092DA-B440-DD7E-83AA-0D5476239F8E}"/>
                </a:ext>
              </a:extLst>
            </p:cNvPr>
            <p:cNvSpPr/>
            <p:nvPr/>
          </p:nvSpPr>
          <p:spPr>
            <a:xfrm rot="5400000">
              <a:off x="11839956" y="941994"/>
              <a:ext cx="1225296" cy="521208"/>
            </a:xfrm>
            <a:prstGeom prst="triangle">
              <a:avLst/>
            </a:prstGeom>
            <a:solidFill>
              <a:srgbClr val="B4C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A195118D-2C38-3EAA-0167-9D690F1F6933}"/>
                </a:ext>
              </a:extLst>
            </p:cNvPr>
            <p:cNvSpPr txBox="1"/>
            <p:nvPr/>
          </p:nvSpPr>
          <p:spPr>
            <a:xfrm>
              <a:off x="9604248" y="2336271"/>
              <a:ext cx="2423160" cy="4524315"/>
            </a:xfrm>
            <a:prstGeom prst="rect">
              <a:avLst/>
            </a:prstGeom>
            <a:noFill/>
          </p:spPr>
          <p:txBody>
            <a:bodyPr wrap="square" rtlCol="0">
              <a:spAutoFit/>
            </a:bodyPr>
            <a:lstStyle/>
            <a:p>
              <a:r>
                <a:rPr lang="en-US" i="1" dirty="0">
                  <a:solidFill>
                    <a:schemeClr val="accent1"/>
                  </a:solidFill>
                </a:rPr>
                <a:t>“AI is working like a human brain.”</a:t>
              </a:r>
            </a:p>
            <a:p>
              <a:endParaRPr lang="en-US" dirty="0">
                <a:solidFill>
                  <a:schemeClr val="tx2">
                    <a:lumMod val="75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tx2">
                      <a:lumMod val="75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rPr>
                <a:t>True</a:t>
              </a:r>
              <a:endParaRPr lang="en-US" dirty="0">
                <a:solidFill>
                  <a:schemeClr val="tx2">
                    <a:lumMod val="75000"/>
                  </a:schemeClr>
                </a:solidFill>
                <a:latin typeface="Arial Black" panose="020B0A04020102020204" pitchFamily="34" charset="0"/>
              </a:endParaRPr>
            </a:p>
            <a:p>
              <a:pPr marL="342900" indent="-342900">
                <a:buAutoNum type="alphaUcParenR"/>
              </a:pPr>
              <a:r>
                <a:rPr lang="en-US" dirty="0">
                  <a:solidFill>
                    <a:schemeClr val="tx2">
                      <a:lumMod val="75000"/>
                    </a:schemeClr>
                  </a:solidFill>
                  <a:latin typeface="Arial Black" panose="020B0A04020102020204" pitchFamily="34" charset="0"/>
                  <a:hlinkClick r:id="rId13" action="ppaction://hlinksldjump">
                    <a:extLst>
                      <a:ext uri="{A12FA001-AC4F-418D-AE19-62706E023703}">
                        <ahyp:hlinkClr xmlns:ahyp="http://schemas.microsoft.com/office/drawing/2018/hyperlinkcolor" val="tx"/>
                      </a:ext>
                    </a:extLst>
                  </a:hlinkClick>
                </a:rPr>
                <a:t>False</a:t>
              </a:r>
              <a:endParaRPr lang="en-US" dirty="0">
                <a:solidFill>
                  <a:schemeClr val="tx2">
                    <a:lumMod val="75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bg2"/>
                  </a:solidFill>
                  <a:latin typeface="Arial Black" panose="020B0A04020102020204" pitchFamily="34" charset="0"/>
                  <a:hlinkClick r:id="rId14" action="ppaction://hlinksldjump"/>
                </a:rPr>
                <a:t>Next Point</a:t>
              </a: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sp>
          <p:nvSpPr>
            <p:cNvPr id="28" name="TextBox 27">
              <a:extLst>
                <a:ext uri="{FF2B5EF4-FFF2-40B4-BE49-F238E27FC236}">
                  <a16:creationId xmlns:a16="http://schemas.microsoft.com/office/drawing/2014/main" id="{D8DB245C-023D-9930-6B9E-DA83BB9F7628}"/>
                </a:ext>
              </a:extLst>
            </p:cNvPr>
            <p:cNvSpPr txBox="1"/>
            <p:nvPr/>
          </p:nvSpPr>
          <p:spPr>
            <a:xfrm>
              <a:off x="9666732" y="657793"/>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4</a:t>
              </a:r>
            </a:p>
          </p:txBody>
        </p:sp>
      </p:grpSp>
      <p:pic>
        <p:nvPicPr>
          <p:cNvPr id="2" name="Picture 1" descr="🔅Neural-Nets. In the above gif, we can see an image… | by Priyal | Medium">
            <a:extLst>
              <a:ext uri="{FF2B5EF4-FFF2-40B4-BE49-F238E27FC236}">
                <a16:creationId xmlns:a16="http://schemas.microsoft.com/office/drawing/2014/main" id="{D22B0013-E987-F075-E390-10F3BEDAE071}"/>
              </a:ext>
            </a:extLst>
          </p:cNvPr>
          <p:cNvPicPr>
            <a:picLocks noChangeAspect="1"/>
          </p:cNvPicPr>
          <p:nvPr/>
        </p:nvPicPr>
        <p:blipFill>
          <a:blip r:embed="rId15"/>
          <a:stretch>
            <a:fillRect/>
          </a:stretch>
        </p:blipFill>
        <p:spPr>
          <a:xfrm>
            <a:off x="5163245" y="3640160"/>
            <a:ext cx="4351564" cy="2610938"/>
          </a:xfrm>
          <a:prstGeom prst="rect">
            <a:avLst/>
          </a:prstGeom>
          <a:ln>
            <a:noFill/>
          </a:ln>
          <a:effectLst>
            <a:softEdge rad="112500"/>
          </a:effectLst>
        </p:spPr>
      </p:pic>
    </p:spTree>
    <p:extLst>
      <p:ext uri="{BB962C8B-B14F-4D97-AF65-F5344CB8AC3E}">
        <p14:creationId xmlns:p14="http://schemas.microsoft.com/office/powerpoint/2010/main" val="4816119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6C9C5-17CF-BEA1-3A41-939FAF2E673F}"/>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4F2CC68A-47A7-0518-5A72-E443DF38E66B}"/>
              </a:ext>
            </a:extLst>
          </p:cNvPr>
          <p:cNvSpPr txBox="1"/>
          <p:nvPr/>
        </p:nvSpPr>
        <p:spPr>
          <a:xfrm>
            <a:off x="5146766" y="606902"/>
            <a:ext cx="5995851" cy="6955750"/>
          </a:xfrm>
          <a:prstGeom prst="rect">
            <a:avLst/>
          </a:prstGeom>
          <a:noFill/>
        </p:spPr>
        <p:txBody>
          <a:bodyPr wrap="square" rtlCol="0">
            <a:spAutoFit/>
          </a:bodyPr>
          <a:lstStyle/>
          <a:p>
            <a:r>
              <a:rPr lang="en-US" sz="3200" dirty="0">
                <a:latin typeface="Arial Black" panose="020B0A04020102020204" pitchFamily="34" charset="0"/>
              </a:rPr>
              <a:t>Your answer is correct!</a:t>
            </a:r>
          </a:p>
          <a:p>
            <a:endParaRPr lang="en-US" dirty="0"/>
          </a:p>
          <a:p>
            <a:pPr marL="285750" indent="-285750">
              <a:buFont typeface="Arial" panose="020B0604020202020204" pitchFamily="34" charset="0"/>
              <a:buChar char="•"/>
            </a:pPr>
            <a:r>
              <a:rPr lang="en-US" dirty="0"/>
              <a:t>Even we don’t know all of how our brain works that’s why we call our brains “black boxes”.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AI does not think or understand the way humans do.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you were to ask ChatGPT, “Are you similar to the human brain?” it will convert your text into numbers, processing, and finding the statistical best answer.</a:t>
            </a:r>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endParaRPr lang="en-US" dirty="0"/>
          </a:p>
          <a:p>
            <a:r>
              <a:rPr lang="en-US" dirty="0"/>
              <a:t>*</a:t>
            </a:r>
            <a:r>
              <a:rPr lang="en-US" i="1" dirty="0"/>
              <a:t>From </a:t>
            </a:r>
            <a:r>
              <a:rPr lang="en-US" i="1" dirty="0">
                <a:hlinkClick r:id="rId3"/>
              </a:rPr>
              <a:t>Quanta Magazine</a:t>
            </a:r>
            <a:r>
              <a:rPr lang="en-US" i="1" dirty="0"/>
              <a:t>, “AI is nothing like the brain, and that’s Ok”</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3" name="Picture 2" descr="File:Google Favicon 2025.svg - Wikimedia Commons">
            <a:extLst>
              <a:ext uri="{FF2B5EF4-FFF2-40B4-BE49-F238E27FC236}">
                <a16:creationId xmlns:a16="http://schemas.microsoft.com/office/drawing/2014/main" id="{D5DA3F8C-A01E-DA08-C92A-90350C86E090}"/>
              </a:ext>
            </a:extLst>
          </p:cNvPr>
          <p:cNvPicPr>
            <a:picLocks noChangeAspect="1"/>
          </p:cNvPicPr>
          <p:nvPr/>
        </p:nvPicPr>
        <p:blipFill>
          <a:blip r:embed="rId4"/>
          <a:stretch>
            <a:fillRect/>
          </a:stretch>
        </p:blipFill>
        <p:spPr>
          <a:xfrm>
            <a:off x="5762972" y="-887850"/>
            <a:ext cx="666055" cy="682040"/>
          </a:xfrm>
          <a:prstGeom prst="rect">
            <a:avLst/>
          </a:prstGeom>
          <a:effectLst>
            <a:outerShdw blurRad="50800" dist="38100" dir="5400000" algn="t" rotWithShape="0">
              <a:prstClr val="black">
                <a:alpha val="40000"/>
              </a:prstClr>
            </a:outerShdw>
          </a:effectLst>
        </p:spPr>
      </p:pic>
      <p:grpSp>
        <p:nvGrpSpPr>
          <p:cNvPr id="24" name="Group 23">
            <a:extLst>
              <a:ext uri="{FF2B5EF4-FFF2-40B4-BE49-F238E27FC236}">
                <a16:creationId xmlns:a16="http://schemas.microsoft.com/office/drawing/2014/main" id="{D96DE939-FFF7-8212-8F1E-231EE71013E7}"/>
              </a:ext>
            </a:extLst>
          </p:cNvPr>
          <p:cNvGrpSpPr/>
          <p:nvPr/>
        </p:nvGrpSpPr>
        <p:grpSpPr>
          <a:xfrm>
            <a:off x="1060989" y="0"/>
            <a:ext cx="3545586" cy="6858000"/>
            <a:chOff x="3052572" y="0"/>
            <a:chExt cx="3545586" cy="6858000"/>
          </a:xfrm>
        </p:grpSpPr>
        <p:sp>
          <p:nvSpPr>
            <p:cNvPr id="25" name="Rectangle 24">
              <a:extLst>
                <a:ext uri="{FF2B5EF4-FFF2-40B4-BE49-F238E27FC236}">
                  <a16:creationId xmlns:a16="http://schemas.microsoft.com/office/drawing/2014/main" id="{CC1C5CD1-3B9D-782C-4E14-461B61B20A47}"/>
                </a:ext>
              </a:extLst>
            </p:cNvPr>
            <p:cNvSpPr/>
            <p:nvPr/>
          </p:nvSpPr>
          <p:spPr>
            <a:xfrm>
              <a:off x="3052572" y="0"/>
              <a:ext cx="3034284" cy="6858000"/>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71E7406F-EB2D-F9D8-0EF3-D91BBCA61048}"/>
                </a:ext>
              </a:extLst>
            </p:cNvPr>
            <p:cNvSpPr txBox="1"/>
            <p:nvPr/>
          </p:nvSpPr>
          <p:spPr>
            <a:xfrm>
              <a:off x="3435096" y="606902"/>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2</a:t>
              </a:r>
            </a:p>
          </p:txBody>
        </p:sp>
        <p:sp>
          <p:nvSpPr>
            <p:cNvPr id="27" name="Isosceles Triangle 26">
              <a:extLst>
                <a:ext uri="{FF2B5EF4-FFF2-40B4-BE49-F238E27FC236}">
                  <a16:creationId xmlns:a16="http://schemas.microsoft.com/office/drawing/2014/main" id="{1E5343CB-0D45-5E0E-920C-CBCFD1A22632}"/>
                </a:ext>
              </a:extLst>
            </p:cNvPr>
            <p:cNvSpPr/>
            <p:nvPr/>
          </p:nvSpPr>
          <p:spPr>
            <a:xfrm rot="5400000">
              <a:off x="5724906" y="921795"/>
              <a:ext cx="1225296" cy="521208"/>
            </a:xfrm>
            <a:prstGeom prst="triangle">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BD7C0824-D1FB-EE37-F50F-B00F9085E379}"/>
                </a:ext>
              </a:extLst>
            </p:cNvPr>
            <p:cNvSpPr txBox="1"/>
            <p:nvPr/>
          </p:nvSpPr>
          <p:spPr>
            <a:xfrm>
              <a:off x="3418332" y="2358935"/>
              <a:ext cx="2423160" cy="3693319"/>
            </a:xfrm>
            <a:prstGeom prst="rect">
              <a:avLst/>
            </a:prstGeom>
            <a:noFill/>
          </p:spPr>
          <p:txBody>
            <a:bodyPr wrap="square" rtlCol="0">
              <a:spAutoFit/>
            </a:bodyPr>
            <a:lstStyle/>
            <a:p>
              <a:r>
                <a:rPr lang="en-US" i="1" dirty="0">
                  <a:solidFill>
                    <a:schemeClr val="bg2"/>
                  </a:solidFill>
                </a:rPr>
                <a:t>“AI will replace most jobs in the future.”</a:t>
              </a:r>
              <a:endParaRPr lang="en-US" dirty="0">
                <a:solidFill>
                  <a:schemeClr val="bg2"/>
                </a:solidFill>
              </a:endParaRPr>
            </a:p>
            <a:p>
              <a:endParaRPr lang="en-US" dirty="0">
                <a:solidFill>
                  <a:schemeClr val="bg2">
                    <a:lumMod val="90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endParaRPr lang="en-US" dirty="0">
                <a:solidFill>
                  <a:schemeClr val="bg2">
                    <a:lumMod val="90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endParaRPr lang="en-US" dirty="0">
                <a:solidFill>
                  <a:schemeClr val="bg2">
                    <a:lumMod val="90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bg2">
                    <a:lumMod val="90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bg2">
                      <a:lumMod val="90000"/>
                    </a:schemeClr>
                  </a:solidFill>
                  <a:latin typeface="Arial Black" panose="020B0A04020102020204" pitchFamily="34" charset="0"/>
                  <a:hlinkClick r:id="rId5" action="ppaction://hlinksldjump">
                    <a:extLst>
                      <a:ext uri="{A12FA001-AC4F-418D-AE19-62706E023703}">
                        <ahyp:hlinkClr xmlns:ahyp="http://schemas.microsoft.com/office/drawing/2018/hyperlinkcolor" val="tx"/>
                      </a:ext>
                    </a:extLst>
                  </a:hlinkClick>
                </a:rPr>
                <a:t>True</a:t>
              </a:r>
              <a:endParaRPr lang="en-US" dirty="0">
                <a:solidFill>
                  <a:schemeClr val="bg2">
                    <a:lumMod val="90000"/>
                  </a:schemeClr>
                </a:solidFill>
                <a:latin typeface="Arial Black" panose="020B0A04020102020204" pitchFamily="34" charset="0"/>
              </a:endParaRPr>
            </a:p>
            <a:p>
              <a:pPr marL="342900" indent="-342900">
                <a:buAutoNum type="alphaUcParenR"/>
              </a:pPr>
              <a:r>
                <a:rPr lang="en-US" dirty="0">
                  <a:solidFill>
                    <a:schemeClr val="bg2">
                      <a:lumMod val="90000"/>
                    </a:schemeClr>
                  </a:solidFill>
                  <a:latin typeface="Arial Black" panose="020B0A04020102020204" pitchFamily="34" charset="0"/>
                  <a:hlinkClick r:id="rId6" action="ppaction://hlinksldjump">
                    <a:extLst>
                      <a:ext uri="{A12FA001-AC4F-418D-AE19-62706E023703}">
                        <ahyp:hlinkClr xmlns:ahyp="http://schemas.microsoft.com/office/drawing/2018/hyperlinkcolor" val="tx"/>
                      </a:ext>
                    </a:extLst>
                  </a:hlinkClick>
                </a:rPr>
                <a:t>False</a:t>
              </a:r>
              <a:endParaRPr lang="en-US" dirty="0">
                <a:solidFill>
                  <a:schemeClr val="bg2">
                    <a:lumMod val="9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grpSp>
      <p:grpSp>
        <p:nvGrpSpPr>
          <p:cNvPr id="29" name="Group 28">
            <a:extLst>
              <a:ext uri="{FF2B5EF4-FFF2-40B4-BE49-F238E27FC236}">
                <a16:creationId xmlns:a16="http://schemas.microsoft.com/office/drawing/2014/main" id="{08401723-E48D-0BE6-E089-C5BB5FB9EF29}"/>
              </a:ext>
            </a:extLst>
          </p:cNvPr>
          <p:cNvGrpSpPr/>
          <p:nvPr/>
        </p:nvGrpSpPr>
        <p:grpSpPr>
          <a:xfrm>
            <a:off x="780858" y="0"/>
            <a:ext cx="3553968" cy="6858000"/>
            <a:chOff x="0" y="0"/>
            <a:chExt cx="3553968" cy="6858000"/>
          </a:xfrm>
        </p:grpSpPr>
        <p:sp>
          <p:nvSpPr>
            <p:cNvPr id="30" name="Rectangle 29">
              <a:extLst>
                <a:ext uri="{FF2B5EF4-FFF2-40B4-BE49-F238E27FC236}">
                  <a16:creationId xmlns:a16="http://schemas.microsoft.com/office/drawing/2014/main" id="{D4E5F343-280B-8F94-4E26-6C19D4E35ADE}"/>
                </a:ext>
              </a:extLst>
            </p:cNvPr>
            <p:cNvSpPr/>
            <p:nvPr/>
          </p:nvSpPr>
          <p:spPr>
            <a:xfrm>
              <a:off x="0" y="0"/>
              <a:ext cx="3052572" cy="68580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471A54EB-3030-B1A2-E9FC-156DB6609207}"/>
                </a:ext>
              </a:extLst>
            </p:cNvPr>
            <p:cNvSpPr txBox="1"/>
            <p:nvPr/>
          </p:nvSpPr>
          <p:spPr>
            <a:xfrm>
              <a:off x="310896" y="694944"/>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1</a:t>
              </a:r>
            </a:p>
          </p:txBody>
        </p:sp>
        <p:sp>
          <p:nvSpPr>
            <p:cNvPr id="32" name="Isosceles Triangle 31">
              <a:extLst>
                <a:ext uri="{FF2B5EF4-FFF2-40B4-BE49-F238E27FC236}">
                  <a16:creationId xmlns:a16="http://schemas.microsoft.com/office/drawing/2014/main" id="{974227DC-8D75-B80A-DD34-32FF75F34CAC}"/>
                </a:ext>
              </a:extLst>
            </p:cNvPr>
            <p:cNvSpPr/>
            <p:nvPr/>
          </p:nvSpPr>
          <p:spPr>
            <a:xfrm rot="5400000">
              <a:off x="2680716" y="958946"/>
              <a:ext cx="1225296" cy="521208"/>
            </a:xfrm>
            <a:prstGeom prst="triangle">
              <a:avLst/>
            </a:prstGeom>
            <a:solidFill>
              <a:srgbClr val="2038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689342E7-2C5C-CF28-DA64-80428D7F597B}"/>
                </a:ext>
              </a:extLst>
            </p:cNvPr>
            <p:cNvSpPr txBox="1"/>
            <p:nvPr/>
          </p:nvSpPr>
          <p:spPr>
            <a:xfrm>
              <a:off x="310896" y="2316163"/>
              <a:ext cx="2423160" cy="3693319"/>
            </a:xfrm>
            <a:prstGeom prst="rect">
              <a:avLst/>
            </a:prstGeom>
            <a:noFill/>
          </p:spPr>
          <p:txBody>
            <a:bodyPr wrap="square" rtlCol="0">
              <a:spAutoFit/>
            </a:bodyPr>
            <a:lstStyle/>
            <a:p>
              <a:r>
                <a:rPr lang="en-US" i="1" dirty="0">
                  <a:solidFill>
                    <a:schemeClr val="bg2"/>
                  </a:solidFill>
                </a:rPr>
                <a:t>“AI is mostly only useful for generating text in tools like ChatGPT or Gemini.” </a:t>
              </a:r>
              <a:endParaRPr lang="en-US" dirty="0">
                <a:solidFill>
                  <a:schemeClr val="bg2"/>
                </a:solidFill>
              </a:endParaRPr>
            </a:p>
            <a:p>
              <a:endParaRPr lang="en-US" dirty="0">
                <a:solidFill>
                  <a:schemeClr val="bg2">
                    <a:lumMod val="90000"/>
                  </a:schemeClr>
                </a:solidFill>
                <a:latin typeface="Arial Black" panose="020B0A04020102020204" pitchFamily="34" charset="0"/>
                <a:hlinkClick r:id="rId8"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bg2">
                    <a:lumMod val="90000"/>
                  </a:schemeClr>
                </a:solidFill>
                <a:latin typeface="Arial Black" panose="020B0A04020102020204" pitchFamily="34" charset="0"/>
                <a:hlinkClick r:id="rId8"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bg2">
                      <a:lumMod val="90000"/>
                    </a:schemeClr>
                  </a:solidFill>
                  <a:latin typeface="Arial Black" panose="020B0A04020102020204" pitchFamily="34" charset="0"/>
                  <a:hlinkClick r:id="rId8" action="ppaction://hlinksldjump">
                    <a:extLst>
                      <a:ext uri="{A12FA001-AC4F-418D-AE19-62706E023703}">
                        <ahyp:hlinkClr xmlns:ahyp="http://schemas.microsoft.com/office/drawing/2018/hyperlinkcolor" val="tx"/>
                      </a:ext>
                    </a:extLst>
                  </a:hlinkClick>
                </a:rPr>
                <a:t>True</a:t>
              </a:r>
              <a:endParaRPr lang="en-US" dirty="0">
                <a:solidFill>
                  <a:schemeClr val="bg2">
                    <a:lumMod val="90000"/>
                  </a:schemeClr>
                </a:solidFill>
                <a:latin typeface="Arial Black" panose="020B0A04020102020204" pitchFamily="34" charset="0"/>
              </a:endParaRPr>
            </a:p>
            <a:p>
              <a:pPr marL="342900" indent="-342900">
                <a:buAutoNum type="alphaUcParenR"/>
              </a:pPr>
              <a:r>
                <a:rPr lang="en-US" dirty="0">
                  <a:solidFill>
                    <a:schemeClr val="bg2">
                      <a:lumMod val="90000"/>
                    </a:schemeClr>
                  </a:solidFill>
                  <a:latin typeface="Arial Black" panose="020B0A04020102020204" pitchFamily="34" charset="0"/>
                  <a:hlinkClick r:id="rId9" action="ppaction://hlinksldjump">
                    <a:extLst>
                      <a:ext uri="{A12FA001-AC4F-418D-AE19-62706E023703}">
                        <ahyp:hlinkClr xmlns:ahyp="http://schemas.microsoft.com/office/drawing/2018/hyperlinkcolor" val="tx"/>
                      </a:ext>
                    </a:extLst>
                  </a:hlinkClick>
                </a:rPr>
                <a:t>False</a:t>
              </a:r>
              <a:endParaRPr lang="en-US" dirty="0">
                <a:solidFill>
                  <a:schemeClr val="bg2">
                    <a:lumMod val="9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grpSp>
      <p:grpSp>
        <p:nvGrpSpPr>
          <p:cNvPr id="34" name="Group 33">
            <a:extLst>
              <a:ext uri="{FF2B5EF4-FFF2-40B4-BE49-F238E27FC236}">
                <a16:creationId xmlns:a16="http://schemas.microsoft.com/office/drawing/2014/main" id="{F0C858A8-559E-3D1A-FD24-9FF41544DA7B}"/>
              </a:ext>
            </a:extLst>
          </p:cNvPr>
          <p:cNvGrpSpPr/>
          <p:nvPr/>
        </p:nvGrpSpPr>
        <p:grpSpPr>
          <a:xfrm>
            <a:off x="188784" y="0"/>
            <a:ext cx="3644646" cy="6858000"/>
            <a:chOff x="6081522" y="0"/>
            <a:chExt cx="3644646" cy="6858000"/>
          </a:xfrm>
        </p:grpSpPr>
        <p:sp>
          <p:nvSpPr>
            <p:cNvPr id="35" name="Rectangle 34">
              <a:extLst>
                <a:ext uri="{FF2B5EF4-FFF2-40B4-BE49-F238E27FC236}">
                  <a16:creationId xmlns:a16="http://schemas.microsoft.com/office/drawing/2014/main" id="{738DFBEF-D7E0-69A9-5C14-7C6A323FEBE7}"/>
                </a:ext>
              </a:extLst>
            </p:cNvPr>
            <p:cNvSpPr/>
            <p:nvPr/>
          </p:nvSpPr>
          <p:spPr>
            <a:xfrm>
              <a:off x="6081522" y="0"/>
              <a:ext cx="3176016" cy="685800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Isosceles Triangle 35">
              <a:extLst>
                <a:ext uri="{FF2B5EF4-FFF2-40B4-BE49-F238E27FC236}">
                  <a16:creationId xmlns:a16="http://schemas.microsoft.com/office/drawing/2014/main" id="{6A05611D-3811-CB71-FD3F-E80914A1A28F}"/>
                </a:ext>
              </a:extLst>
            </p:cNvPr>
            <p:cNvSpPr/>
            <p:nvPr/>
          </p:nvSpPr>
          <p:spPr>
            <a:xfrm rot="5400000">
              <a:off x="8852916" y="932850"/>
              <a:ext cx="1225296" cy="521208"/>
            </a:xfrm>
            <a:prstGeom prst="triangle">
              <a:avLst/>
            </a:prstGeom>
            <a:solidFill>
              <a:srgbClr val="8FAA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CC6456F4-1E0B-2521-6021-35F2DF4E5132}"/>
                </a:ext>
              </a:extLst>
            </p:cNvPr>
            <p:cNvSpPr txBox="1"/>
            <p:nvPr/>
          </p:nvSpPr>
          <p:spPr>
            <a:xfrm>
              <a:off x="6472428" y="569751"/>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3</a:t>
              </a:r>
            </a:p>
          </p:txBody>
        </p:sp>
        <p:sp>
          <p:nvSpPr>
            <p:cNvPr id="38" name="TextBox 37">
              <a:extLst>
                <a:ext uri="{FF2B5EF4-FFF2-40B4-BE49-F238E27FC236}">
                  <a16:creationId xmlns:a16="http://schemas.microsoft.com/office/drawing/2014/main" id="{3EEAF49E-3E01-4342-3E82-47DB94C24624}"/>
                </a:ext>
              </a:extLst>
            </p:cNvPr>
            <p:cNvSpPr txBox="1"/>
            <p:nvPr/>
          </p:nvSpPr>
          <p:spPr>
            <a:xfrm>
              <a:off x="6619494" y="2316163"/>
              <a:ext cx="2423160" cy="3693319"/>
            </a:xfrm>
            <a:prstGeom prst="rect">
              <a:avLst/>
            </a:prstGeom>
            <a:noFill/>
          </p:spPr>
          <p:txBody>
            <a:bodyPr wrap="square" rtlCol="0">
              <a:spAutoFit/>
            </a:bodyPr>
            <a:lstStyle/>
            <a:p>
              <a:r>
                <a:rPr lang="en-US" i="1" dirty="0">
                  <a:solidFill>
                    <a:schemeClr val="tx2"/>
                  </a:solidFill>
                </a:rPr>
                <a:t>“AI-generated content (text, images, code) is now indistinguishable from human-created work.”</a:t>
              </a:r>
              <a:endParaRPr lang="en-US" dirty="0">
                <a:solidFill>
                  <a:schemeClr val="accent1">
                    <a:lumMod val="5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endParaRPr>
            </a:p>
            <a:p>
              <a:pPr marL="342900" indent="-342900">
                <a:buAutoNum type="alphaUcParenR"/>
              </a:pPr>
              <a:endParaRPr lang="en-US" dirty="0">
                <a:solidFill>
                  <a:schemeClr val="accent1">
                    <a:lumMod val="5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accent1">
                      <a:lumMod val="50000"/>
                    </a:schemeClr>
                  </a:solidFill>
                  <a:latin typeface="Arial Black" panose="020B0A04020102020204" pitchFamily="34" charset="0"/>
                  <a:hlinkClick r:id="rId10" action="ppaction://hlinksldjump">
                    <a:extLst>
                      <a:ext uri="{A12FA001-AC4F-418D-AE19-62706E023703}">
                        <ahyp:hlinkClr xmlns:ahyp="http://schemas.microsoft.com/office/drawing/2018/hyperlinkcolor" val="tx"/>
                      </a:ext>
                    </a:extLst>
                  </a:hlinkClick>
                </a:rPr>
                <a:t>True</a:t>
              </a:r>
              <a:endParaRPr lang="en-US" dirty="0">
                <a:solidFill>
                  <a:schemeClr val="accent1">
                    <a:lumMod val="50000"/>
                  </a:schemeClr>
                </a:solidFill>
                <a:latin typeface="Arial Black" panose="020B0A04020102020204" pitchFamily="34" charset="0"/>
              </a:endParaRPr>
            </a:p>
            <a:p>
              <a:pPr marL="342900" indent="-342900">
                <a:buAutoNum type="alphaUcParenR"/>
              </a:pPr>
              <a:r>
                <a:rPr lang="en-US" dirty="0">
                  <a:solidFill>
                    <a:schemeClr val="accent1">
                      <a:lumMod val="50000"/>
                    </a:schemeClr>
                  </a:solidFill>
                  <a:latin typeface="Arial Black" panose="020B0A04020102020204" pitchFamily="34" charset="0"/>
                  <a:hlinkClick r:id="rId11" action="ppaction://hlinksldjump">
                    <a:extLst>
                      <a:ext uri="{A12FA001-AC4F-418D-AE19-62706E023703}">
                        <ahyp:hlinkClr xmlns:ahyp="http://schemas.microsoft.com/office/drawing/2018/hyperlinkcolor" val="tx"/>
                      </a:ext>
                    </a:extLst>
                  </a:hlinkClick>
                </a:rPr>
                <a:t>False</a:t>
              </a:r>
              <a:endParaRPr lang="en-US" dirty="0">
                <a:solidFill>
                  <a:schemeClr val="accent1">
                    <a:lumMod val="50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p>
          </p:txBody>
        </p:sp>
      </p:grpSp>
      <p:grpSp>
        <p:nvGrpSpPr>
          <p:cNvPr id="39" name="Group 38">
            <a:extLst>
              <a:ext uri="{FF2B5EF4-FFF2-40B4-BE49-F238E27FC236}">
                <a16:creationId xmlns:a16="http://schemas.microsoft.com/office/drawing/2014/main" id="{716B384D-7E64-2AD1-C42B-16624FB0CBF0}"/>
              </a:ext>
            </a:extLst>
          </p:cNvPr>
          <p:cNvGrpSpPr/>
          <p:nvPr/>
        </p:nvGrpSpPr>
        <p:grpSpPr>
          <a:xfrm>
            <a:off x="-96108" y="0"/>
            <a:ext cx="3508248" cy="6860586"/>
            <a:chOff x="9204960" y="0"/>
            <a:chExt cx="3508248" cy="6860586"/>
          </a:xfrm>
        </p:grpSpPr>
        <p:sp>
          <p:nvSpPr>
            <p:cNvPr id="40" name="Rectangle 39">
              <a:extLst>
                <a:ext uri="{FF2B5EF4-FFF2-40B4-BE49-F238E27FC236}">
                  <a16:creationId xmlns:a16="http://schemas.microsoft.com/office/drawing/2014/main" id="{3244B53D-E4CF-52E6-88D3-DD9EB8B30F93}"/>
                </a:ext>
              </a:extLst>
            </p:cNvPr>
            <p:cNvSpPr/>
            <p:nvPr/>
          </p:nvSpPr>
          <p:spPr>
            <a:xfrm>
              <a:off x="9204960" y="0"/>
              <a:ext cx="2987040" cy="68580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Isosceles Triangle 40">
              <a:extLst>
                <a:ext uri="{FF2B5EF4-FFF2-40B4-BE49-F238E27FC236}">
                  <a16:creationId xmlns:a16="http://schemas.microsoft.com/office/drawing/2014/main" id="{A7274719-9DBA-451F-A18D-29BBAA84559D}"/>
                </a:ext>
              </a:extLst>
            </p:cNvPr>
            <p:cNvSpPr/>
            <p:nvPr/>
          </p:nvSpPr>
          <p:spPr>
            <a:xfrm rot="5400000">
              <a:off x="11839956" y="941994"/>
              <a:ext cx="1225296" cy="521208"/>
            </a:xfrm>
            <a:prstGeom prst="triangle">
              <a:avLst/>
            </a:prstGeom>
            <a:solidFill>
              <a:srgbClr val="B4C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TextBox 41">
              <a:extLst>
                <a:ext uri="{FF2B5EF4-FFF2-40B4-BE49-F238E27FC236}">
                  <a16:creationId xmlns:a16="http://schemas.microsoft.com/office/drawing/2014/main" id="{6B401A52-C8F1-25BA-6098-8ED9E49B1B11}"/>
                </a:ext>
              </a:extLst>
            </p:cNvPr>
            <p:cNvSpPr txBox="1"/>
            <p:nvPr/>
          </p:nvSpPr>
          <p:spPr>
            <a:xfrm>
              <a:off x="9604248" y="2336271"/>
              <a:ext cx="2423160" cy="4524315"/>
            </a:xfrm>
            <a:prstGeom prst="rect">
              <a:avLst/>
            </a:prstGeom>
            <a:noFill/>
          </p:spPr>
          <p:txBody>
            <a:bodyPr wrap="square" rtlCol="0">
              <a:spAutoFit/>
            </a:bodyPr>
            <a:lstStyle/>
            <a:p>
              <a:r>
                <a:rPr lang="en-US" i="1" dirty="0">
                  <a:solidFill>
                    <a:schemeClr val="accent1"/>
                  </a:solidFill>
                </a:rPr>
                <a:t>“AI is working like a human brain.”</a:t>
              </a:r>
            </a:p>
            <a:p>
              <a:endParaRPr lang="en-US" dirty="0">
                <a:solidFill>
                  <a:schemeClr val="tx2">
                    <a:lumMod val="75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endParaRPr>
            </a:p>
            <a:p>
              <a:endParaRPr lang="en-US" dirty="0">
                <a:solidFill>
                  <a:schemeClr val="tx2">
                    <a:lumMod val="75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endParaRPr>
            </a:p>
            <a:p>
              <a:pPr marL="342900" indent="-342900">
                <a:buAutoNum type="alphaUcParenR"/>
              </a:pPr>
              <a:r>
                <a:rPr lang="en-US" dirty="0">
                  <a:solidFill>
                    <a:schemeClr val="tx2">
                      <a:lumMod val="75000"/>
                    </a:schemeClr>
                  </a:solidFill>
                  <a:latin typeface="Arial Black" panose="020B0A04020102020204" pitchFamily="34" charset="0"/>
                  <a:hlinkClick r:id="rId12" action="ppaction://hlinksldjump">
                    <a:extLst>
                      <a:ext uri="{A12FA001-AC4F-418D-AE19-62706E023703}">
                        <ahyp:hlinkClr xmlns:ahyp="http://schemas.microsoft.com/office/drawing/2018/hyperlinkcolor" val="tx"/>
                      </a:ext>
                    </a:extLst>
                  </a:hlinkClick>
                </a:rPr>
                <a:t>True</a:t>
              </a:r>
              <a:endParaRPr lang="en-US" dirty="0">
                <a:solidFill>
                  <a:schemeClr val="tx2">
                    <a:lumMod val="75000"/>
                  </a:schemeClr>
                </a:solidFill>
                <a:latin typeface="Arial Black" panose="020B0A04020102020204" pitchFamily="34" charset="0"/>
              </a:endParaRPr>
            </a:p>
            <a:p>
              <a:pPr marL="342900" indent="-342900">
                <a:buAutoNum type="alphaUcParenR"/>
              </a:pPr>
              <a:r>
                <a:rPr lang="en-US" dirty="0">
                  <a:solidFill>
                    <a:schemeClr val="tx2">
                      <a:lumMod val="75000"/>
                    </a:schemeClr>
                  </a:solidFill>
                  <a:latin typeface="Arial Black" panose="020B0A04020102020204" pitchFamily="34" charset="0"/>
                  <a:hlinkClick r:id="rId13" action="ppaction://hlinksldjump">
                    <a:extLst>
                      <a:ext uri="{A12FA001-AC4F-418D-AE19-62706E023703}">
                        <ahyp:hlinkClr xmlns:ahyp="http://schemas.microsoft.com/office/drawing/2018/hyperlinkcolor" val="tx"/>
                      </a:ext>
                    </a:extLst>
                  </a:hlinkClick>
                </a:rPr>
                <a:t>False</a:t>
              </a:r>
              <a:endParaRPr lang="en-US" dirty="0">
                <a:solidFill>
                  <a:schemeClr val="tx2">
                    <a:lumMod val="75000"/>
                  </a:schemeClr>
                </a:solidFill>
                <a:latin typeface="Arial Black" panose="020B0A04020102020204" pitchFamily="34" charset="0"/>
              </a:endParaRPr>
            </a:p>
            <a:p>
              <a:pPr marL="342900" indent="-342900">
                <a:buAutoNum type="alphaUcParenR"/>
              </a:pP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Back to </a:t>
              </a:r>
              <a:r>
                <a:rPr lang="en-US" dirty="0" err="1">
                  <a:solidFill>
                    <a:schemeClr val="accent2">
                      <a:lumMod val="75000"/>
                    </a:schemeClr>
                  </a:solidFill>
                  <a:latin typeface="Arial Black" panose="020B0A04020102020204" pitchFamily="34" charset="0"/>
                  <a:hlinkClick r:id="rId7" action="ppaction://hlinksldjump">
                    <a:extLst>
                      <a:ext uri="{A12FA001-AC4F-418D-AE19-62706E023703}">
                        <ahyp:hlinkClr xmlns:ahyp="http://schemas.microsoft.com/office/drawing/2018/hyperlinkcolor" val="tx"/>
                      </a:ext>
                    </a:extLst>
                  </a:hlinkClick>
                </a:rPr>
                <a:t>Scorepage</a:t>
              </a:r>
              <a:endParaRPr lang="en-US" dirty="0">
                <a:solidFill>
                  <a:schemeClr val="accent2">
                    <a:lumMod val="75000"/>
                  </a:schemeClr>
                </a:solidFill>
                <a:latin typeface="Arial Black" panose="020B0A04020102020204" pitchFamily="34" charset="0"/>
              </a:endParaRPr>
            </a:p>
            <a:p>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a:p>
              <a:r>
                <a:rPr lang="en-US" dirty="0">
                  <a:solidFill>
                    <a:schemeClr val="bg2"/>
                  </a:solidFill>
                  <a:latin typeface="Arial Black" panose="020B0A04020102020204" pitchFamily="34" charset="0"/>
                  <a:hlinkClick r:id="rId14" action="ppaction://hlinksldjump"/>
                </a:rPr>
                <a:t>Next Point</a:t>
              </a:r>
              <a:endParaRPr lang="en-US" dirty="0">
                <a:solidFill>
                  <a:schemeClr val="bg2"/>
                </a:solidFill>
                <a:latin typeface="Arial Black" panose="020B0A04020102020204" pitchFamily="34" charset="0"/>
              </a:endParaRPr>
            </a:p>
            <a:p>
              <a:endParaRPr lang="en-US" dirty="0">
                <a:solidFill>
                  <a:schemeClr val="bg2"/>
                </a:solidFill>
                <a:latin typeface="Arial Black" panose="020B0A04020102020204" pitchFamily="34" charset="0"/>
              </a:endParaRPr>
            </a:p>
          </p:txBody>
        </p:sp>
        <p:sp>
          <p:nvSpPr>
            <p:cNvPr id="43" name="TextBox 42">
              <a:extLst>
                <a:ext uri="{FF2B5EF4-FFF2-40B4-BE49-F238E27FC236}">
                  <a16:creationId xmlns:a16="http://schemas.microsoft.com/office/drawing/2014/main" id="{57A2DB3F-4819-2DF4-19E5-F7ED2639230F}"/>
                </a:ext>
              </a:extLst>
            </p:cNvPr>
            <p:cNvSpPr txBox="1"/>
            <p:nvPr/>
          </p:nvSpPr>
          <p:spPr>
            <a:xfrm>
              <a:off x="9666732" y="657793"/>
              <a:ext cx="2298192" cy="1077218"/>
            </a:xfrm>
            <a:prstGeom prst="rect">
              <a:avLst/>
            </a:prstGeom>
            <a:noFill/>
          </p:spPr>
          <p:txBody>
            <a:bodyPr wrap="square" rtlCol="0">
              <a:spAutoFit/>
            </a:bodyPr>
            <a:lstStyle/>
            <a:p>
              <a:pPr algn="ctr"/>
              <a:r>
                <a:rPr lang="en-US" sz="3200" dirty="0">
                  <a:solidFill>
                    <a:schemeClr val="bg2"/>
                  </a:solidFill>
                  <a:latin typeface="Elephant" panose="02020904090505020303" pitchFamily="18" charset="0"/>
                </a:rPr>
                <a:t>Question 4</a:t>
              </a:r>
            </a:p>
          </p:txBody>
        </p:sp>
      </p:grpSp>
      <p:pic>
        <p:nvPicPr>
          <p:cNvPr id="5" name="Picture 4" descr="🔅Neural-Nets. In the above gif, we can see an image… | by Priyal | Medium">
            <a:extLst>
              <a:ext uri="{FF2B5EF4-FFF2-40B4-BE49-F238E27FC236}">
                <a16:creationId xmlns:a16="http://schemas.microsoft.com/office/drawing/2014/main" id="{17783763-AF2A-A47F-8A98-350F0FB545D7}"/>
              </a:ext>
            </a:extLst>
          </p:cNvPr>
          <p:cNvPicPr>
            <a:picLocks noChangeAspect="1"/>
          </p:cNvPicPr>
          <p:nvPr/>
        </p:nvPicPr>
        <p:blipFill>
          <a:blip r:embed="rId15"/>
          <a:stretch>
            <a:fillRect/>
          </a:stretch>
        </p:blipFill>
        <p:spPr>
          <a:xfrm>
            <a:off x="5163245" y="3640160"/>
            <a:ext cx="4351564" cy="2610938"/>
          </a:xfrm>
          <a:prstGeom prst="rect">
            <a:avLst/>
          </a:prstGeom>
          <a:ln>
            <a:noFill/>
          </a:ln>
          <a:effectLst>
            <a:softEdge rad="112500"/>
          </a:effectLst>
        </p:spPr>
      </p:pic>
    </p:spTree>
    <p:extLst>
      <p:ext uri="{BB962C8B-B14F-4D97-AF65-F5344CB8AC3E}">
        <p14:creationId xmlns:p14="http://schemas.microsoft.com/office/powerpoint/2010/main" val="8957300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100000">
              <a:schemeClr val="accent1">
                <a:lumMod val="5000"/>
                <a:lumOff val="95000"/>
              </a:schemeClr>
            </a:gs>
            <a:gs pos="70000">
              <a:srgbClr val="91B1E8"/>
            </a:gs>
            <a:gs pos="30000">
              <a:srgbClr val="7CA5EB"/>
            </a:gs>
            <a:gs pos="0">
              <a:srgbClr val="4285F4"/>
            </a:gs>
          </a:gsLst>
          <a:lin ang="5400000" scaled="1"/>
        </a:gra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2771431A-57C6-1256-6672-2DD3B6E6BE45}"/>
              </a:ext>
            </a:extLst>
          </p:cNvPr>
          <p:cNvSpPr txBox="1"/>
          <p:nvPr/>
        </p:nvSpPr>
        <p:spPr>
          <a:xfrm>
            <a:off x="2842591" y="2007704"/>
            <a:ext cx="7464287" cy="2215991"/>
          </a:xfrm>
          <a:prstGeom prst="rect">
            <a:avLst/>
          </a:prstGeom>
          <a:noFill/>
          <a:ln>
            <a:noFill/>
          </a:ln>
        </p:spPr>
        <p:txBody>
          <a:bodyPr wrap="square" rtlCol="0">
            <a:spAutoFit/>
          </a:bodyPr>
          <a:lstStyle/>
          <a:p>
            <a:r>
              <a:rPr lang="en-US" sz="13800" spc="300" dirty="0">
                <a:ln w="50800">
                  <a:gradFill>
                    <a:gsLst>
                      <a:gs pos="62000">
                        <a:srgbClr val="3086FF"/>
                      </a:gs>
                      <a:gs pos="94000">
                        <a:srgbClr val="0DBB63">
                          <a:lumMod val="99000"/>
                        </a:srgbClr>
                      </a:gs>
                      <a:gs pos="51000">
                        <a:srgbClr val="FFB80C"/>
                      </a:gs>
                      <a:gs pos="0">
                        <a:srgbClr val="FF4640"/>
                      </a:gs>
                    </a:gsLst>
                    <a:lin ang="5400000" scaled="1"/>
                  </a:gradFill>
                </a:ln>
                <a:noFill/>
                <a:latin typeface="Google Sans" pitchFamily="2" charset="0"/>
                <a:ea typeface="Google Sans" pitchFamily="2" charset="0"/>
                <a:cs typeface="Google Sans" pitchFamily="2" charset="0"/>
              </a:rPr>
              <a:t>Google</a:t>
            </a:r>
          </a:p>
        </p:txBody>
      </p:sp>
      <p:pic>
        <p:nvPicPr>
          <p:cNvPr id="4" name="Picture 3" descr="File:Google Favicon 2025.svg - Wikimedia Commons">
            <a:extLst>
              <a:ext uri="{FF2B5EF4-FFF2-40B4-BE49-F238E27FC236}">
                <a16:creationId xmlns:a16="http://schemas.microsoft.com/office/drawing/2014/main" id="{ABC987A1-7052-14D7-D028-2FA633B2112F}"/>
              </a:ext>
            </a:extLst>
          </p:cNvPr>
          <p:cNvPicPr>
            <a:picLocks noChangeAspect="1"/>
          </p:cNvPicPr>
          <p:nvPr/>
        </p:nvPicPr>
        <p:blipFill>
          <a:blip r:embed="rId2"/>
          <a:stretch>
            <a:fillRect/>
          </a:stretch>
        </p:blipFill>
        <p:spPr>
          <a:xfrm>
            <a:off x="3483440" y="523506"/>
            <a:ext cx="5225120" cy="5350520"/>
          </a:xfrm>
          <a:prstGeom prst="rect">
            <a:avLst/>
          </a:prstGeom>
          <a:ln>
            <a:noFill/>
          </a:ln>
        </p:spPr>
      </p:pic>
      <p:sp>
        <p:nvSpPr>
          <p:cNvPr id="11" name="TextBox 10">
            <a:extLst>
              <a:ext uri="{FF2B5EF4-FFF2-40B4-BE49-F238E27FC236}">
                <a16:creationId xmlns:a16="http://schemas.microsoft.com/office/drawing/2014/main" id="{26D13187-2C30-2B51-C1A2-9D6600DA52EA}"/>
              </a:ext>
            </a:extLst>
          </p:cNvPr>
          <p:cNvSpPr txBox="1"/>
          <p:nvPr/>
        </p:nvSpPr>
        <p:spPr>
          <a:xfrm>
            <a:off x="2766391" y="157610"/>
            <a:ext cx="7464287" cy="2215991"/>
          </a:xfrm>
          <a:prstGeom prst="rect">
            <a:avLst/>
          </a:prstGeom>
          <a:noFill/>
          <a:ln>
            <a:noFill/>
          </a:ln>
        </p:spPr>
        <p:txBody>
          <a:bodyPr wrap="square" rtlCol="0">
            <a:spAutoFit/>
          </a:bodyPr>
          <a:lstStyle/>
          <a:p>
            <a:r>
              <a:rPr lang="en-US" sz="13800" spc="300" dirty="0">
                <a:ln w="50800">
                  <a:gradFill>
                    <a:gsLst>
                      <a:gs pos="62000">
                        <a:srgbClr val="3086FF"/>
                      </a:gs>
                      <a:gs pos="94000">
                        <a:srgbClr val="0DBB63">
                          <a:lumMod val="99000"/>
                        </a:srgbClr>
                      </a:gs>
                      <a:gs pos="51000">
                        <a:srgbClr val="FFB80C"/>
                      </a:gs>
                      <a:gs pos="0">
                        <a:srgbClr val="FF4640"/>
                      </a:gs>
                    </a:gsLst>
                    <a:lin ang="5400000" scaled="1"/>
                  </a:gradFill>
                </a:ln>
                <a:noFill/>
                <a:latin typeface="Google Sans" pitchFamily="2" charset="0"/>
                <a:ea typeface="Google Sans" pitchFamily="2" charset="0"/>
                <a:cs typeface="Google Sans" pitchFamily="2" charset="0"/>
              </a:rPr>
              <a:t>Google</a:t>
            </a:r>
          </a:p>
        </p:txBody>
      </p:sp>
      <p:sp>
        <p:nvSpPr>
          <p:cNvPr id="12" name="TextBox 11">
            <a:extLst>
              <a:ext uri="{FF2B5EF4-FFF2-40B4-BE49-F238E27FC236}">
                <a16:creationId xmlns:a16="http://schemas.microsoft.com/office/drawing/2014/main" id="{20351A31-FC85-C0EB-107C-DEE6B350F7BE}"/>
              </a:ext>
            </a:extLst>
          </p:cNvPr>
          <p:cNvSpPr txBox="1"/>
          <p:nvPr/>
        </p:nvSpPr>
        <p:spPr>
          <a:xfrm>
            <a:off x="2842591" y="4223695"/>
            <a:ext cx="7464287" cy="2215991"/>
          </a:xfrm>
          <a:prstGeom prst="rect">
            <a:avLst/>
          </a:prstGeom>
          <a:noFill/>
          <a:ln>
            <a:noFill/>
          </a:ln>
        </p:spPr>
        <p:txBody>
          <a:bodyPr wrap="square" rtlCol="0">
            <a:spAutoFit/>
          </a:bodyPr>
          <a:lstStyle/>
          <a:p>
            <a:r>
              <a:rPr lang="en-US" sz="13800" spc="300" dirty="0">
                <a:ln w="50800">
                  <a:gradFill>
                    <a:gsLst>
                      <a:gs pos="62000">
                        <a:srgbClr val="3086FF"/>
                      </a:gs>
                      <a:gs pos="94000">
                        <a:srgbClr val="0DBB63">
                          <a:lumMod val="99000"/>
                        </a:srgbClr>
                      </a:gs>
                      <a:gs pos="51000">
                        <a:srgbClr val="FFB80C"/>
                      </a:gs>
                      <a:gs pos="0">
                        <a:srgbClr val="FF4640"/>
                      </a:gs>
                    </a:gsLst>
                    <a:lin ang="5400000" scaled="1"/>
                  </a:gradFill>
                </a:ln>
                <a:noFill/>
                <a:latin typeface="Google Sans" pitchFamily="2" charset="0"/>
                <a:ea typeface="Google Sans" pitchFamily="2" charset="0"/>
                <a:cs typeface="Google Sans" pitchFamily="2" charset="0"/>
              </a:rPr>
              <a:t>Google</a:t>
            </a:r>
          </a:p>
        </p:txBody>
      </p:sp>
      <p:pic>
        <p:nvPicPr>
          <p:cNvPr id="6" name="Picture 5" descr="File:Google Gemini icon 2025.svg - Wikimedia Commons">
            <a:extLst>
              <a:ext uri="{FF2B5EF4-FFF2-40B4-BE49-F238E27FC236}">
                <a16:creationId xmlns:a16="http://schemas.microsoft.com/office/drawing/2014/main" id="{5DF8BF62-1D32-706E-69EE-53DF63DB4A16}"/>
              </a:ext>
            </a:extLst>
          </p:cNvPr>
          <p:cNvPicPr>
            <a:picLocks noChangeAspect="1"/>
          </p:cNvPicPr>
          <p:nvPr/>
        </p:nvPicPr>
        <p:blipFill>
          <a:blip r:embed="rId3"/>
          <a:stretch>
            <a:fillRect/>
          </a:stretch>
        </p:blipFill>
        <p:spPr>
          <a:xfrm>
            <a:off x="-3078451" y="-1256133"/>
            <a:ext cx="3078451" cy="3078451"/>
          </a:xfrm>
          <a:prstGeom prst="rect">
            <a:avLst/>
          </a:prstGeom>
        </p:spPr>
      </p:pic>
      <p:sp>
        <p:nvSpPr>
          <p:cNvPr id="7" name="Rectangle 6">
            <a:extLst>
              <a:ext uri="{FF2B5EF4-FFF2-40B4-BE49-F238E27FC236}">
                <a16:creationId xmlns:a16="http://schemas.microsoft.com/office/drawing/2014/main" id="{833B4C1C-4BBE-DC70-1F7C-53F961A3F122}"/>
              </a:ext>
            </a:extLst>
          </p:cNvPr>
          <p:cNvSpPr/>
          <p:nvPr/>
        </p:nvSpPr>
        <p:spPr>
          <a:xfrm>
            <a:off x="-8959706" y="2819692"/>
            <a:ext cx="9150205" cy="2215991"/>
          </a:xfrm>
          <a:prstGeom prst="rect">
            <a:avLst/>
          </a:prstGeom>
          <a:noFill/>
        </p:spPr>
        <p:txBody>
          <a:bodyPr wrap="square" lIns="91440" tIns="45720" rIns="91440" bIns="45720">
            <a:spAutoFit/>
          </a:bodyPr>
          <a:lstStyle/>
          <a:p>
            <a:pPr algn="ctr"/>
            <a:r>
              <a:rPr lang="en-US" sz="13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Google Sans" pitchFamily="2" charset="0"/>
                <a:ea typeface="Google Sans" pitchFamily="2" charset="0"/>
                <a:cs typeface="Google Sans" pitchFamily="2" charset="0"/>
              </a:rPr>
              <a:t>$422.49 B</a:t>
            </a:r>
            <a:endParaRPr lang="en-US" sz="13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Tree>
    <p:extLst>
      <p:ext uri="{BB962C8B-B14F-4D97-AF65-F5344CB8AC3E}">
        <p14:creationId xmlns:p14="http://schemas.microsoft.com/office/powerpoint/2010/main" val="40179043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100000">
              <a:schemeClr val="accent1">
                <a:lumMod val="5000"/>
                <a:lumOff val="95000"/>
              </a:schemeClr>
            </a:gs>
            <a:gs pos="70000">
              <a:srgbClr val="91B1E8"/>
            </a:gs>
            <a:gs pos="30000">
              <a:srgbClr val="7CA5EB"/>
            </a:gs>
            <a:gs pos="0">
              <a:srgbClr val="4285F4"/>
            </a:gs>
          </a:gsLst>
          <a:lin ang="5400000" scaled="1"/>
        </a:gradFill>
        <a:effectLst/>
      </p:bgPr>
    </p:bg>
    <p:spTree>
      <p:nvGrpSpPr>
        <p:cNvPr id="1" name="">
          <a:extLst>
            <a:ext uri="{FF2B5EF4-FFF2-40B4-BE49-F238E27FC236}">
              <a16:creationId xmlns:a16="http://schemas.microsoft.com/office/drawing/2014/main" id="{9C06830C-2DDF-0628-D676-C19F70A468F8}"/>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118ED37F-4442-15E1-093D-C37E4EA050C9}"/>
              </a:ext>
            </a:extLst>
          </p:cNvPr>
          <p:cNvSpPr txBox="1"/>
          <p:nvPr/>
        </p:nvSpPr>
        <p:spPr>
          <a:xfrm>
            <a:off x="-2257425" y="-9230951"/>
            <a:ext cx="16398643" cy="2215991"/>
          </a:xfrm>
          <a:prstGeom prst="rect">
            <a:avLst/>
          </a:prstGeom>
          <a:noFill/>
          <a:ln>
            <a:noFill/>
          </a:ln>
        </p:spPr>
        <p:txBody>
          <a:bodyPr wrap="square" rtlCol="0">
            <a:spAutoFit/>
          </a:bodyPr>
          <a:lstStyle/>
          <a:p>
            <a:r>
              <a:rPr lang="en-US" sz="13800" spc="300" dirty="0">
                <a:ln w="50800">
                  <a:gradFill>
                    <a:gsLst>
                      <a:gs pos="62000">
                        <a:srgbClr val="3086FF"/>
                      </a:gs>
                      <a:gs pos="94000">
                        <a:srgbClr val="0DBB63">
                          <a:lumMod val="99000"/>
                        </a:srgbClr>
                      </a:gs>
                      <a:gs pos="51000">
                        <a:srgbClr val="FFB80C"/>
                      </a:gs>
                      <a:gs pos="0">
                        <a:srgbClr val="FF4640"/>
                      </a:gs>
                    </a:gsLst>
                    <a:lin ang="5400000" scaled="1"/>
                  </a:gradFill>
                </a:ln>
                <a:noFill/>
                <a:latin typeface="Google Sans" pitchFamily="2" charset="0"/>
                <a:ea typeface="Google Sans" pitchFamily="2" charset="0"/>
                <a:cs typeface="Google Sans" pitchFamily="2" charset="0"/>
              </a:rPr>
              <a:t>Google</a:t>
            </a:r>
          </a:p>
        </p:txBody>
      </p:sp>
      <p:pic>
        <p:nvPicPr>
          <p:cNvPr id="4" name="Picture 3" descr="File:Google Favicon 2025.svg - Wikimedia Commons">
            <a:extLst>
              <a:ext uri="{FF2B5EF4-FFF2-40B4-BE49-F238E27FC236}">
                <a16:creationId xmlns:a16="http://schemas.microsoft.com/office/drawing/2014/main" id="{83C68D97-51A9-40DC-E67B-645FD977BBDD}"/>
              </a:ext>
            </a:extLst>
          </p:cNvPr>
          <p:cNvPicPr>
            <a:picLocks noChangeAspect="1"/>
          </p:cNvPicPr>
          <p:nvPr/>
        </p:nvPicPr>
        <p:blipFill>
          <a:blip r:embed="rId3"/>
          <a:stretch>
            <a:fillRect/>
          </a:stretch>
        </p:blipFill>
        <p:spPr>
          <a:xfrm>
            <a:off x="-3593455" y="-18117154"/>
            <a:ext cx="16071205" cy="16456905"/>
          </a:xfrm>
          <a:prstGeom prst="rect">
            <a:avLst/>
          </a:prstGeom>
          <a:ln>
            <a:noFill/>
          </a:ln>
        </p:spPr>
      </p:pic>
      <p:sp>
        <p:nvSpPr>
          <p:cNvPr id="11" name="TextBox 10">
            <a:extLst>
              <a:ext uri="{FF2B5EF4-FFF2-40B4-BE49-F238E27FC236}">
                <a16:creationId xmlns:a16="http://schemas.microsoft.com/office/drawing/2014/main" id="{20AEC12D-1989-B39B-D461-2D99667936DD}"/>
              </a:ext>
            </a:extLst>
          </p:cNvPr>
          <p:cNvSpPr txBox="1"/>
          <p:nvPr/>
        </p:nvSpPr>
        <p:spPr>
          <a:xfrm>
            <a:off x="-2333625" y="-11081045"/>
            <a:ext cx="16398643" cy="2215991"/>
          </a:xfrm>
          <a:prstGeom prst="rect">
            <a:avLst/>
          </a:prstGeom>
          <a:noFill/>
          <a:ln>
            <a:noFill/>
          </a:ln>
        </p:spPr>
        <p:txBody>
          <a:bodyPr wrap="square" rtlCol="0">
            <a:spAutoFit/>
          </a:bodyPr>
          <a:lstStyle/>
          <a:p>
            <a:r>
              <a:rPr lang="en-US" sz="13800" spc="300" dirty="0">
                <a:ln w="50800">
                  <a:gradFill>
                    <a:gsLst>
                      <a:gs pos="62000">
                        <a:srgbClr val="3086FF"/>
                      </a:gs>
                      <a:gs pos="94000">
                        <a:srgbClr val="0DBB63">
                          <a:lumMod val="99000"/>
                        </a:srgbClr>
                      </a:gs>
                      <a:gs pos="51000">
                        <a:srgbClr val="FFB80C"/>
                      </a:gs>
                      <a:gs pos="0">
                        <a:srgbClr val="FF4640"/>
                      </a:gs>
                    </a:gsLst>
                    <a:lin ang="5400000" scaled="1"/>
                  </a:gradFill>
                </a:ln>
                <a:noFill/>
                <a:latin typeface="Google Sans" pitchFamily="2" charset="0"/>
                <a:ea typeface="Google Sans" pitchFamily="2" charset="0"/>
                <a:cs typeface="Google Sans" pitchFamily="2" charset="0"/>
              </a:rPr>
              <a:t>Google</a:t>
            </a:r>
          </a:p>
        </p:txBody>
      </p:sp>
      <p:sp>
        <p:nvSpPr>
          <p:cNvPr id="12" name="TextBox 11">
            <a:extLst>
              <a:ext uri="{FF2B5EF4-FFF2-40B4-BE49-F238E27FC236}">
                <a16:creationId xmlns:a16="http://schemas.microsoft.com/office/drawing/2014/main" id="{28398A64-EF91-19BE-0B37-BC9C0DF8CAF7}"/>
              </a:ext>
            </a:extLst>
          </p:cNvPr>
          <p:cNvSpPr txBox="1"/>
          <p:nvPr/>
        </p:nvSpPr>
        <p:spPr>
          <a:xfrm>
            <a:off x="-2257425" y="-7014960"/>
            <a:ext cx="16398643" cy="2215991"/>
          </a:xfrm>
          <a:prstGeom prst="rect">
            <a:avLst/>
          </a:prstGeom>
          <a:noFill/>
          <a:ln>
            <a:noFill/>
          </a:ln>
        </p:spPr>
        <p:txBody>
          <a:bodyPr wrap="square" rtlCol="0">
            <a:spAutoFit/>
          </a:bodyPr>
          <a:lstStyle/>
          <a:p>
            <a:r>
              <a:rPr lang="en-US" sz="13800" spc="300" dirty="0">
                <a:ln w="50800">
                  <a:gradFill>
                    <a:gsLst>
                      <a:gs pos="62000">
                        <a:srgbClr val="3086FF"/>
                      </a:gs>
                      <a:gs pos="94000">
                        <a:srgbClr val="0DBB63">
                          <a:lumMod val="99000"/>
                        </a:srgbClr>
                      </a:gs>
                      <a:gs pos="51000">
                        <a:srgbClr val="FFB80C"/>
                      </a:gs>
                      <a:gs pos="0">
                        <a:srgbClr val="FF4640"/>
                      </a:gs>
                    </a:gsLst>
                    <a:lin ang="5400000" scaled="1"/>
                  </a:gradFill>
                </a:ln>
                <a:noFill/>
                <a:latin typeface="Google Sans" pitchFamily="2" charset="0"/>
                <a:ea typeface="Google Sans" pitchFamily="2" charset="0"/>
                <a:cs typeface="Google Sans" pitchFamily="2" charset="0"/>
              </a:rPr>
              <a:t>Google</a:t>
            </a:r>
          </a:p>
        </p:txBody>
      </p:sp>
      <p:pic>
        <p:nvPicPr>
          <p:cNvPr id="9" name="Picture 8" descr="File:Google Gemini icon 2025.svg - Wikimedia Commons">
            <a:extLst>
              <a:ext uri="{FF2B5EF4-FFF2-40B4-BE49-F238E27FC236}">
                <a16:creationId xmlns:a16="http://schemas.microsoft.com/office/drawing/2014/main" id="{D785DD33-46AC-4B7A-8CA3-B4D8181B504B}"/>
              </a:ext>
            </a:extLst>
          </p:cNvPr>
          <p:cNvPicPr>
            <a:picLocks noChangeAspect="1"/>
          </p:cNvPicPr>
          <p:nvPr/>
        </p:nvPicPr>
        <p:blipFill>
          <a:blip r:embed="rId4"/>
          <a:stretch>
            <a:fillRect/>
          </a:stretch>
        </p:blipFill>
        <p:spPr>
          <a:xfrm>
            <a:off x="5218178" y="186510"/>
            <a:ext cx="1755643" cy="1755643"/>
          </a:xfrm>
          <a:prstGeom prst="rect">
            <a:avLst/>
          </a:prstGeom>
        </p:spPr>
      </p:pic>
      <p:sp>
        <p:nvSpPr>
          <p:cNvPr id="14" name="Rectangle 13">
            <a:extLst>
              <a:ext uri="{FF2B5EF4-FFF2-40B4-BE49-F238E27FC236}">
                <a16:creationId xmlns:a16="http://schemas.microsoft.com/office/drawing/2014/main" id="{1F3A051A-8E10-BB9A-EAE6-7779F52CCF9E}"/>
              </a:ext>
            </a:extLst>
          </p:cNvPr>
          <p:cNvSpPr/>
          <p:nvPr/>
        </p:nvSpPr>
        <p:spPr>
          <a:xfrm>
            <a:off x="1698769" y="2976860"/>
            <a:ext cx="9150205" cy="2215991"/>
          </a:xfrm>
          <a:prstGeom prst="rect">
            <a:avLst/>
          </a:prstGeom>
          <a:noFill/>
        </p:spPr>
        <p:txBody>
          <a:bodyPr wrap="square" lIns="91440" tIns="45720" rIns="91440" bIns="45720">
            <a:spAutoFit/>
          </a:bodyPr>
          <a:lstStyle/>
          <a:p>
            <a:pPr algn="ctr"/>
            <a:r>
              <a:rPr lang="en-US" sz="13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Google Sans" pitchFamily="2" charset="0"/>
                <a:ea typeface="Google Sans" pitchFamily="2" charset="0"/>
                <a:cs typeface="Google Sans" pitchFamily="2" charset="0"/>
              </a:rPr>
              <a:t>$422.49 B</a:t>
            </a:r>
            <a:endParaRPr lang="en-US" sz="13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3" name="TextBox 2">
            <a:extLst>
              <a:ext uri="{FF2B5EF4-FFF2-40B4-BE49-F238E27FC236}">
                <a16:creationId xmlns:a16="http://schemas.microsoft.com/office/drawing/2014/main" id="{03D6D6B2-ED82-87D3-A9E2-FD0DD651DD0B}"/>
              </a:ext>
            </a:extLst>
          </p:cNvPr>
          <p:cNvSpPr txBox="1"/>
          <p:nvPr/>
        </p:nvSpPr>
        <p:spPr>
          <a:xfrm>
            <a:off x="4343401" y="6394596"/>
            <a:ext cx="4343400" cy="369332"/>
          </a:xfrm>
          <a:prstGeom prst="rect">
            <a:avLst/>
          </a:prstGeom>
          <a:noFill/>
        </p:spPr>
        <p:txBody>
          <a:bodyPr wrap="square" rtlCol="0">
            <a:spAutoFit/>
          </a:bodyPr>
          <a:lstStyle/>
          <a:p>
            <a:r>
              <a:rPr lang="en-US" dirty="0"/>
              <a:t>*</a:t>
            </a:r>
            <a:r>
              <a:rPr lang="en-US" i="1" dirty="0"/>
              <a:t>Data from </a:t>
            </a:r>
            <a:r>
              <a:rPr lang="en-US" i="1" dirty="0">
                <a:hlinkClick r:id="rId5"/>
              </a:rPr>
              <a:t>Companies Market Cap</a:t>
            </a:r>
            <a:endParaRPr lang="en-US" dirty="0"/>
          </a:p>
        </p:txBody>
      </p:sp>
      <p:sp>
        <p:nvSpPr>
          <p:cNvPr id="5" name="TextBox 4">
            <a:extLst>
              <a:ext uri="{FF2B5EF4-FFF2-40B4-BE49-F238E27FC236}">
                <a16:creationId xmlns:a16="http://schemas.microsoft.com/office/drawing/2014/main" id="{62CF6860-98D0-F1F8-EB9A-0988E76A89F8}"/>
              </a:ext>
            </a:extLst>
          </p:cNvPr>
          <p:cNvSpPr txBox="1"/>
          <p:nvPr/>
        </p:nvSpPr>
        <p:spPr>
          <a:xfrm>
            <a:off x="3990861" y="-922252"/>
            <a:ext cx="4343400" cy="646331"/>
          </a:xfrm>
          <a:prstGeom prst="rect">
            <a:avLst/>
          </a:prstGeom>
          <a:noFill/>
        </p:spPr>
        <p:txBody>
          <a:bodyPr wrap="square" rtlCol="0">
            <a:spAutoFit/>
          </a:bodyPr>
          <a:lstStyle/>
          <a:p>
            <a:r>
              <a:rPr lang="en-US" dirty="0"/>
              <a:t>*</a:t>
            </a:r>
            <a:r>
              <a:rPr lang="en-US" i="1" dirty="0"/>
              <a:t>From </a:t>
            </a:r>
            <a:r>
              <a:rPr lang="en-US" i="1" dirty="0">
                <a:hlinkClick r:id="rId6"/>
              </a:rPr>
              <a:t>FIU Business</a:t>
            </a:r>
            <a:r>
              <a:rPr lang="en-US" i="1" dirty="0"/>
              <a:t>, “The Competitive advantage of using AI in business”</a:t>
            </a:r>
            <a:endParaRPr lang="en-US" dirty="0"/>
          </a:p>
        </p:txBody>
      </p:sp>
      <p:pic>
        <p:nvPicPr>
          <p:cNvPr id="6" name="Content Placeholder 4">
            <a:extLst>
              <a:ext uri="{FF2B5EF4-FFF2-40B4-BE49-F238E27FC236}">
                <a16:creationId xmlns:a16="http://schemas.microsoft.com/office/drawing/2014/main" id="{78EF133B-3FFF-3D53-F9D8-46BAF31766E0}"/>
              </a:ext>
            </a:extLst>
          </p:cNvPr>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flipH="1">
            <a:off x="6594536" y="-2661179"/>
            <a:ext cx="45719" cy="45719"/>
          </a:xfrm>
          <a:prstGeom prst="rect">
            <a:avLst/>
          </a:prstGeom>
        </p:spPr>
      </p:pic>
      <p:sp>
        <p:nvSpPr>
          <p:cNvPr id="7" name="Oval 6">
            <a:extLst>
              <a:ext uri="{FF2B5EF4-FFF2-40B4-BE49-F238E27FC236}">
                <a16:creationId xmlns:a16="http://schemas.microsoft.com/office/drawing/2014/main" id="{40DAD254-BE56-7996-3E30-593B047AB050}"/>
              </a:ext>
            </a:extLst>
          </p:cNvPr>
          <p:cNvSpPr/>
          <p:nvPr/>
        </p:nvSpPr>
        <p:spPr>
          <a:xfrm>
            <a:off x="3330217" y="-6033202"/>
            <a:ext cx="4832574" cy="4832574"/>
          </a:xfrm>
          <a:prstGeom prst="ellipse">
            <a:avLst/>
          </a:prstGeom>
          <a:blipFill>
            <a:blip r:embed="rId8"/>
            <a:tile tx="0" ty="0" sx="100000" sy="100000" flip="none" algn="tl"/>
          </a:blip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F1631499-6E36-2BAF-A4FA-51F226DBD93C}"/>
              </a:ext>
            </a:extLst>
          </p:cNvPr>
          <p:cNvCxnSpPr>
            <a:stCxn id="7" idx="0"/>
            <a:endCxn id="7" idx="4"/>
          </p:cNvCxnSpPr>
          <p:nvPr/>
        </p:nvCxnSpPr>
        <p:spPr>
          <a:xfrm>
            <a:off x="5746504" y="-6033202"/>
            <a:ext cx="0" cy="4832574"/>
          </a:xfrm>
          <a:prstGeom prst="line">
            <a:avLst/>
          </a:prstGeom>
          <a:ln w="73025"/>
        </p:spPr>
        <p:style>
          <a:lnRef idx="3">
            <a:schemeClr val="accent4"/>
          </a:lnRef>
          <a:fillRef idx="0">
            <a:schemeClr val="accent4"/>
          </a:fillRef>
          <a:effectRef idx="2">
            <a:schemeClr val="accent4"/>
          </a:effectRef>
          <a:fontRef idx="minor">
            <a:schemeClr val="tx1"/>
          </a:fontRef>
        </p:style>
      </p:cxnSp>
      <p:cxnSp>
        <p:nvCxnSpPr>
          <p:cNvPr id="13" name="Straight Connector 12">
            <a:extLst>
              <a:ext uri="{FF2B5EF4-FFF2-40B4-BE49-F238E27FC236}">
                <a16:creationId xmlns:a16="http://schemas.microsoft.com/office/drawing/2014/main" id="{9A041C5A-5F61-A127-6023-CE6140135DF8}"/>
              </a:ext>
            </a:extLst>
          </p:cNvPr>
          <p:cNvCxnSpPr>
            <a:cxnSpLocks/>
            <a:stCxn id="7" idx="2"/>
            <a:endCxn id="7" idx="6"/>
          </p:cNvCxnSpPr>
          <p:nvPr/>
        </p:nvCxnSpPr>
        <p:spPr>
          <a:xfrm>
            <a:off x="3330217" y="-3616915"/>
            <a:ext cx="4832574" cy="0"/>
          </a:xfrm>
          <a:prstGeom prst="line">
            <a:avLst/>
          </a:prstGeom>
          <a:ln w="73025"/>
        </p:spPr>
        <p:style>
          <a:lnRef idx="3">
            <a:schemeClr val="accent4"/>
          </a:lnRef>
          <a:fillRef idx="0">
            <a:schemeClr val="accent4"/>
          </a:fillRef>
          <a:effectRef idx="2">
            <a:schemeClr val="accent4"/>
          </a:effectRef>
          <a:fontRef idx="minor">
            <a:schemeClr val="tx1"/>
          </a:fontRef>
        </p:style>
      </p:cxnSp>
      <mc:AlternateContent xmlns:mc="http://schemas.openxmlformats.org/markup-compatibility/2006" xmlns:pslz="http://schemas.microsoft.com/office/powerpoint/2016/slidezoom">
        <mc:Choice Requires="pslz">
          <p:graphicFrame>
            <p:nvGraphicFramePr>
              <p:cNvPr id="15" name="Slide Zoom 14">
                <a:extLst>
                  <a:ext uri="{FF2B5EF4-FFF2-40B4-BE49-F238E27FC236}">
                    <a16:creationId xmlns:a16="http://schemas.microsoft.com/office/drawing/2014/main" id="{11312A4E-B3F0-872A-8469-7C49E181A396}"/>
                  </a:ext>
                </a:extLst>
              </p:cNvPr>
              <p:cNvGraphicFramePr>
                <a:graphicFrameLocks noChangeAspect="1"/>
              </p:cNvGraphicFramePr>
              <p:nvPr>
                <p:extLst>
                  <p:ext uri="{D42A27DB-BD31-4B8C-83A1-F6EECF244321}">
                    <p14:modId xmlns:p14="http://schemas.microsoft.com/office/powerpoint/2010/main" val="952484829"/>
                  </p:ext>
                </p:extLst>
              </p:nvPr>
            </p:nvGraphicFramePr>
            <p:xfrm rot="10800000" flipV="1">
              <a:off x="5746504" y="-3683456"/>
              <a:ext cx="81278" cy="45719"/>
            </p:xfrm>
            <a:graphic>
              <a:graphicData uri="http://schemas.microsoft.com/office/powerpoint/2016/slidezoom">
                <pslz:sldZm>
                  <pslz:sldZmObj sldId="292" cId="3002349766">
                    <pslz:zmPr id="{674D9D61-C0A0-4405-B183-00F3503C4020}" returnToParent="0" transitionDur="1000">
                      <p166:blipFill xmlns:p166="http://schemas.microsoft.com/office/powerpoint/2016/6/main">
                        <a:blip r:embed="rId9"/>
                        <a:stretch>
                          <a:fillRect/>
                        </a:stretch>
                      </p166:blipFill>
                      <p166:spPr xmlns:p166="http://schemas.microsoft.com/office/powerpoint/2016/6/main">
                        <a:xfrm rot="10800000" flipV="1">
                          <a:off x="0" y="0"/>
                          <a:ext cx="81278" cy="45719"/>
                        </a:xfrm>
                        <a:prstGeom prst="rect">
                          <a:avLst/>
                        </a:prstGeom>
                        <a:ln w="3175">
                          <a:solidFill>
                            <a:prstClr val="ltGray"/>
                          </a:solidFill>
                        </a:ln>
                      </p166:spPr>
                    </pslz:zmPr>
                  </pslz:sldZmObj>
                </pslz:sldZm>
              </a:graphicData>
            </a:graphic>
          </p:graphicFrame>
        </mc:Choice>
        <mc:Fallback xmlns="">
          <p:pic>
            <p:nvPicPr>
              <p:cNvPr id="15" name="Slide Zoom 14">
                <a:hlinkClick r:id="rId10" action="ppaction://hlinksldjump"/>
                <a:extLst>
                  <a:ext uri="{FF2B5EF4-FFF2-40B4-BE49-F238E27FC236}">
                    <a16:creationId xmlns:a16="http://schemas.microsoft.com/office/drawing/2014/main" id="{11312A4E-B3F0-872A-8469-7C49E181A396}"/>
                  </a:ext>
                </a:extLst>
              </p:cNvPr>
              <p:cNvPicPr>
                <a:picLocks noGrp="1" noRot="1" noChangeAspect="1" noMove="1" noResize="1" noEditPoints="1" noAdjustHandles="1" noChangeArrowheads="1" noChangeShapeType="1"/>
              </p:cNvPicPr>
              <p:nvPr/>
            </p:nvPicPr>
            <p:blipFill>
              <a:blip r:embed="rId11"/>
              <a:stretch>
                <a:fillRect/>
              </a:stretch>
            </p:blipFill>
            <p:spPr>
              <a:xfrm rot="10800000" flipV="1">
                <a:off x="5746504" y="-3683456"/>
                <a:ext cx="81278" cy="45719"/>
              </a:xfrm>
              <a:prstGeom prst="rect">
                <a:avLst/>
              </a:prstGeom>
              <a:ln w="3175">
                <a:solidFill>
                  <a:prstClr val="ltGray"/>
                </a:solidFill>
              </a:ln>
            </p:spPr>
          </p:pic>
        </mc:Fallback>
      </mc:AlternateContent>
      <p:sp>
        <p:nvSpPr>
          <p:cNvPr id="16" name="TextBox 15">
            <a:extLst>
              <a:ext uri="{FF2B5EF4-FFF2-40B4-BE49-F238E27FC236}">
                <a16:creationId xmlns:a16="http://schemas.microsoft.com/office/drawing/2014/main" id="{C259E37E-71AD-1FD8-0568-453ADCDB05B3}"/>
              </a:ext>
            </a:extLst>
          </p:cNvPr>
          <p:cNvSpPr txBox="1"/>
          <p:nvPr/>
        </p:nvSpPr>
        <p:spPr>
          <a:xfrm>
            <a:off x="3812929" y="-4679865"/>
            <a:ext cx="1933575" cy="707886"/>
          </a:xfrm>
          <a:prstGeom prst="rect">
            <a:avLst/>
          </a:prstGeom>
          <a:noFill/>
        </p:spPr>
        <p:txBody>
          <a:bodyPr wrap="square" rtlCol="0">
            <a:spAutoFit/>
          </a:bodyPr>
          <a:lstStyle/>
          <a:p>
            <a:r>
              <a:rPr lang="en-US" sz="2000" dirty="0">
                <a:latin typeface="Segoe UI Variable Text Semibold" pitchFamily="2" charset="0"/>
              </a:rPr>
              <a:t>Not only for big businesses</a:t>
            </a:r>
          </a:p>
        </p:txBody>
      </p:sp>
      <p:sp>
        <p:nvSpPr>
          <p:cNvPr id="17" name="TextBox 16">
            <a:extLst>
              <a:ext uri="{FF2B5EF4-FFF2-40B4-BE49-F238E27FC236}">
                <a16:creationId xmlns:a16="http://schemas.microsoft.com/office/drawing/2014/main" id="{7B05FF2A-6446-015C-9229-8C9C8C5213DC}"/>
              </a:ext>
            </a:extLst>
          </p:cNvPr>
          <p:cNvSpPr txBox="1"/>
          <p:nvPr/>
        </p:nvSpPr>
        <p:spPr>
          <a:xfrm>
            <a:off x="6229216" y="-4795700"/>
            <a:ext cx="1933575" cy="1015663"/>
          </a:xfrm>
          <a:prstGeom prst="rect">
            <a:avLst/>
          </a:prstGeom>
          <a:noFill/>
        </p:spPr>
        <p:txBody>
          <a:bodyPr wrap="square" rtlCol="0">
            <a:spAutoFit/>
          </a:bodyPr>
          <a:lstStyle/>
          <a:p>
            <a:r>
              <a:rPr lang="en-US" sz="2000" dirty="0">
                <a:latin typeface="Segoe UI Variable Text Semibold" pitchFamily="2" charset="0"/>
              </a:rPr>
              <a:t>Allows for Market Research</a:t>
            </a:r>
          </a:p>
        </p:txBody>
      </p:sp>
      <p:sp>
        <p:nvSpPr>
          <p:cNvPr id="18" name="TextBox 17">
            <a:extLst>
              <a:ext uri="{FF2B5EF4-FFF2-40B4-BE49-F238E27FC236}">
                <a16:creationId xmlns:a16="http://schemas.microsoft.com/office/drawing/2014/main" id="{B481A464-1728-26BE-0F0A-0BBEC1EE59BC}"/>
              </a:ext>
            </a:extLst>
          </p:cNvPr>
          <p:cNvSpPr txBox="1"/>
          <p:nvPr/>
        </p:nvSpPr>
        <p:spPr>
          <a:xfrm>
            <a:off x="3933607" y="-3083121"/>
            <a:ext cx="1933575" cy="707886"/>
          </a:xfrm>
          <a:prstGeom prst="rect">
            <a:avLst/>
          </a:prstGeom>
          <a:noFill/>
        </p:spPr>
        <p:txBody>
          <a:bodyPr wrap="square" rtlCol="0">
            <a:spAutoFit/>
          </a:bodyPr>
          <a:lstStyle/>
          <a:p>
            <a:r>
              <a:rPr lang="en-US" sz="2000" dirty="0">
                <a:latin typeface="Segoe UI Variable Text Semibold" pitchFamily="2" charset="0"/>
              </a:rPr>
              <a:t>Operational Efficiency</a:t>
            </a:r>
          </a:p>
        </p:txBody>
      </p:sp>
      <p:sp>
        <p:nvSpPr>
          <p:cNvPr id="19" name="TextBox 18">
            <a:extLst>
              <a:ext uri="{FF2B5EF4-FFF2-40B4-BE49-F238E27FC236}">
                <a16:creationId xmlns:a16="http://schemas.microsoft.com/office/drawing/2014/main" id="{F78B69C4-3ACD-452B-1D09-27C29E964BC0}"/>
              </a:ext>
            </a:extLst>
          </p:cNvPr>
          <p:cNvSpPr txBox="1"/>
          <p:nvPr/>
        </p:nvSpPr>
        <p:spPr>
          <a:xfrm>
            <a:off x="5987860" y="-3019696"/>
            <a:ext cx="1933575" cy="1015663"/>
          </a:xfrm>
          <a:prstGeom prst="rect">
            <a:avLst/>
          </a:prstGeom>
          <a:noFill/>
        </p:spPr>
        <p:txBody>
          <a:bodyPr wrap="square" rtlCol="0">
            <a:spAutoFit/>
          </a:bodyPr>
          <a:lstStyle/>
          <a:p>
            <a:r>
              <a:rPr lang="en-US" sz="2000" dirty="0">
                <a:latin typeface="Segoe UI Variable Text Semibold" pitchFamily="2" charset="0"/>
              </a:rPr>
              <a:t>Create a better  customer interface.</a:t>
            </a:r>
          </a:p>
        </p:txBody>
      </p:sp>
      <p:sp>
        <p:nvSpPr>
          <p:cNvPr id="20" name="Oval 19">
            <a:extLst>
              <a:ext uri="{FF2B5EF4-FFF2-40B4-BE49-F238E27FC236}">
                <a16:creationId xmlns:a16="http://schemas.microsoft.com/office/drawing/2014/main" id="{8388BF07-B3E1-06A5-E680-2266B91AB4D6}"/>
              </a:ext>
            </a:extLst>
          </p:cNvPr>
          <p:cNvSpPr/>
          <p:nvPr/>
        </p:nvSpPr>
        <p:spPr>
          <a:xfrm>
            <a:off x="3555287" y="-6133497"/>
            <a:ext cx="1035437" cy="1035437"/>
          </a:xfrm>
          <a:prstGeom prst="ellipse">
            <a:avLst/>
          </a:prstGeom>
          <a:solidFill>
            <a:srgbClr val="A1B3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p>
        </p:txBody>
      </p:sp>
      <p:pic>
        <p:nvPicPr>
          <p:cNvPr id="21" name="Graphic 20" descr="Bank with solid fill">
            <a:extLst>
              <a:ext uri="{FF2B5EF4-FFF2-40B4-BE49-F238E27FC236}">
                <a16:creationId xmlns:a16="http://schemas.microsoft.com/office/drawing/2014/main" id="{12AAD84E-B192-B5E6-48A9-39CB5534111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689704" y="-6033202"/>
            <a:ext cx="766901" cy="766901"/>
          </a:xfrm>
          <a:prstGeom prst="rect">
            <a:avLst/>
          </a:prstGeom>
        </p:spPr>
      </p:pic>
      <p:sp>
        <p:nvSpPr>
          <p:cNvPr id="22" name="Oval 21">
            <a:extLst>
              <a:ext uri="{FF2B5EF4-FFF2-40B4-BE49-F238E27FC236}">
                <a16:creationId xmlns:a16="http://schemas.microsoft.com/office/drawing/2014/main" id="{9EF2FE50-7632-BAE0-0BAC-89EDD8335ABA}"/>
              </a:ext>
            </a:extLst>
          </p:cNvPr>
          <p:cNvSpPr/>
          <p:nvPr/>
        </p:nvSpPr>
        <p:spPr>
          <a:xfrm>
            <a:off x="6850991" y="-6183297"/>
            <a:ext cx="1035437" cy="1035437"/>
          </a:xfrm>
          <a:prstGeom prst="ellipse">
            <a:avLst/>
          </a:prstGeom>
          <a:solidFill>
            <a:srgbClr val="F4B18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p>
        </p:txBody>
      </p:sp>
      <p:pic>
        <p:nvPicPr>
          <p:cNvPr id="23" name="Graphic 22" descr="Research with solid fill">
            <a:extLst>
              <a:ext uri="{FF2B5EF4-FFF2-40B4-BE49-F238E27FC236}">
                <a16:creationId xmlns:a16="http://schemas.microsoft.com/office/drawing/2014/main" id="{7440A8F5-0470-5338-147B-AFCDF8620F6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007011" y="-6029910"/>
            <a:ext cx="763609" cy="763609"/>
          </a:xfrm>
          <a:prstGeom prst="rect">
            <a:avLst/>
          </a:prstGeom>
        </p:spPr>
      </p:pic>
      <p:sp>
        <p:nvSpPr>
          <p:cNvPr id="24" name="Oval 23">
            <a:extLst>
              <a:ext uri="{FF2B5EF4-FFF2-40B4-BE49-F238E27FC236}">
                <a16:creationId xmlns:a16="http://schemas.microsoft.com/office/drawing/2014/main" id="{806C6FBA-8E02-49EE-C289-135412E8B715}"/>
              </a:ext>
            </a:extLst>
          </p:cNvPr>
          <p:cNvSpPr/>
          <p:nvPr/>
        </p:nvSpPr>
        <p:spPr>
          <a:xfrm>
            <a:off x="3555287" y="-2085970"/>
            <a:ext cx="1035437" cy="1035437"/>
          </a:xfrm>
          <a:prstGeom prst="ellipse">
            <a:avLst/>
          </a:prstGeom>
          <a:solidFill>
            <a:srgbClr val="F678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p>
        </p:txBody>
      </p:sp>
      <p:pic>
        <p:nvPicPr>
          <p:cNvPr id="25" name="Graphic 24" descr="Arrow circle with solid fill">
            <a:extLst>
              <a:ext uri="{FF2B5EF4-FFF2-40B4-BE49-F238E27FC236}">
                <a16:creationId xmlns:a16="http://schemas.microsoft.com/office/drawing/2014/main" id="{B6C7193D-1E46-574C-D967-10395A0C013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647769" y="-1985145"/>
            <a:ext cx="848657" cy="848657"/>
          </a:xfrm>
          <a:prstGeom prst="rect">
            <a:avLst/>
          </a:prstGeom>
        </p:spPr>
      </p:pic>
      <p:sp>
        <p:nvSpPr>
          <p:cNvPr id="26" name="Oval 25">
            <a:extLst>
              <a:ext uri="{FF2B5EF4-FFF2-40B4-BE49-F238E27FC236}">
                <a16:creationId xmlns:a16="http://schemas.microsoft.com/office/drawing/2014/main" id="{78AAA163-E6F9-D037-19D1-E2C4BF65B343}"/>
              </a:ext>
            </a:extLst>
          </p:cNvPr>
          <p:cNvSpPr/>
          <p:nvPr/>
        </p:nvSpPr>
        <p:spPr>
          <a:xfrm>
            <a:off x="6850991" y="-2107784"/>
            <a:ext cx="1035437" cy="1035437"/>
          </a:xfrm>
          <a:prstGeom prst="ellipse">
            <a:avLst/>
          </a:prstGeom>
          <a:solidFill>
            <a:srgbClr val="A9D1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p>
        </p:txBody>
      </p:sp>
      <p:pic>
        <p:nvPicPr>
          <p:cNvPr id="27" name="Graphic 26" descr="User with solid fill">
            <a:extLst>
              <a:ext uri="{FF2B5EF4-FFF2-40B4-BE49-F238E27FC236}">
                <a16:creationId xmlns:a16="http://schemas.microsoft.com/office/drawing/2014/main" id="{E6667B9E-2FB9-EE06-2513-0A7462DFD79B}"/>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007011" y="-1997564"/>
            <a:ext cx="742080" cy="742080"/>
          </a:xfrm>
          <a:prstGeom prst="rect">
            <a:avLst/>
          </a:prstGeom>
        </p:spPr>
      </p:pic>
      <p:sp>
        <p:nvSpPr>
          <p:cNvPr id="28" name="Rectangle: Rounded Corners 27">
            <a:extLst>
              <a:ext uri="{FF2B5EF4-FFF2-40B4-BE49-F238E27FC236}">
                <a16:creationId xmlns:a16="http://schemas.microsoft.com/office/drawing/2014/main" id="{71CDA7EF-C29D-BD8E-314E-63ABB8A7E77E}"/>
              </a:ext>
            </a:extLst>
          </p:cNvPr>
          <p:cNvSpPr/>
          <p:nvPr/>
        </p:nvSpPr>
        <p:spPr>
          <a:xfrm rot="5400000">
            <a:off x="-5298431" y="3182319"/>
            <a:ext cx="3409951" cy="1857375"/>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9" name="Connector: Elbow 28">
            <a:extLst>
              <a:ext uri="{FF2B5EF4-FFF2-40B4-BE49-F238E27FC236}">
                <a16:creationId xmlns:a16="http://schemas.microsoft.com/office/drawing/2014/main" id="{B2CE85A5-1C35-2379-DEF9-202D3E679ED8}"/>
              </a:ext>
            </a:extLst>
          </p:cNvPr>
          <p:cNvCxnSpPr/>
          <p:nvPr/>
        </p:nvCxnSpPr>
        <p:spPr>
          <a:xfrm rot="10800000" flipV="1">
            <a:off x="-2761501" y="1942153"/>
            <a:ext cx="2121029" cy="2115289"/>
          </a:xfrm>
          <a:prstGeom prst="bentConnector3">
            <a:avLst/>
          </a:prstGeom>
          <a:ln w="66675">
            <a:solidFill>
              <a:srgbClr val="A1B3A5"/>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D0F80706-CE77-B09E-A63C-12AD9DD6DC64}"/>
              </a:ext>
            </a:extLst>
          </p:cNvPr>
          <p:cNvCxnSpPr>
            <a:cxnSpLocks/>
          </p:cNvCxnSpPr>
          <p:nvPr/>
        </p:nvCxnSpPr>
        <p:spPr>
          <a:xfrm rot="10800000">
            <a:off x="-2761501" y="4220565"/>
            <a:ext cx="2121029" cy="1769116"/>
          </a:xfrm>
          <a:prstGeom prst="bentConnector3">
            <a:avLst/>
          </a:prstGeom>
          <a:ln w="66675">
            <a:solidFill>
              <a:srgbClr val="F6786E"/>
            </a:solidFill>
            <a:headEnd type="oval"/>
            <a:tailEnd type="oval"/>
          </a:ln>
        </p:spPr>
        <p:style>
          <a:lnRef idx="1">
            <a:schemeClr val="accent1"/>
          </a:lnRef>
          <a:fillRef idx="0">
            <a:schemeClr val="accent1"/>
          </a:fillRef>
          <a:effectRef idx="0">
            <a:schemeClr val="accent1"/>
          </a:effectRef>
          <a:fontRef idx="minor">
            <a:schemeClr val="tx1"/>
          </a:fontRef>
        </p:style>
      </p:cxnSp>
      <p:pic>
        <p:nvPicPr>
          <p:cNvPr id="31" name="Graphic 30" descr="Car with solid fill">
            <a:extLst>
              <a:ext uri="{FF2B5EF4-FFF2-40B4-BE49-F238E27FC236}">
                <a16:creationId xmlns:a16="http://schemas.microsoft.com/office/drawing/2014/main" id="{C387A8D4-872C-A824-9FC4-2DC58F3C52C1}"/>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099022" y="2542598"/>
            <a:ext cx="914400" cy="914400"/>
          </a:xfrm>
          <a:prstGeom prst="rect">
            <a:avLst/>
          </a:prstGeom>
        </p:spPr>
      </p:pic>
      <p:sp>
        <p:nvSpPr>
          <p:cNvPr id="32" name="TextBox 31">
            <a:extLst>
              <a:ext uri="{FF2B5EF4-FFF2-40B4-BE49-F238E27FC236}">
                <a16:creationId xmlns:a16="http://schemas.microsoft.com/office/drawing/2014/main" id="{125B3BB9-D58C-9BD6-6BD5-B47CB389A575}"/>
              </a:ext>
            </a:extLst>
          </p:cNvPr>
          <p:cNvSpPr txBox="1"/>
          <p:nvPr/>
        </p:nvSpPr>
        <p:spPr>
          <a:xfrm>
            <a:off x="-4281830" y="3456998"/>
            <a:ext cx="1278972" cy="1815882"/>
          </a:xfrm>
          <a:prstGeom prst="rect">
            <a:avLst/>
          </a:prstGeom>
          <a:noFill/>
        </p:spPr>
        <p:txBody>
          <a:bodyPr wrap="square" rtlCol="0">
            <a:spAutoFit/>
          </a:bodyPr>
          <a:lstStyle/>
          <a:p>
            <a:pPr algn="ctr"/>
            <a:r>
              <a:rPr lang="en-US" sz="2400" dirty="0" err="1">
                <a:solidFill>
                  <a:schemeClr val="bg1"/>
                </a:solidFill>
                <a:latin typeface="Franklin Gothic Demi" panose="020B0703020102020204" pitchFamily="34" charset="0"/>
              </a:rPr>
              <a:t>CarGari</a:t>
            </a:r>
            <a:endParaRPr lang="en-US" sz="2400" dirty="0">
              <a:solidFill>
                <a:schemeClr val="bg1"/>
              </a:solidFill>
              <a:latin typeface="Franklin Gothic Demi" panose="020B0703020102020204" pitchFamily="34" charset="0"/>
            </a:endParaRPr>
          </a:p>
          <a:p>
            <a:pPr algn="ctr"/>
            <a:endParaRPr lang="en-US" sz="2400" dirty="0">
              <a:solidFill>
                <a:schemeClr val="bg1"/>
              </a:solidFill>
              <a:latin typeface="Franklin Gothic Demi" panose="020B0703020102020204" pitchFamily="34" charset="0"/>
            </a:endParaRPr>
          </a:p>
          <a:p>
            <a:r>
              <a:rPr lang="en-US" sz="1600" dirty="0">
                <a:solidFill>
                  <a:schemeClr val="bg1"/>
                </a:solidFill>
                <a:latin typeface="Franklin Gothic Demi" panose="020B0703020102020204" pitchFamily="34" charset="0"/>
              </a:rPr>
              <a:t>AI allowed for 24/7 automated platform</a:t>
            </a:r>
          </a:p>
        </p:txBody>
      </p:sp>
      <p:sp>
        <p:nvSpPr>
          <p:cNvPr id="33" name="Rectangle: Rounded Corners 32">
            <a:extLst>
              <a:ext uri="{FF2B5EF4-FFF2-40B4-BE49-F238E27FC236}">
                <a16:creationId xmlns:a16="http://schemas.microsoft.com/office/drawing/2014/main" id="{ACD9D2EE-19BA-5471-87F0-3DBE63E0F0C8}"/>
              </a:ext>
            </a:extLst>
          </p:cNvPr>
          <p:cNvSpPr/>
          <p:nvPr/>
        </p:nvSpPr>
        <p:spPr>
          <a:xfrm rot="5400000">
            <a:off x="14073961" y="2808298"/>
            <a:ext cx="3409951" cy="1857375"/>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4" name="Connector: Elbow 33">
            <a:extLst>
              <a:ext uri="{FF2B5EF4-FFF2-40B4-BE49-F238E27FC236}">
                <a16:creationId xmlns:a16="http://schemas.microsoft.com/office/drawing/2014/main" id="{655BD238-D2AA-49A6-020D-7F278A0AAE63}"/>
              </a:ext>
            </a:extLst>
          </p:cNvPr>
          <p:cNvCxnSpPr>
            <a:cxnSpLocks/>
          </p:cNvCxnSpPr>
          <p:nvPr/>
        </p:nvCxnSpPr>
        <p:spPr>
          <a:xfrm>
            <a:off x="12688055" y="1558061"/>
            <a:ext cx="2228892" cy="2120147"/>
          </a:xfrm>
          <a:prstGeom prst="bentConnector3">
            <a:avLst>
              <a:gd name="adj1" fmla="val 50000"/>
            </a:avLst>
          </a:prstGeom>
          <a:ln w="66675">
            <a:solidFill>
              <a:srgbClr val="F4B183"/>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FCAFCD38-580C-EF74-02A0-9E3210CACF58}"/>
              </a:ext>
            </a:extLst>
          </p:cNvPr>
          <p:cNvCxnSpPr>
            <a:cxnSpLocks/>
          </p:cNvCxnSpPr>
          <p:nvPr/>
        </p:nvCxnSpPr>
        <p:spPr>
          <a:xfrm flipV="1">
            <a:off x="12688055" y="3858551"/>
            <a:ext cx="2228892" cy="1775023"/>
          </a:xfrm>
          <a:prstGeom prst="bentConnector3">
            <a:avLst>
              <a:gd name="adj1" fmla="val 50000"/>
            </a:avLst>
          </a:prstGeom>
          <a:ln w="66675">
            <a:solidFill>
              <a:srgbClr val="A9D18E"/>
            </a:solidFill>
            <a:headEnd type="oval"/>
            <a:tailEnd type="oval"/>
          </a:ln>
        </p:spPr>
        <p:style>
          <a:lnRef idx="1">
            <a:schemeClr val="accent1"/>
          </a:lnRef>
          <a:fillRef idx="0">
            <a:schemeClr val="accent1"/>
          </a:fillRef>
          <a:effectRef idx="0">
            <a:schemeClr val="accent1"/>
          </a:effectRef>
          <a:fontRef idx="minor">
            <a:schemeClr val="tx1"/>
          </a:fontRef>
        </p:style>
      </p:cxnSp>
      <p:pic>
        <p:nvPicPr>
          <p:cNvPr id="36" name="Graphic 35" descr="Music notes with solid fill">
            <a:extLst>
              <a:ext uri="{FF2B5EF4-FFF2-40B4-BE49-F238E27FC236}">
                <a16:creationId xmlns:a16="http://schemas.microsoft.com/office/drawing/2014/main" id="{3F3316B1-204F-887F-3D9F-8A07135A08F7}"/>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5321736" y="2125579"/>
            <a:ext cx="914400" cy="914400"/>
          </a:xfrm>
          <a:prstGeom prst="rect">
            <a:avLst/>
          </a:prstGeom>
        </p:spPr>
      </p:pic>
      <p:sp>
        <p:nvSpPr>
          <p:cNvPr id="37" name="TextBox 36">
            <a:extLst>
              <a:ext uri="{FF2B5EF4-FFF2-40B4-BE49-F238E27FC236}">
                <a16:creationId xmlns:a16="http://schemas.microsoft.com/office/drawing/2014/main" id="{5070FF02-8827-34BC-8087-5B79FB53832B}"/>
              </a:ext>
            </a:extLst>
          </p:cNvPr>
          <p:cNvSpPr txBox="1"/>
          <p:nvPr/>
        </p:nvSpPr>
        <p:spPr>
          <a:xfrm>
            <a:off x="15224685" y="3113050"/>
            <a:ext cx="1278972" cy="2308324"/>
          </a:xfrm>
          <a:prstGeom prst="rect">
            <a:avLst/>
          </a:prstGeom>
          <a:noFill/>
        </p:spPr>
        <p:txBody>
          <a:bodyPr wrap="square" rtlCol="0">
            <a:spAutoFit/>
          </a:bodyPr>
          <a:lstStyle/>
          <a:p>
            <a:pPr algn="ctr"/>
            <a:r>
              <a:rPr lang="en-US" sz="2400" dirty="0">
                <a:solidFill>
                  <a:schemeClr val="bg1"/>
                </a:solidFill>
                <a:latin typeface="Franklin Gothic Demi" panose="020B0703020102020204" pitchFamily="34" charset="0"/>
              </a:rPr>
              <a:t>Spotify</a:t>
            </a:r>
          </a:p>
          <a:p>
            <a:pPr algn="ctr"/>
            <a:endParaRPr lang="en-US" sz="2400" dirty="0">
              <a:solidFill>
                <a:schemeClr val="bg1"/>
              </a:solidFill>
              <a:latin typeface="Franklin Gothic Demi" panose="020B0703020102020204" pitchFamily="34" charset="0"/>
            </a:endParaRPr>
          </a:p>
          <a:p>
            <a:r>
              <a:rPr lang="en-US" sz="1600" dirty="0">
                <a:solidFill>
                  <a:schemeClr val="bg1"/>
                </a:solidFill>
                <a:latin typeface="Franklin Gothic Demi" panose="020B0703020102020204" pitchFamily="34" charset="0"/>
              </a:rPr>
              <a:t>Coupled historical data to create a radio like app</a:t>
            </a:r>
          </a:p>
        </p:txBody>
      </p:sp>
    </p:spTree>
    <p:extLst>
      <p:ext uri="{BB962C8B-B14F-4D97-AF65-F5344CB8AC3E}">
        <p14:creationId xmlns:p14="http://schemas.microsoft.com/office/powerpoint/2010/main" val="1273495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100000">
              <a:schemeClr val="accent1">
                <a:lumMod val="5000"/>
                <a:lumOff val="95000"/>
              </a:schemeClr>
            </a:gs>
            <a:gs pos="70000">
              <a:srgbClr val="91B1E8"/>
            </a:gs>
            <a:gs pos="30000">
              <a:srgbClr val="7CA5EB"/>
            </a:gs>
            <a:gs pos="0">
              <a:srgbClr val="4285F4"/>
            </a:gs>
          </a:gsLst>
          <a:lin ang="5400000" scaled="1"/>
        </a:gradFill>
        <a:effectLst/>
      </p:bgPr>
    </p:bg>
    <p:spTree>
      <p:nvGrpSpPr>
        <p:cNvPr id="1" name="">
          <a:extLst>
            <a:ext uri="{FF2B5EF4-FFF2-40B4-BE49-F238E27FC236}">
              <a16:creationId xmlns:a16="http://schemas.microsoft.com/office/drawing/2014/main" id="{4718DBA4-DA48-269B-C94C-A11F98482D62}"/>
            </a:ext>
          </a:extLst>
        </p:cNvPr>
        <p:cNvGrpSpPr/>
        <p:nvPr/>
      </p:nvGrpSpPr>
      <p:grpSpPr>
        <a:xfrm>
          <a:off x="0" y="0"/>
          <a:ext cx="0" cy="0"/>
          <a:chOff x="0" y="0"/>
          <a:chExt cx="0" cy="0"/>
        </a:xfrm>
      </p:grpSpPr>
      <p:sp>
        <p:nvSpPr>
          <p:cNvPr id="62" name="Rectangle: Rounded Corners 61">
            <a:extLst>
              <a:ext uri="{FF2B5EF4-FFF2-40B4-BE49-F238E27FC236}">
                <a16:creationId xmlns:a16="http://schemas.microsoft.com/office/drawing/2014/main" id="{9A45E3A3-2FDF-ED6B-91A9-F9729495C581}"/>
              </a:ext>
            </a:extLst>
          </p:cNvPr>
          <p:cNvSpPr/>
          <p:nvPr/>
        </p:nvSpPr>
        <p:spPr>
          <a:xfrm rot="5400000">
            <a:off x="9567724" y="2781422"/>
            <a:ext cx="3409951" cy="1857375"/>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092565DE-A822-346B-70D0-6F682173187D}"/>
              </a:ext>
            </a:extLst>
          </p:cNvPr>
          <p:cNvSpPr txBox="1"/>
          <p:nvPr/>
        </p:nvSpPr>
        <p:spPr>
          <a:xfrm>
            <a:off x="-2257425" y="-9230951"/>
            <a:ext cx="16398643" cy="2215991"/>
          </a:xfrm>
          <a:prstGeom prst="rect">
            <a:avLst/>
          </a:prstGeom>
          <a:noFill/>
          <a:ln>
            <a:noFill/>
          </a:ln>
        </p:spPr>
        <p:txBody>
          <a:bodyPr wrap="square" rtlCol="0">
            <a:spAutoFit/>
          </a:bodyPr>
          <a:lstStyle/>
          <a:p>
            <a:r>
              <a:rPr lang="en-US" sz="13800" spc="300" dirty="0">
                <a:ln w="50800">
                  <a:gradFill>
                    <a:gsLst>
                      <a:gs pos="62000">
                        <a:srgbClr val="3086FF"/>
                      </a:gs>
                      <a:gs pos="94000">
                        <a:srgbClr val="0DBB63">
                          <a:lumMod val="99000"/>
                        </a:srgbClr>
                      </a:gs>
                      <a:gs pos="51000">
                        <a:srgbClr val="FFB80C"/>
                      </a:gs>
                      <a:gs pos="0">
                        <a:srgbClr val="FF4640"/>
                      </a:gs>
                    </a:gsLst>
                    <a:lin ang="5400000" scaled="1"/>
                  </a:gradFill>
                </a:ln>
                <a:noFill/>
                <a:latin typeface="Google Sans" pitchFamily="2" charset="0"/>
                <a:ea typeface="Google Sans" pitchFamily="2" charset="0"/>
                <a:cs typeface="Google Sans" pitchFamily="2" charset="0"/>
              </a:rPr>
              <a:t>Google</a:t>
            </a:r>
          </a:p>
        </p:txBody>
      </p:sp>
      <p:pic>
        <p:nvPicPr>
          <p:cNvPr id="4" name="Picture 3" descr="File:Google Favicon 2025.svg - Wikimedia Commons">
            <a:extLst>
              <a:ext uri="{FF2B5EF4-FFF2-40B4-BE49-F238E27FC236}">
                <a16:creationId xmlns:a16="http://schemas.microsoft.com/office/drawing/2014/main" id="{DF473404-C3D6-C39D-4A10-41F31F032D2D}"/>
              </a:ext>
            </a:extLst>
          </p:cNvPr>
          <p:cNvPicPr>
            <a:picLocks noChangeAspect="1"/>
          </p:cNvPicPr>
          <p:nvPr/>
        </p:nvPicPr>
        <p:blipFill>
          <a:blip r:embed="rId3"/>
          <a:stretch>
            <a:fillRect/>
          </a:stretch>
        </p:blipFill>
        <p:spPr>
          <a:xfrm>
            <a:off x="-3593455" y="-18117154"/>
            <a:ext cx="16071205" cy="16456905"/>
          </a:xfrm>
          <a:prstGeom prst="rect">
            <a:avLst/>
          </a:prstGeom>
          <a:ln>
            <a:noFill/>
          </a:ln>
        </p:spPr>
      </p:pic>
      <p:sp>
        <p:nvSpPr>
          <p:cNvPr id="11" name="TextBox 10">
            <a:extLst>
              <a:ext uri="{FF2B5EF4-FFF2-40B4-BE49-F238E27FC236}">
                <a16:creationId xmlns:a16="http://schemas.microsoft.com/office/drawing/2014/main" id="{23B6E1C8-0C6B-5ECF-4E3F-6B005A0B76E0}"/>
              </a:ext>
            </a:extLst>
          </p:cNvPr>
          <p:cNvSpPr txBox="1"/>
          <p:nvPr/>
        </p:nvSpPr>
        <p:spPr>
          <a:xfrm>
            <a:off x="-2333625" y="-11081045"/>
            <a:ext cx="16398643" cy="2215991"/>
          </a:xfrm>
          <a:prstGeom prst="rect">
            <a:avLst/>
          </a:prstGeom>
          <a:noFill/>
          <a:ln>
            <a:noFill/>
          </a:ln>
        </p:spPr>
        <p:txBody>
          <a:bodyPr wrap="square" rtlCol="0">
            <a:spAutoFit/>
          </a:bodyPr>
          <a:lstStyle/>
          <a:p>
            <a:r>
              <a:rPr lang="en-US" sz="13800" spc="300" dirty="0">
                <a:ln w="50800">
                  <a:gradFill>
                    <a:gsLst>
                      <a:gs pos="62000">
                        <a:srgbClr val="3086FF"/>
                      </a:gs>
                      <a:gs pos="94000">
                        <a:srgbClr val="0DBB63">
                          <a:lumMod val="99000"/>
                        </a:srgbClr>
                      </a:gs>
                      <a:gs pos="51000">
                        <a:srgbClr val="FFB80C"/>
                      </a:gs>
                      <a:gs pos="0">
                        <a:srgbClr val="FF4640"/>
                      </a:gs>
                    </a:gsLst>
                    <a:lin ang="5400000" scaled="1"/>
                  </a:gradFill>
                </a:ln>
                <a:noFill/>
                <a:latin typeface="Google Sans" pitchFamily="2" charset="0"/>
                <a:ea typeface="Google Sans" pitchFamily="2" charset="0"/>
                <a:cs typeface="Google Sans" pitchFamily="2" charset="0"/>
              </a:rPr>
              <a:t>Google</a:t>
            </a:r>
          </a:p>
        </p:txBody>
      </p:sp>
      <p:sp>
        <p:nvSpPr>
          <p:cNvPr id="12" name="TextBox 11">
            <a:extLst>
              <a:ext uri="{FF2B5EF4-FFF2-40B4-BE49-F238E27FC236}">
                <a16:creationId xmlns:a16="http://schemas.microsoft.com/office/drawing/2014/main" id="{D1D86CF5-D93C-24CD-6789-B95852F89218}"/>
              </a:ext>
            </a:extLst>
          </p:cNvPr>
          <p:cNvSpPr txBox="1"/>
          <p:nvPr/>
        </p:nvSpPr>
        <p:spPr>
          <a:xfrm>
            <a:off x="-2257425" y="-7014960"/>
            <a:ext cx="16398643" cy="2215991"/>
          </a:xfrm>
          <a:prstGeom prst="rect">
            <a:avLst/>
          </a:prstGeom>
          <a:noFill/>
          <a:ln>
            <a:noFill/>
          </a:ln>
        </p:spPr>
        <p:txBody>
          <a:bodyPr wrap="square" rtlCol="0">
            <a:spAutoFit/>
          </a:bodyPr>
          <a:lstStyle/>
          <a:p>
            <a:r>
              <a:rPr lang="en-US" sz="13800" spc="300" dirty="0">
                <a:ln w="50800">
                  <a:gradFill>
                    <a:gsLst>
                      <a:gs pos="62000">
                        <a:srgbClr val="3086FF"/>
                      </a:gs>
                      <a:gs pos="94000">
                        <a:srgbClr val="0DBB63">
                          <a:lumMod val="99000"/>
                        </a:srgbClr>
                      </a:gs>
                      <a:gs pos="51000">
                        <a:srgbClr val="FFB80C"/>
                      </a:gs>
                      <a:gs pos="0">
                        <a:srgbClr val="FF4640"/>
                      </a:gs>
                    </a:gsLst>
                    <a:lin ang="5400000" scaled="1"/>
                  </a:gradFill>
                </a:ln>
                <a:noFill/>
                <a:latin typeface="Google Sans" pitchFamily="2" charset="0"/>
                <a:ea typeface="Google Sans" pitchFamily="2" charset="0"/>
                <a:cs typeface="Google Sans" pitchFamily="2" charset="0"/>
              </a:rPr>
              <a:t>Google</a:t>
            </a:r>
          </a:p>
        </p:txBody>
      </p:sp>
      <p:pic>
        <p:nvPicPr>
          <p:cNvPr id="9" name="Picture 8" descr="File:Google Gemini icon 2025.svg - Wikimedia Commons">
            <a:extLst>
              <a:ext uri="{FF2B5EF4-FFF2-40B4-BE49-F238E27FC236}">
                <a16:creationId xmlns:a16="http://schemas.microsoft.com/office/drawing/2014/main" id="{279EB155-8C73-D856-7B0B-E2E820B50AF7}"/>
              </a:ext>
            </a:extLst>
          </p:cNvPr>
          <p:cNvPicPr>
            <a:picLocks noChangeAspect="1"/>
          </p:cNvPicPr>
          <p:nvPr/>
        </p:nvPicPr>
        <p:blipFill>
          <a:blip r:embed="rId4"/>
          <a:stretch>
            <a:fillRect/>
          </a:stretch>
        </p:blipFill>
        <p:spPr>
          <a:xfrm>
            <a:off x="5218178" y="-1975159"/>
            <a:ext cx="1755643" cy="1755643"/>
          </a:xfrm>
          <a:prstGeom prst="rect">
            <a:avLst/>
          </a:prstGeom>
        </p:spPr>
      </p:pic>
      <p:sp>
        <p:nvSpPr>
          <p:cNvPr id="14" name="Rectangle 13">
            <a:extLst>
              <a:ext uri="{FF2B5EF4-FFF2-40B4-BE49-F238E27FC236}">
                <a16:creationId xmlns:a16="http://schemas.microsoft.com/office/drawing/2014/main" id="{A416E388-CF7B-DDA5-62F5-4049BE8FFD6A}"/>
              </a:ext>
            </a:extLst>
          </p:cNvPr>
          <p:cNvSpPr/>
          <p:nvPr/>
        </p:nvSpPr>
        <p:spPr>
          <a:xfrm>
            <a:off x="2155969" y="7101185"/>
            <a:ext cx="9150205" cy="2215991"/>
          </a:xfrm>
          <a:prstGeom prst="rect">
            <a:avLst/>
          </a:prstGeom>
          <a:noFill/>
        </p:spPr>
        <p:txBody>
          <a:bodyPr wrap="square" lIns="91440" tIns="45720" rIns="91440" bIns="45720">
            <a:spAutoFit/>
          </a:bodyPr>
          <a:lstStyle/>
          <a:p>
            <a:pPr algn="ctr"/>
            <a:r>
              <a:rPr lang="en-US" sz="13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Google Sans" pitchFamily="2" charset="0"/>
                <a:ea typeface="Google Sans" pitchFamily="2" charset="0"/>
                <a:cs typeface="Google Sans" pitchFamily="2" charset="0"/>
              </a:rPr>
              <a:t>$422.49 B</a:t>
            </a:r>
            <a:endParaRPr lang="en-US" sz="13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3" name="TextBox 2">
            <a:extLst>
              <a:ext uri="{FF2B5EF4-FFF2-40B4-BE49-F238E27FC236}">
                <a16:creationId xmlns:a16="http://schemas.microsoft.com/office/drawing/2014/main" id="{73B383D5-028D-EC98-0B41-52D2C671BE1C}"/>
              </a:ext>
            </a:extLst>
          </p:cNvPr>
          <p:cNvSpPr txBox="1"/>
          <p:nvPr/>
        </p:nvSpPr>
        <p:spPr>
          <a:xfrm>
            <a:off x="4286251" y="6274511"/>
            <a:ext cx="4343400" cy="646331"/>
          </a:xfrm>
          <a:prstGeom prst="rect">
            <a:avLst/>
          </a:prstGeom>
          <a:noFill/>
        </p:spPr>
        <p:txBody>
          <a:bodyPr wrap="square" rtlCol="0">
            <a:spAutoFit/>
          </a:bodyPr>
          <a:lstStyle/>
          <a:p>
            <a:r>
              <a:rPr lang="en-US" dirty="0"/>
              <a:t>*</a:t>
            </a:r>
            <a:r>
              <a:rPr lang="en-US" i="1" dirty="0"/>
              <a:t>From </a:t>
            </a:r>
            <a:r>
              <a:rPr lang="en-US" i="1" dirty="0">
                <a:hlinkClick r:id="rId5"/>
              </a:rPr>
              <a:t>FIU Business</a:t>
            </a:r>
            <a:r>
              <a:rPr lang="en-US" i="1" dirty="0"/>
              <a:t>, “The Competitive advantage of using AI in business”</a:t>
            </a:r>
            <a:endParaRPr lang="en-US" dirty="0"/>
          </a:p>
        </p:txBody>
      </p:sp>
      <p:sp>
        <p:nvSpPr>
          <p:cNvPr id="19" name="Rectangle: Rounded Corners 18">
            <a:extLst>
              <a:ext uri="{FF2B5EF4-FFF2-40B4-BE49-F238E27FC236}">
                <a16:creationId xmlns:a16="http://schemas.microsoft.com/office/drawing/2014/main" id="{FCD74353-DE86-1AD0-6561-8B0E11F04999}"/>
              </a:ext>
            </a:extLst>
          </p:cNvPr>
          <p:cNvSpPr/>
          <p:nvPr/>
        </p:nvSpPr>
        <p:spPr>
          <a:xfrm rot="5400000">
            <a:off x="-807281" y="2821150"/>
            <a:ext cx="3409951" cy="1857375"/>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Content Placeholder 4">
            <a:extLst>
              <a:ext uri="{FF2B5EF4-FFF2-40B4-BE49-F238E27FC236}">
                <a16:creationId xmlns:a16="http://schemas.microsoft.com/office/drawing/2014/main" id="{BD530C0C-4260-AA8D-D201-4B2C00D44666}"/>
              </a:ext>
            </a:extLst>
          </p:cNvPr>
          <p:cNvPicPr>
            <a:picLocks noGrp="1" noChangeAspect="1"/>
          </p:cNvPicPr>
          <p:nvPr>
            <p:ph idx="1"/>
          </p:nvPr>
        </p:nvPicPr>
        <p:blipFill>
          <a:blip r:embed="rId6">
            <a:extLst>
              <a:ext uri="{28A0092B-C50C-407E-A947-70E740481C1C}">
                <a14:useLocalDpi xmlns:a14="http://schemas.microsoft.com/office/drawing/2010/main" val="0"/>
              </a:ext>
            </a:extLst>
          </a:blip>
          <a:stretch>
            <a:fillRect/>
          </a:stretch>
        </p:blipFill>
        <p:spPr>
          <a:xfrm flipH="1">
            <a:off x="6889926" y="4535584"/>
            <a:ext cx="45719" cy="45719"/>
          </a:xfrm>
          <a:prstGeom prst="rect">
            <a:avLst/>
          </a:prstGeom>
        </p:spPr>
      </p:pic>
      <p:sp>
        <p:nvSpPr>
          <p:cNvPr id="27" name="Oval 26">
            <a:extLst>
              <a:ext uri="{FF2B5EF4-FFF2-40B4-BE49-F238E27FC236}">
                <a16:creationId xmlns:a16="http://schemas.microsoft.com/office/drawing/2014/main" id="{7EB520F1-B4B3-A01B-BA80-22F5EF4EF376}"/>
              </a:ext>
            </a:extLst>
          </p:cNvPr>
          <p:cNvSpPr/>
          <p:nvPr/>
        </p:nvSpPr>
        <p:spPr>
          <a:xfrm>
            <a:off x="3625607" y="1163561"/>
            <a:ext cx="4832574" cy="4832574"/>
          </a:xfrm>
          <a:prstGeom prst="ellipse">
            <a:avLst/>
          </a:prstGeom>
          <a:blipFill>
            <a:blip r:embed="rId7"/>
            <a:tile tx="0" ty="0" sx="100000" sy="100000" flip="none" algn="tl"/>
          </a:blip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2F0F6161-2686-4E74-DC50-15BEF93D9291}"/>
              </a:ext>
            </a:extLst>
          </p:cNvPr>
          <p:cNvCxnSpPr>
            <a:stCxn id="27" idx="0"/>
            <a:endCxn id="27" idx="4"/>
          </p:cNvCxnSpPr>
          <p:nvPr/>
        </p:nvCxnSpPr>
        <p:spPr>
          <a:xfrm>
            <a:off x="6041894" y="1163561"/>
            <a:ext cx="0" cy="4832574"/>
          </a:xfrm>
          <a:prstGeom prst="line">
            <a:avLst/>
          </a:prstGeom>
          <a:ln w="73025"/>
        </p:spPr>
        <p:style>
          <a:lnRef idx="3">
            <a:schemeClr val="accent4"/>
          </a:lnRef>
          <a:fillRef idx="0">
            <a:schemeClr val="accent4"/>
          </a:fillRef>
          <a:effectRef idx="2">
            <a:schemeClr val="accent4"/>
          </a:effectRef>
          <a:fontRef idx="minor">
            <a:schemeClr val="tx1"/>
          </a:fontRef>
        </p:style>
      </p:cxnSp>
      <p:cxnSp>
        <p:nvCxnSpPr>
          <p:cNvPr id="31" name="Straight Connector 30">
            <a:extLst>
              <a:ext uri="{FF2B5EF4-FFF2-40B4-BE49-F238E27FC236}">
                <a16:creationId xmlns:a16="http://schemas.microsoft.com/office/drawing/2014/main" id="{99F321C5-85BB-5AB6-6A94-D9D6C2678B87}"/>
              </a:ext>
            </a:extLst>
          </p:cNvPr>
          <p:cNvCxnSpPr>
            <a:cxnSpLocks/>
            <a:stCxn id="27" idx="2"/>
            <a:endCxn id="27" idx="6"/>
          </p:cNvCxnSpPr>
          <p:nvPr/>
        </p:nvCxnSpPr>
        <p:spPr>
          <a:xfrm>
            <a:off x="3625607" y="3579848"/>
            <a:ext cx="4832574" cy="0"/>
          </a:xfrm>
          <a:prstGeom prst="line">
            <a:avLst/>
          </a:prstGeom>
          <a:ln w="73025"/>
        </p:spPr>
        <p:style>
          <a:lnRef idx="3">
            <a:schemeClr val="accent4"/>
          </a:lnRef>
          <a:fillRef idx="0">
            <a:schemeClr val="accent4"/>
          </a:fillRef>
          <a:effectRef idx="2">
            <a:schemeClr val="accent4"/>
          </a:effectRef>
          <a:fontRef idx="minor">
            <a:schemeClr val="tx1"/>
          </a:fontRef>
        </p:style>
      </p:cxnSp>
      <mc:AlternateContent xmlns:mc="http://schemas.openxmlformats.org/markup-compatibility/2006" xmlns:pslz="http://schemas.microsoft.com/office/powerpoint/2016/slidezoom">
        <mc:Choice Requires="pslz">
          <p:graphicFrame>
            <p:nvGraphicFramePr>
              <p:cNvPr id="26" name="Slide Zoom 25">
                <a:extLst>
                  <a:ext uri="{FF2B5EF4-FFF2-40B4-BE49-F238E27FC236}">
                    <a16:creationId xmlns:a16="http://schemas.microsoft.com/office/drawing/2014/main" id="{37CD6D62-56A5-5241-CF78-3207D54C35FD}"/>
                  </a:ext>
                </a:extLst>
              </p:cNvPr>
              <p:cNvGraphicFramePr>
                <a:graphicFrameLocks noChangeAspect="1"/>
              </p:cNvGraphicFramePr>
              <p:nvPr>
                <p:extLst>
                  <p:ext uri="{D42A27DB-BD31-4B8C-83A1-F6EECF244321}">
                    <p14:modId xmlns:p14="http://schemas.microsoft.com/office/powerpoint/2010/main" val="1780579223"/>
                  </p:ext>
                </p:extLst>
              </p:nvPr>
            </p:nvGraphicFramePr>
            <p:xfrm rot="10800000" flipV="1">
              <a:off x="6041894" y="3513307"/>
              <a:ext cx="81278" cy="45719"/>
            </p:xfrm>
            <a:graphic>
              <a:graphicData uri="http://schemas.microsoft.com/office/powerpoint/2016/slidezoom">
                <pslz:sldZm>
                  <pslz:sldZmObj sldId="292" cId="3002349766">
                    <pslz:zmPr id="{674D9D61-C0A0-4405-B183-00F3503C4020}" returnToParent="0" transitionDur="1000">
                      <p166:blipFill xmlns:p166="http://schemas.microsoft.com/office/powerpoint/2016/6/main">
                        <a:blip r:embed="rId8"/>
                        <a:stretch>
                          <a:fillRect/>
                        </a:stretch>
                      </p166:blipFill>
                      <p166:spPr xmlns:p166="http://schemas.microsoft.com/office/powerpoint/2016/6/main">
                        <a:xfrm rot="10800000" flipV="1">
                          <a:off x="0" y="0"/>
                          <a:ext cx="81278" cy="45719"/>
                        </a:xfrm>
                        <a:prstGeom prst="rect">
                          <a:avLst/>
                        </a:prstGeom>
                        <a:ln w="3175">
                          <a:solidFill>
                            <a:prstClr val="ltGray"/>
                          </a:solidFill>
                        </a:ln>
                      </p166:spPr>
                    </pslz:zmPr>
                  </pslz:sldZmObj>
                </pslz:sldZm>
              </a:graphicData>
            </a:graphic>
          </p:graphicFrame>
        </mc:Choice>
        <mc:Fallback xmlns="">
          <p:pic>
            <p:nvPicPr>
              <p:cNvPr id="26" name="Slide Zoom 25">
                <a:hlinkClick r:id="rId9" action="ppaction://hlinksldjump"/>
                <a:extLst>
                  <a:ext uri="{FF2B5EF4-FFF2-40B4-BE49-F238E27FC236}">
                    <a16:creationId xmlns:a16="http://schemas.microsoft.com/office/drawing/2014/main" id="{37CD6D62-56A5-5241-CF78-3207D54C35FD}"/>
                  </a:ext>
                </a:extLst>
              </p:cNvPr>
              <p:cNvPicPr>
                <a:picLocks noGrp="1" noRot="1" noChangeAspect="1" noMove="1" noResize="1" noEditPoints="1" noAdjustHandles="1" noChangeArrowheads="1" noChangeShapeType="1"/>
              </p:cNvPicPr>
              <p:nvPr/>
            </p:nvPicPr>
            <p:blipFill>
              <a:blip r:embed="rId10"/>
              <a:stretch>
                <a:fillRect/>
              </a:stretch>
            </p:blipFill>
            <p:spPr>
              <a:xfrm rot="10800000" flipV="1">
                <a:off x="6041894" y="3513307"/>
                <a:ext cx="81278" cy="45719"/>
              </a:xfrm>
              <a:prstGeom prst="rect">
                <a:avLst/>
              </a:prstGeom>
              <a:ln w="3175">
                <a:solidFill>
                  <a:prstClr val="ltGray"/>
                </a:solidFill>
              </a:ln>
            </p:spPr>
          </p:pic>
        </mc:Fallback>
      </mc:AlternateContent>
      <p:sp>
        <p:nvSpPr>
          <p:cNvPr id="7" name="TextBox 6">
            <a:extLst>
              <a:ext uri="{FF2B5EF4-FFF2-40B4-BE49-F238E27FC236}">
                <a16:creationId xmlns:a16="http://schemas.microsoft.com/office/drawing/2014/main" id="{610D72E7-93BF-DC4D-D85A-122BAA5CD60B}"/>
              </a:ext>
            </a:extLst>
          </p:cNvPr>
          <p:cNvSpPr txBox="1"/>
          <p:nvPr/>
        </p:nvSpPr>
        <p:spPr>
          <a:xfrm>
            <a:off x="4108319" y="2516898"/>
            <a:ext cx="1933575" cy="707886"/>
          </a:xfrm>
          <a:prstGeom prst="rect">
            <a:avLst/>
          </a:prstGeom>
          <a:noFill/>
        </p:spPr>
        <p:txBody>
          <a:bodyPr wrap="square" rtlCol="0">
            <a:spAutoFit/>
          </a:bodyPr>
          <a:lstStyle/>
          <a:p>
            <a:r>
              <a:rPr lang="en-US" sz="2000" dirty="0">
                <a:latin typeface="Segoe UI Variable Text Semibold" pitchFamily="2" charset="0"/>
              </a:rPr>
              <a:t>Not only for big businesses</a:t>
            </a:r>
          </a:p>
        </p:txBody>
      </p:sp>
      <p:sp>
        <p:nvSpPr>
          <p:cNvPr id="17" name="TextBox 16">
            <a:extLst>
              <a:ext uri="{FF2B5EF4-FFF2-40B4-BE49-F238E27FC236}">
                <a16:creationId xmlns:a16="http://schemas.microsoft.com/office/drawing/2014/main" id="{19594F19-0A1C-02A8-23B5-16F1F9B687D5}"/>
              </a:ext>
            </a:extLst>
          </p:cNvPr>
          <p:cNvSpPr txBox="1"/>
          <p:nvPr/>
        </p:nvSpPr>
        <p:spPr>
          <a:xfrm>
            <a:off x="6524606" y="2401063"/>
            <a:ext cx="1933575" cy="1015663"/>
          </a:xfrm>
          <a:prstGeom prst="rect">
            <a:avLst/>
          </a:prstGeom>
          <a:noFill/>
        </p:spPr>
        <p:txBody>
          <a:bodyPr wrap="square" rtlCol="0">
            <a:spAutoFit/>
          </a:bodyPr>
          <a:lstStyle/>
          <a:p>
            <a:r>
              <a:rPr lang="en-US" sz="2000" dirty="0">
                <a:latin typeface="Segoe UI Variable Text Semibold" pitchFamily="2" charset="0"/>
              </a:rPr>
              <a:t>Allows for Market Research</a:t>
            </a:r>
          </a:p>
        </p:txBody>
      </p:sp>
      <p:sp>
        <p:nvSpPr>
          <p:cNvPr id="21" name="TextBox 20">
            <a:extLst>
              <a:ext uri="{FF2B5EF4-FFF2-40B4-BE49-F238E27FC236}">
                <a16:creationId xmlns:a16="http://schemas.microsoft.com/office/drawing/2014/main" id="{2067DC78-AC2F-3C7A-DDD0-E4501D32E3F3}"/>
              </a:ext>
            </a:extLst>
          </p:cNvPr>
          <p:cNvSpPr txBox="1"/>
          <p:nvPr/>
        </p:nvSpPr>
        <p:spPr>
          <a:xfrm>
            <a:off x="4228997" y="4113642"/>
            <a:ext cx="1933575" cy="707886"/>
          </a:xfrm>
          <a:prstGeom prst="rect">
            <a:avLst/>
          </a:prstGeom>
          <a:noFill/>
        </p:spPr>
        <p:txBody>
          <a:bodyPr wrap="square" rtlCol="0">
            <a:spAutoFit/>
          </a:bodyPr>
          <a:lstStyle/>
          <a:p>
            <a:r>
              <a:rPr lang="en-US" sz="2000" dirty="0">
                <a:latin typeface="Segoe UI Variable Text Semibold" pitchFamily="2" charset="0"/>
              </a:rPr>
              <a:t>Operational Efficiency</a:t>
            </a:r>
          </a:p>
        </p:txBody>
      </p:sp>
      <p:sp>
        <p:nvSpPr>
          <p:cNvPr id="25" name="TextBox 24">
            <a:extLst>
              <a:ext uri="{FF2B5EF4-FFF2-40B4-BE49-F238E27FC236}">
                <a16:creationId xmlns:a16="http://schemas.microsoft.com/office/drawing/2014/main" id="{34F78839-0201-8755-6732-8B442AC822AF}"/>
              </a:ext>
            </a:extLst>
          </p:cNvPr>
          <p:cNvSpPr txBox="1"/>
          <p:nvPr/>
        </p:nvSpPr>
        <p:spPr>
          <a:xfrm>
            <a:off x="6283250" y="4177067"/>
            <a:ext cx="1933575" cy="1015663"/>
          </a:xfrm>
          <a:prstGeom prst="rect">
            <a:avLst/>
          </a:prstGeom>
          <a:noFill/>
        </p:spPr>
        <p:txBody>
          <a:bodyPr wrap="square" rtlCol="0">
            <a:spAutoFit/>
          </a:bodyPr>
          <a:lstStyle/>
          <a:p>
            <a:r>
              <a:rPr lang="en-US" sz="2000" dirty="0">
                <a:latin typeface="Segoe UI Variable Text Semibold" pitchFamily="2" charset="0"/>
              </a:rPr>
              <a:t>Create a better  customer interface.</a:t>
            </a:r>
          </a:p>
        </p:txBody>
      </p:sp>
      <p:sp>
        <p:nvSpPr>
          <p:cNvPr id="5" name="Oval 4">
            <a:extLst>
              <a:ext uri="{FF2B5EF4-FFF2-40B4-BE49-F238E27FC236}">
                <a16:creationId xmlns:a16="http://schemas.microsoft.com/office/drawing/2014/main" id="{4EE71291-D845-8332-2485-A464C3CE4C1C}"/>
              </a:ext>
            </a:extLst>
          </p:cNvPr>
          <p:cNvSpPr/>
          <p:nvPr/>
        </p:nvSpPr>
        <p:spPr>
          <a:xfrm>
            <a:off x="3850677" y="1063266"/>
            <a:ext cx="1035437" cy="1035437"/>
          </a:xfrm>
          <a:prstGeom prst="ellipse">
            <a:avLst/>
          </a:prstGeom>
          <a:solidFill>
            <a:srgbClr val="A1B3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p>
        </p:txBody>
      </p:sp>
      <p:pic>
        <p:nvPicPr>
          <p:cNvPr id="32" name="Graphic 31" descr="Bank with solid fill">
            <a:extLst>
              <a:ext uri="{FF2B5EF4-FFF2-40B4-BE49-F238E27FC236}">
                <a16:creationId xmlns:a16="http://schemas.microsoft.com/office/drawing/2014/main" id="{215C7F37-3BB7-6DE5-51E0-42F578A6356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985094" y="1163561"/>
            <a:ext cx="766901" cy="766901"/>
          </a:xfrm>
          <a:prstGeom prst="rect">
            <a:avLst/>
          </a:prstGeom>
        </p:spPr>
      </p:pic>
      <p:sp>
        <p:nvSpPr>
          <p:cNvPr id="33" name="Oval 32">
            <a:extLst>
              <a:ext uri="{FF2B5EF4-FFF2-40B4-BE49-F238E27FC236}">
                <a16:creationId xmlns:a16="http://schemas.microsoft.com/office/drawing/2014/main" id="{9D5D7271-63EF-47FB-EE33-1BF984029C68}"/>
              </a:ext>
            </a:extLst>
          </p:cNvPr>
          <p:cNvSpPr/>
          <p:nvPr/>
        </p:nvSpPr>
        <p:spPr>
          <a:xfrm>
            <a:off x="7146381" y="1013466"/>
            <a:ext cx="1035437" cy="1035437"/>
          </a:xfrm>
          <a:prstGeom prst="ellipse">
            <a:avLst/>
          </a:prstGeom>
          <a:solidFill>
            <a:srgbClr val="F4B18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p>
        </p:txBody>
      </p:sp>
      <p:pic>
        <p:nvPicPr>
          <p:cNvPr id="35" name="Graphic 34" descr="Research with solid fill">
            <a:extLst>
              <a:ext uri="{FF2B5EF4-FFF2-40B4-BE49-F238E27FC236}">
                <a16:creationId xmlns:a16="http://schemas.microsoft.com/office/drawing/2014/main" id="{9A9F7A3E-F60D-9E0F-59D1-3D6D0A2ED47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302401" y="1166853"/>
            <a:ext cx="763609" cy="763609"/>
          </a:xfrm>
          <a:prstGeom prst="rect">
            <a:avLst/>
          </a:prstGeom>
        </p:spPr>
      </p:pic>
      <p:sp>
        <p:nvSpPr>
          <p:cNvPr id="38" name="Oval 37">
            <a:extLst>
              <a:ext uri="{FF2B5EF4-FFF2-40B4-BE49-F238E27FC236}">
                <a16:creationId xmlns:a16="http://schemas.microsoft.com/office/drawing/2014/main" id="{C17F0BBA-3246-E761-BF01-F7B89BA0B04B}"/>
              </a:ext>
            </a:extLst>
          </p:cNvPr>
          <p:cNvSpPr/>
          <p:nvPr/>
        </p:nvSpPr>
        <p:spPr>
          <a:xfrm>
            <a:off x="3850677" y="5110793"/>
            <a:ext cx="1035437" cy="1035437"/>
          </a:xfrm>
          <a:prstGeom prst="ellipse">
            <a:avLst/>
          </a:prstGeom>
          <a:solidFill>
            <a:srgbClr val="F678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p>
        </p:txBody>
      </p:sp>
      <p:pic>
        <p:nvPicPr>
          <p:cNvPr id="40" name="Graphic 39" descr="Arrow circle with solid fill">
            <a:extLst>
              <a:ext uri="{FF2B5EF4-FFF2-40B4-BE49-F238E27FC236}">
                <a16:creationId xmlns:a16="http://schemas.microsoft.com/office/drawing/2014/main" id="{5C97FAF4-1BAF-74C0-78B0-F1F7A1F9A86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943159" y="5211618"/>
            <a:ext cx="848657" cy="848657"/>
          </a:xfrm>
          <a:prstGeom prst="rect">
            <a:avLst/>
          </a:prstGeom>
        </p:spPr>
      </p:pic>
      <p:sp>
        <p:nvSpPr>
          <p:cNvPr id="43" name="Oval 42">
            <a:extLst>
              <a:ext uri="{FF2B5EF4-FFF2-40B4-BE49-F238E27FC236}">
                <a16:creationId xmlns:a16="http://schemas.microsoft.com/office/drawing/2014/main" id="{09AB19CF-6263-0411-7A47-2E01AFF70E6C}"/>
              </a:ext>
            </a:extLst>
          </p:cNvPr>
          <p:cNvSpPr/>
          <p:nvPr/>
        </p:nvSpPr>
        <p:spPr>
          <a:xfrm>
            <a:off x="7146381" y="5088979"/>
            <a:ext cx="1035437" cy="1035437"/>
          </a:xfrm>
          <a:prstGeom prst="ellipse">
            <a:avLst/>
          </a:prstGeom>
          <a:solidFill>
            <a:srgbClr val="A9D1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p>
        </p:txBody>
      </p:sp>
      <p:pic>
        <p:nvPicPr>
          <p:cNvPr id="45" name="Graphic 44" descr="User with solid fill">
            <a:extLst>
              <a:ext uri="{FF2B5EF4-FFF2-40B4-BE49-F238E27FC236}">
                <a16:creationId xmlns:a16="http://schemas.microsoft.com/office/drawing/2014/main" id="{37860C4F-CC5C-B612-21C8-4AB936899776}"/>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302401" y="5199199"/>
            <a:ext cx="742080" cy="742080"/>
          </a:xfrm>
          <a:prstGeom prst="rect">
            <a:avLst/>
          </a:prstGeom>
        </p:spPr>
      </p:pic>
      <p:cxnSp>
        <p:nvCxnSpPr>
          <p:cNvPr id="49" name="Connector: Elbow 48">
            <a:extLst>
              <a:ext uri="{FF2B5EF4-FFF2-40B4-BE49-F238E27FC236}">
                <a16:creationId xmlns:a16="http://schemas.microsoft.com/office/drawing/2014/main" id="{E0EA3207-2C65-6045-A437-A2A7A3373628}"/>
              </a:ext>
            </a:extLst>
          </p:cNvPr>
          <p:cNvCxnSpPr>
            <a:stCxn id="5" idx="2"/>
          </p:cNvCxnSpPr>
          <p:nvPr/>
        </p:nvCxnSpPr>
        <p:spPr>
          <a:xfrm rot="10800000" flipV="1">
            <a:off x="1729649" y="1580984"/>
            <a:ext cx="2121029" cy="2115289"/>
          </a:xfrm>
          <a:prstGeom prst="bentConnector3">
            <a:avLst/>
          </a:prstGeom>
          <a:ln w="66675">
            <a:solidFill>
              <a:srgbClr val="A1B3A5"/>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533672CF-15D8-1441-4235-BE62334CE0E0}"/>
              </a:ext>
            </a:extLst>
          </p:cNvPr>
          <p:cNvCxnSpPr>
            <a:cxnSpLocks/>
            <a:stCxn id="38" idx="2"/>
          </p:cNvCxnSpPr>
          <p:nvPr/>
        </p:nvCxnSpPr>
        <p:spPr>
          <a:xfrm rot="10800000">
            <a:off x="1729649" y="3859396"/>
            <a:ext cx="2121029" cy="1769116"/>
          </a:xfrm>
          <a:prstGeom prst="bentConnector3">
            <a:avLst/>
          </a:prstGeom>
          <a:ln w="66675">
            <a:solidFill>
              <a:srgbClr val="F6786E"/>
            </a:solidFill>
            <a:headEnd type="oval"/>
            <a:tailEnd type="oval"/>
          </a:ln>
        </p:spPr>
        <p:style>
          <a:lnRef idx="1">
            <a:schemeClr val="accent1"/>
          </a:lnRef>
          <a:fillRef idx="0">
            <a:schemeClr val="accent1"/>
          </a:fillRef>
          <a:effectRef idx="0">
            <a:schemeClr val="accent1"/>
          </a:effectRef>
          <a:fontRef idx="minor">
            <a:schemeClr val="tx1"/>
          </a:fontRef>
        </p:style>
      </p:cxnSp>
      <p:pic>
        <p:nvPicPr>
          <p:cNvPr id="54" name="Graphic 53" descr="Car with solid fill">
            <a:extLst>
              <a:ext uri="{FF2B5EF4-FFF2-40B4-BE49-F238E27FC236}">
                <a16:creationId xmlns:a16="http://schemas.microsoft.com/office/drawing/2014/main" id="{92268676-C06B-6F44-6080-9A791D2842D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92128" y="2181429"/>
            <a:ext cx="914400" cy="914400"/>
          </a:xfrm>
          <a:prstGeom prst="rect">
            <a:avLst/>
          </a:prstGeom>
        </p:spPr>
      </p:pic>
      <p:sp>
        <p:nvSpPr>
          <p:cNvPr id="55" name="TextBox 54">
            <a:extLst>
              <a:ext uri="{FF2B5EF4-FFF2-40B4-BE49-F238E27FC236}">
                <a16:creationId xmlns:a16="http://schemas.microsoft.com/office/drawing/2014/main" id="{0B0A9A13-ADEE-7E27-3D73-196A214CE383}"/>
              </a:ext>
            </a:extLst>
          </p:cNvPr>
          <p:cNvSpPr txBox="1"/>
          <p:nvPr/>
        </p:nvSpPr>
        <p:spPr>
          <a:xfrm>
            <a:off x="209320" y="3095829"/>
            <a:ext cx="1278972" cy="1815882"/>
          </a:xfrm>
          <a:prstGeom prst="rect">
            <a:avLst/>
          </a:prstGeom>
          <a:noFill/>
        </p:spPr>
        <p:txBody>
          <a:bodyPr wrap="square" rtlCol="0">
            <a:spAutoFit/>
          </a:bodyPr>
          <a:lstStyle/>
          <a:p>
            <a:pPr algn="ctr"/>
            <a:r>
              <a:rPr lang="en-US" sz="2400" dirty="0" err="1">
                <a:solidFill>
                  <a:schemeClr val="bg1"/>
                </a:solidFill>
                <a:latin typeface="Franklin Gothic Demi" panose="020B0703020102020204" pitchFamily="34" charset="0"/>
              </a:rPr>
              <a:t>CarGari</a:t>
            </a:r>
            <a:endParaRPr lang="en-US" sz="2400" dirty="0">
              <a:solidFill>
                <a:schemeClr val="bg1"/>
              </a:solidFill>
              <a:latin typeface="Franklin Gothic Demi" panose="020B0703020102020204" pitchFamily="34" charset="0"/>
            </a:endParaRPr>
          </a:p>
          <a:p>
            <a:pPr algn="ctr"/>
            <a:endParaRPr lang="en-US" sz="2400" dirty="0">
              <a:solidFill>
                <a:schemeClr val="bg1"/>
              </a:solidFill>
              <a:latin typeface="Franklin Gothic Demi" panose="020B0703020102020204" pitchFamily="34" charset="0"/>
            </a:endParaRPr>
          </a:p>
          <a:p>
            <a:r>
              <a:rPr lang="en-US" sz="1600" dirty="0">
                <a:solidFill>
                  <a:schemeClr val="bg1"/>
                </a:solidFill>
                <a:latin typeface="Franklin Gothic Demi" panose="020B0703020102020204" pitchFamily="34" charset="0"/>
              </a:rPr>
              <a:t>AI allowed for 24/7 automated platform</a:t>
            </a:r>
          </a:p>
        </p:txBody>
      </p:sp>
      <p:cxnSp>
        <p:nvCxnSpPr>
          <p:cNvPr id="56" name="Connector: Elbow 55">
            <a:extLst>
              <a:ext uri="{FF2B5EF4-FFF2-40B4-BE49-F238E27FC236}">
                <a16:creationId xmlns:a16="http://schemas.microsoft.com/office/drawing/2014/main" id="{779232EC-8CD3-B131-CA62-DAA5C1BEBB8C}"/>
              </a:ext>
            </a:extLst>
          </p:cNvPr>
          <p:cNvCxnSpPr>
            <a:cxnSpLocks/>
            <a:stCxn id="33" idx="6"/>
          </p:cNvCxnSpPr>
          <p:nvPr/>
        </p:nvCxnSpPr>
        <p:spPr>
          <a:xfrm>
            <a:off x="8181818" y="1531185"/>
            <a:ext cx="2228892" cy="2120147"/>
          </a:xfrm>
          <a:prstGeom prst="bentConnector3">
            <a:avLst>
              <a:gd name="adj1" fmla="val 50000"/>
            </a:avLst>
          </a:prstGeom>
          <a:ln w="66675">
            <a:solidFill>
              <a:srgbClr val="F4B183"/>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5F1E6546-C82D-E44B-17E0-02033CBD14C2}"/>
              </a:ext>
            </a:extLst>
          </p:cNvPr>
          <p:cNvCxnSpPr>
            <a:cxnSpLocks/>
            <a:stCxn id="43" idx="6"/>
          </p:cNvCxnSpPr>
          <p:nvPr/>
        </p:nvCxnSpPr>
        <p:spPr>
          <a:xfrm flipV="1">
            <a:off x="8181818" y="3831675"/>
            <a:ext cx="2228892" cy="1775023"/>
          </a:xfrm>
          <a:prstGeom prst="bentConnector3">
            <a:avLst>
              <a:gd name="adj1" fmla="val 50000"/>
            </a:avLst>
          </a:prstGeom>
          <a:ln w="66675">
            <a:solidFill>
              <a:srgbClr val="A9D18E"/>
            </a:solidFill>
            <a:headEnd type="oval"/>
            <a:tailEnd type="oval"/>
          </a:ln>
        </p:spPr>
        <p:style>
          <a:lnRef idx="1">
            <a:schemeClr val="accent1"/>
          </a:lnRef>
          <a:fillRef idx="0">
            <a:schemeClr val="accent1"/>
          </a:fillRef>
          <a:effectRef idx="0">
            <a:schemeClr val="accent1"/>
          </a:effectRef>
          <a:fontRef idx="minor">
            <a:schemeClr val="tx1"/>
          </a:fontRef>
        </p:style>
      </p:cxnSp>
      <p:pic>
        <p:nvPicPr>
          <p:cNvPr id="65" name="Graphic 64" descr="Music notes with solid fill">
            <a:extLst>
              <a:ext uri="{FF2B5EF4-FFF2-40B4-BE49-F238E27FC236}">
                <a16:creationId xmlns:a16="http://schemas.microsoft.com/office/drawing/2014/main" id="{B9953B34-2908-D2F5-56BB-004A06A6CEFC}"/>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0815499" y="2098703"/>
            <a:ext cx="914400" cy="914400"/>
          </a:xfrm>
          <a:prstGeom prst="rect">
            <a:avLst/>
          </a:prstGeom>
        </p:spPr>
      </p:pic>
      <p:sp>
        <p:nvSpPr>
          <p:cNvPr id="68" name="TextBox 67">
            <a:extLst>
              <a:ext uri="{FF2B5EF4-FFF2-40B4-BE49-F238E27FC236}">
                <a16:creationId xmlns:a16="http://schemas.microsoft.com/office/drawing/2014/main" id="{1CD02714-FB18-1A09-320C-7D12AA363B27}"/>
              </a:ext>
            </a:extLst>
          </p:cNvPr>
          <p:cNvSpPr txBox="1"/>
          <p:nvPr/>
        </p:nvSpPr>
        <p:spPr>
          <a:xfrm>
            <a:off x="10718448" y="3086174"/>
            <a:ext cx="1278972" cy="2308324"/>
          </a:xfrm>
          <a:prstGeom prst="rect">
            <a:avLst/>
          </a:prstGeom>
          <a:noFill/>
        </p:spPr>
        <p:txBody>
          <a:bodyPr wrap="square" rtlCol="0">
            <a:spAutoFit/>
          </a:bodyPr>
          <a:lstStyle/>
          <a:p>
            <a:pPr algn="ctr"/>
            <a:r>
              <a:rPr lang="en-US" sz="2400" dirty="0">
                <a:solidFill>
                  <a:schemeClr val="bg1"/>
                </a:solidFill>
                <a:latin typeface="Franklin Gothic Demi" panose="020B0703020102020204" pitchFamily="34" charset="0"/>
              </a:rPr>
              <a:t>Spotify</a:t>
            </a:r>
          </a:p>
          <a:p>
            <a:pPr algn="ctr"/>
            <a:endParaRPr lang="en-US" sz="2400" dirty="0">
              <a:solidFill>
                <a:schemeClr val="bg1"/>
              </a:solidFill>
              <a:latin typeface="Franklin Gothic Demi" panose="020B0703020102020204" pitchFamily="34" charset="0"/>
            </a:endParaRPr>
          </a:p>
          <a:p>
            <a:r>
              <a:rPr lang="en-US" sz="1600" dirty="0">
                <a:solidFill>
                  <a:schemeClr val="bg1"/>
                </a:solidFill>
                <a:latin typeface="Franklin Gothic Demi" panose="020B0703020102020204" pitchFamily="34" charset="0"/>
              </a:rPr>
              <a:t>Coupled historical data to create a radio like app</a:t>
            </a:r>
          </a:p>
        </p:txBody>
      </p:sp>
      <p:sp>
        <p:nvSpPr>
          <p:cNvPr id="2" name="TextBox 1">
            <a:extLst>
              <a:ext uri="{FF2B5EF4-FFF2-40B4-BE49-F238E27FC236}">
                <a16:creationId xmlns:a16="http://schemas.microsoft.com/office/drawing/2014/main" id="{8C2D1020-4EE2-C3AC-B650-B10705A95CC8}"/>
              </a:ext>
            </a:extLst>
          </p:cNvPr>
          <p:cNvSpPr txBox="1"/>
          <p:nvPr/>
        </p:nvSpPr>
        <p:spPr>
          <a:xfrm>
            <a:off x="3449409" y="143652"/>
            <a:ext cx="4832574" cy="646331"/>
          </a:xfrm>
          <a:prstGeom prst="rect">
            <a:avLst/>
          </a:prstGeom>
          <a:noFill/>
        </p:spPr>
        <p:txBody>
          <a:bodyPr wrap="square" rtlCol="0">
            <a:spAutoFit/>
          </a:bodyPr>
          <a:lstStyle/>
          <a:p>
            <a:pPr algn="ctr"/>
            <a:r>
              <a:rPr lang="en-US" sz="3600" dirty="0">
                <a:solidFill>
                  <a:schemeClr val="bg1"/>
                </a:solidFill>
                <a:latin typeface="Blackadder ITC" panose="04020505051007020D02" pitchFamily="82" charset="0"/>
              </a:rPr>
              <a:t>Advantages </a:t>
            </a:r>
          </a:p>
        </p:txBody>
      </p:sp>
    </p:spTree>
    <p:extLst>
      <p:ext uri="{BB962C8B-B14F-4D97-AF65-F5344CB8AC3E}">
        <p14:creationId xmlns:p14="http://schemas.microsoft.com/office/powerpoint/2010/main" val="40936851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100000">
              <a:schemeClr val="accent1">
                <a:lumMod val="5000"/>
                <a:lumOff val="95000"/>
              </a:schemeClr>
            </a:gs>
            <a:gs pos="70000">
              <a:srgbClr val="91B1E8"/>
            </a:gs>
            <a:gs pos="30000">
              <a:srgbClr val="7CA5EB"/>
            </a:gs>
            <a:gs pos="0">
              <a:srgbClr val="4285F4"/>
            </a:gs>
          </a:gsLst>
          <a:lin ang="5400000" scaled="1"/>
        </a:gradFill>
        <a:effectLst/>
      </p:bgPr>
    </p:bg>
    <p:spTree>
      <p:nvGrpSpPr>
        <p:cNvPr id="1" name="">
          <a:extLst>
            <a:ext uri="{FF2B5EF4-FFF2-40B4-BE49-F238E27FC236}">
              <a16:creationId xmlns:a16="http://schemas.microsoft.com/office/drawing/2014/main" id="{DC80766D-D97F-EBD8-118E-04C2AC743CD7}"/>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6BEC1428-5FD7-7563-6894-1820F8F4A7FE}"/>
              </a:ext>
            </a:extLst>
          </p:cNvPr>
          <p:cNvSpPr txBox="1"/>
          <p:nvPr/>
        </p:nvSpPr>
        <p:spPr>
          <a:xfrm>
            <a:off x="-2257425" y="-9230951"/>
            <a:ext cx="16398643" cy="2215991"/>
          </a:xfrm>
          <a:prstGeom prst="rect">
            <a:avLst/>
          </a:prstGeom>
          <a:noFill/>
          <a:ln>
            <a:noFill/>
          </a:ln>
        </p:spPr>
        <p:txBody>
          <a:bodyPr wrap="square" rtlCol="0">
            <a:spAutoFit/>
          </a:bodyPr>
          <a:lstStyle/>
          <a:p>
            <a:r>
              <a:rPr lang="en-US" sz="13800" spc="300" dirty="0">
                <a:ln w="50800">
                  <a:gradFill>
                    <a:gsLst>
                      <a:gs pos="62000">
                        <a:srgbClr val="3086FF"/>
                      </a:gs>
                      <a:gs pos="94000">
                        <a:srgbClr val="0DBB63">
                          <a:lumMod val="99000"/>
                        </a:srgbClr>
                      </a:gs>
                      <a:gs pos="51000">
                        <a:srgbClr val="FFB80C"/>
                      </a:gs>
                      <a:gs pos="0">
                        <a:srgbClr val="FF4640"/>
                      </a:gs>
                    </a:gsLst>
                    <a:lin ang="5400000" scaled="1"/>
                  </a:gradFill>
                </a:ln>
                <a:noFill/>
                <a:latin typeface="Google Sans" pitchFamily="2" charset="0"/>
                <a:ea typeface="Google Sans" pitchFamily="2" charset="0"/>
                <a:cs typeface="Google Sans" pitchFamily="2" charset="0"/>
              </a:rPr>
              <a:t>Google</a:t>
            </a:r>
          </a:p>
        </p:txBody>
      </p:sp>
      <p:pic>
        <p:nvPicPr>
          <p:cNvPr id="4" name="Picture 3" descr="File:Google Favicon 2025.svg - Wikimedia Commons">
            <a:extLst>
              <a:ext uri="{FF2B5EF4-FFF2-40B4-BE49-F238E27FC236}">
                <a16:creationId xmlns:a16="http://schemas.microsoft.com/office/drawing/2014/main" id="{CBE94554-396B-80DA-8500-83FD555BE599}"/>
              </a:ext>
            </a:extLst>
          </p:cNvPr>
          <p:cNvPicPr>
            <a:picLocks noChangeAspect="1"/>
          </p:cNvPicPr>
          <p:nvPr/>
        </p:nvPicPr>
        <p:blipFill>
          <a:blip r:embed="rId3"/>
          <a:stretch>
            <a:fillRect/>
          </a:stretch>
        </p:blipFill>
        <p:spPr>
          <a:xfrm>
            <a:off x="-3593455" y="-18117154"/>
            <a:ext cx="16071205" cy="16456905"/>
          </a:xfrm>
          <a:prstGeom prst="rect">
            <a:avLst/>
          </a:prstGeom>
          <a:ln>
            <a:noFill/>
          </a:ln>
        </p:spPr>
      </p:pic>
      <p:sp>
        <p:nvSpPr>
          <p:cNvPr id="11" name="TextBox 10">
            <a:extLst>
              <a:ext uri="{FF2B5EF4-FFF2-40B4-BE49-F238E27FC236}">
                <a16:creationId xmlns:a16="http://schemas.microsoft.com/office/drawing/2014/main" id="{0D06687D-E8DB-D1D9-3B8D-A2E4A09CA11F}"/>
              </a:ext>
            </a:extLst>
          </p:cNvPr>
          <p:cNvSpPr txBox="1"/>
          <p:nvPr/>
        </p:nvSpPr>
        <p:spPr>
          <a:xfrm>
            <a:off x="-2333625" y="-11081045"/>
            <a:ext cx="16398643" cy="2215991"/>
          </a:xfrm>
          <a:prstGeom prst="rect">
            <a:avLst/>
          </a:prstGeom>
          <a:noFill/>
          <a:ln>
            <a:noFill/>
          </a:ln>
        </p:spPr>
        <p:txBody>
          <a:bodyPr wrap="square" rtlCol="0">
            <a:spAutoFit/>
          </a:bodyPr>
          <a:lstStyle/>
          <a:p>
            <a:r>
              <a:rPr lang="en-US" sz="13800" spc="300" dirty="0">
                <a:ln w="50800">
                  <a:gradFill>
                    <a:gsLst>
                      <a:gs pos="62000">
                        <a:srgbClr val="3086FF"/>
                      </a:gs>
                      <a:gs pos="94000">
                        <a:srgbClr val="0DBB63">
                          <a:lumMod val="99000"/>
                        </a:srgbClr>
                      </a:gs>
                      <a:gs pos="51000">
                        <a:srgbClr val="FFB80C"/>
                      </a:gs>
                      <a:gs pos="0">
                        <a:srgbClr val="FF4640"/>
                      </a:gs>
                    </a:gsLst>
                    <a:lin ang="5400000" scaled="1"/>
                  </a:gradFill>
                </a:ln>
                <a:noFill/>
                <a:latin typeface="Google Sans" pitchFamily="2" charset="0"/>
                <a:ea typeface="Google Sans" pitchFamily="2" charset="0"/>
                <a:cs typeface="Google Sans" pitchFamily="2" charset="0"/>
              </a:rPr>
              <a:t>Google</a:t>
            </a:r>
          </a:p>
        </p:txBody>
      </p:sp>
      <p:sp>
        <p:nvSpPr>
          <p:cNvPr id="12" name="TextBox 11">
            <a:extLst>
              <a:ext uri="{FF2B5EF4-FFF2-40B4-BE49-F238E27FC236}">
                <a16:creationId xmlns:a16="http://schemas.microsoft.com/office/drawing/2014/main" id="{AC2EEB3A-24F3-28FB-D1E5-BF0C14E8E922}"/>
              </a:ext>
            </a:extLst>
          </p:cNvPr>
          <p:cNvSpPr txBox="1"/>
          <p:nvPr/>
        </p:nvSpPr>
        <p:spPr>
          <a:xfrm>
            <a:off x="-2257425" y="-7014960"/>
            <a:ext cx="16398643" cy="2215991"/>
          </a:xfrm>
          <a:prstGeom prst="rect">
            <a:avLst/>
          </a:prstGeom>
          <a:noFill/>
          <a:ln>
            <a:noFill/>
          </a:ln>
        </p:spPr>
        <p:txBody>
          <a:bodyPr wrap="square" rtlCol="0">
            <a:spAutoFit/>
          </a:bodyPr>
          <a:lstStyle/>
          <a:p>
            <a:r>
              <a:rPr lang="en-US" sz="13800" spc="300" dirty="0">
                <a:ln w="50800">
                  <a:gradFill>
                    <a:gsLst>
                      <a:gs pos="62000">
                        <a:srgbClr val="3086FF"/>
                      </a:gs>
                      <a:gs pos="94000">
                        <a:srgbClr val="0DBB63">
                          <a:lumMod val="99000"/>
                        </a:srgbClr>
                      </a:gs>
                      <a:gs pos="51000">
                        <a:srgbClr val="FFB80C"/>
                      </a:gs>
                      <a:gs pos="0">
                        <a:srgbClr val="FF4640"/>
                      </a:gs>
                    </a:gsLst>
                    <a:lin ang="5400000" scaled="1"/>
                  </a:gradFill>
                </a:ln>
                <a:noFill/>
                <a:latin typeface="Google Sans" pitchFamily="2" charset="0"/>
                <a:ea typeface="Google Sans" pitchFamily="2" charset="0"/>
                <a:cs typeface="Google Sans" pitchFamily="2" charset="0"/>
              </a:rPr>
              <a:t>Google</a:t>
            </a:r>
          </a:p>
        </p:txBody>
      </p:sp>
      <p:pic>
        <p:nvPicPr>
          <p:cNvPr id="9" name="Picture 8" descr="File:Google Gemini icon 2025.svg - Wikimedia Commons">
            <a:extLst>
              <a:ext uri="{FF2B5EF4-FFF2-40B4-BE49-F238E27FC236}">
                <a16:creationId xmlns:a16="http://schemas.microsoft.com/office/drawing/2014/main" id="{F5B3B175-B46A-F44C-C6DD-DE938ED587A9}"/>
              </a:ext>
            </a:extLst>
          </p:cNvPr>
          <p:cNvPicPr>
            <a:picLocks noChangeAspect="1"/>
          </p:cNvPicPr>
          <p:nvPr/>
        </p:nvPicPr>
        <p:blipFill>
          <a:blip r:embed="rId4"/>
          <a:stretch>
            <a:fillRect/>
          </a:stretch>
        </p:blipFill>
        <p:spPr>
          <a:xfrm>
            <a:off x="5218178" y="-1975159"/>
            <a:ext cx="1755643" cy="1755643"/>
          </a:xfrm>
          <a:prstGeom prst="rect">
            <a:avLst/>
          </a:prstGeom>
        </p:spPr>
      </p:pic>
      <p:sp>
        <p:nvSpPr>
          <p:cNvPr id="14" name="Rectangle 13">
            <a:extLst>
              <a:ext uri="{FF2B5EF4-FFF2-40B4-BE49-F238E27FC236}">
                <a16:creationId xmlns:a16="http://schemas.microsoft.com/office/drawing/2014/main" id="{EFC57B8E-4FD4-F7CF-62FE-63D7C024BBEF}"/>
              </a:ext>
            </a:extLst>
          </p:cNvPr>
          <p:cNvSpPr/>
          <p:nvPr/>
        </p:nvSpPr>
        <p:spPr>
          <a:xfrm>
            <a:off x="2155969" y="7101185"/>
            <a:ext cx="9150205" cy="2215991"/>
          </a:xfrm>
          <a:prstGeom prst="rect">
            <a:avLst/>
          </a:prstGeom>
          <a:noFill/>
        </p:spPr>
        <p:txBody>
          <a:bodyPr wrap="square" lIns="91440" tIns="45720" rIns="91440" bIns="45720">
            <a:spAutoFit/>
          </a:bodyPr>
          <a:lstStyle/>
          <a:p>
            <a:pPr algn="ctr"/>
            <a:r>
              <a:rPr lang="en-US" sz="13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Google Sans" pitchFamily="2" charset="0"/>
                <a:ea typeface="Google Sans" pitchFamily="2" charset="0"/>
                <a:cs typeface="Google Sans" pitchFamily="2" charset="0"/>
              </a:rPr>
              <a:t>$422.49 B</a:t>
            </a:r>
            <a:endParaRPr lang="en-US" sz="13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2" name="Rectangle: Folded Corner 1">
            <a:extLst>
              <a:ext uri="{FF2B5EF4-FFF2-40B4-BE49-F238E27FC236}">
                <a16:creationId xmlns:a16="http://schemas.microsoft.com/office/drawing/2014/main" id="{6C395FD2-8A55-3051-CCAD-757AA678A8FC}"/>
              </a:ext>
            </a:extLst>
          </p:cNvPr>
          <p:cNvSpPr/>
          <p:nvPr/>
        </p:nvSpPr>
        <p:spPr>
          <a:xfrm>
            <a:off x="4339608" y="2007745"/>
            <a:ext cx="2714625" cy="2505075"/>
          </a:xfrm>
          <a:prstGeom prst="foldedCorner">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Advantages</a:t>
            </a:r>
          </a:p>
        </p:txBody>
      </p:sp>
      <p:pic>
        <p:nvPicPr>
          <p:cNvPr id="29" name="Content Placeholder 4">
            <a:extLst>
              <a:ext uri="{FF2B5EF4-FFF2-40B4-BE49-F238E27FC236}">
                <a16:creationId xmlns:a16="http://schemas.microsoft.com/office/drawing/2014/main" id="{229E9AEA-DFC2-F371-824A-6A991B745AF3}"/>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flipH="1">
            <a:off x="6646103" y="4489960"/>
            <a:ext cx="45719" cy="45719"/>
          </a:xfrm>
          <a:prstGeom prst="rect">
            <a:avLst/>
          </a:prstGeom>
        </p:spPr>
      </p:pic>
      <p:pic>
        <p:nvPicPr>
          <p:cNvPr id="27" name="Picture 26">
            <a:extLst>
              <a:ext uri="{FF2B5EF4-FFF2-40B4-BE49-F238E27FC236}">
                <a16:creationId xmlns:a16="http://schemas.microsoft.com/office/drawing/2014/main" id="{AA5C6898-7AF4-46D3-1411-16A315D8717F}"/>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1158604" y="752445"/>
            <a:ext cx="9874789" cy="6222471"/>
          </a:xfrm>
          <a:prstGeom prst="rect">
            <a:avLst/>
          </a:prstGeom>
        </p:spPr>
      </p:pic>
      <mc:AlternateContent xmlns:mc="http://schemas.openxmlformats.org/markup-compatibility/2006" xmlns:pslz="http://schemas.microsoft.com/office/powerpoint/2016/slidezoom">
        <mc:Choice Requires="pslz">
          <p:graphicFrame>
            <p:nvGraphicFramePr>
              <p:cNvPr id="41" name="Slide Zoom 40">
                <a:extLst>
                  <a:ext uri="{FF2B5EF4-FFF2-40B4-BE49-F238E27FC236}">
                    <a16:creationId xmlns:a16="http://schemas.microsoft.com/office/drawing/2014/main" id="{501A28C0-2C5A-4645-D315-AA6E15641EEE}"/>
                  </a:ext>
                </a:extLst>
              </p:cNvPr>
              <p:cNvGraphicFramePr>
                <a:graphicFrameLocks noChangeAspect="1"/>
              </p:cNvGraphicFramePr>
              <p:nvPr>
                <p:extLst>
                  <p:ext uri="{D42A27DB-BD31-4B8C-83A1-F6EECF244321}">
                    <p14:modId xmlns:p14="http://schemas.microsoft.com/office/powerpoint/2010/main" val="2058886085"/>
                  </p:ext>
                </p:extLst>
              </p:nvPr>
            </p:nvGraphicFramePr>
            <p:xfrm rot="20129354">
              <a:off x="6739910" y="1639805"/>
              <a:ext cx="3048000" cy="1714500"/>
            </p:xfrm>
            <a:graphic>
              <a:graphicData uri="http://schemas.microsoft.com/office/powerpoint/2016/slidezoom">
                <pslz:sldZm>
                  <pslz:sldZmObj sldId="281" cId="514487862">
                    <pslz:zmPr id="{12D34ACB-162B-43C4-979F-2CF03948D2C7}" returnToParent="0" transitionDur="1000">
                      <p166:blipFill xmlns:p166="http://schemas.microsoft.com/office/powerpoint/2016/6/main">
                        <a:blip r:embed="rId8"/>
                        <a:stretch>
                          <a:fillRect/>
                        </a:stretch>
                      </p166:blipFill>
                      <p166:spPr xmlns:p166="http://schemas.microsoft.com/office/powerpoint/2016/6/main">
                        <a:xfrm rot="20129354">
                          <a:off x="0" y="0"/>
                          <a:ext cx="3048000" cy="17145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166:spPr>
                    </pslz:zmPr>
                  </pslz:sldZmObj>
                </pslz:sldZm>
              </a:graphicData>
            </a:graphic>
          </p:graphicFrame>
        </mc:Choice>
        <mc:Fallback xmlns="">
          <p:pic>
            <p:nvPicPr>
              <p:cNvPr id="41" name="Slide Zoom 40">
                <a:hlinkClick r:id="rId9" action="ppaction://hlinksldjump"/>
                <a:extLst>
                  <a:ext uri="{FF2B5EF4-FFF2-40B4-BE49-F238E27FC236}">
                    <a16:creationId xmlns:a16="http://schemas.microsoft.com/office/drawing/2014/main" id="{501A28C0-2C5A-4645-D315-AA6E15641EEE}"/>
                  </a:ext>
                </a:extLst>
              </p:cNvPr>
              <p:cNvPicPr>
                <a:picLocks noGrp="1" noRot="1" noChangeAspect="1" noMove="1" noResize="1" noEditPoints="1" noAdjustHandles="1" noChangeArrowheads="1" noChangeShapeType="1"/>
              </p:cNvPicPr>
              <p:nvPr/>
            </p:nvPicPr>
            <p:blipFill>
              <a:blip r:embed="rId10"/>
              <a:stretch>
                <a:fillRect/>
              </a:stretch>
            </p:blipFill>
            <p:spPr>
              <a:xfrm rot="20129354">
                <a:off x="6739910" y="1639805"/>
                <a:ext cx="3048000" cy="17145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mc:Fallback>
      </mc:AlternateContent>
      <mc:AlternateContent xmlns:mc="http://schemas.openxmlformats.org/markup-compatibility/2006" xmlns:pslz="http://schemas.microsoft.com/office/powerpoint/2016/slidezoom">
        <mc:Choice Requires="pslz">
          <p:graphicFrame>
            <p:nvGraphicFramePr>
              <p:cNvPr id="45" name="Slide Zoom 44">
                <a:extLst>
                  <a:ext uri="{FF2B5EF4-FFF2-40B4-BE49-F238E27FC236}">
                    <a16:creationId xmlns:a16="http://schemas.microsoft.com/office/drawing/2014/main" id="{BC9E397A-C7DC-7E72-8656-6FC4B205DEA0}"/>
                  </a:ext>
                </a:extLst>
              </p:cNvPr>
              <p:cNvGraphicFramePr>
                <a:graphicFrameLocks noChangeAspect="1"/>
              </p:cNvGraphicFramePr>
              <p:nvPr>
                <p:extLst>
                  <p:ext uri="{D42A27DB-BD31-4B8C-83A1-F6EECF244321}">
                    <p14:modId xmlns:p14="http://schemas.microsoft.com/office/powerpoint/2010/main" val="1193261229"/>
                  </p:ext>
                </p:extLst>
              </p:nvPr>
            </p:nvGraphicFramePr>
            <p:xfrm rot="1198410">
              <a:off x="2256370" y="1504797"/>
              <a:ext cx="3048000" cy="1714500"/>
            </p:xfrm>
            <a:graphic>
              <a:graphicData uri="http://schemas.microsoft.com/office/powerpoint/2016/slidezoom">
                <pslz:sldZm>
                  <pslz:sldZmObj sldId="283" cId="890582740">
                    <pslz:zmPr id="{E7BF3F56-4DD3-4C34-9333-0A6AC35C1E69}" returnToParent="0" transitionDur="1000">
                      <p166:blipFill xmlns:p166="http://schemas.microsoft.com/office/powerpoint/2016/6/main">
                        <a:blip r:embed="rId11"/>
                        <a:stretch>
                          <a:fillRect/>
                        </a:stretch>
                      </p166:blipFill>
                      <p166:spPr xmlns:p166="http://schemas.microsoft.com/office/powerpoint/2016/6/main">
                        <a:xfrm rot="1198410">
                          <a:off x="0" y="0"/>
                          <a:ext cx="3048000" cy="17145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166:spPr>
                    </pslz:zmPr>
                  </pslz:sldZmObj>
                </pslz:sldZm>
              </a:graphicData>
            </a:graphic>
          </p:graphicFrame>
        </mc:Choice>
        <mc:Fallback xmlns="">
          <p:pic>
            <p:nvPicPr>
              <p:cNvPr id="45" name="Slide Zoom 44">
                <a:hlinkClick r:id="rId12" action="ppaction://hlinksldjump"/>
                <a:extLst>
                  <a:ext uri="{FF2B5EF4-FFF2-40B4-BE49-F238E27FC236}">
                    <a16:creationId xmlns:a16="http://schemas.microsoft.com/office/drawing/2014/main" id="{BC9E397A-C7DC-7E72-8656-6FC4B205DEA0}"/>
                  </a:ext>
                </a:extLst>
              </p:cNvPr>
              <p:cNvPicPr>
                <a:picLocks noGrp="1" noRot="1" noChangeAspect="1" noMove="1" noResize="1" noEditPoints="1" noAdjustHandles="1" noChangeArrowheads="1" noChangeShapeType="1"/>
              </p:cNvPicPr>
              <p:nvPr/>
            </p:nvPicPr>
            <p:blipFill>
              <a:blip r:embed="rId13"/>
              <a:stretch>
                <a:fillRect/>
              </a:stretch>
            </p:blipFill>
            <p:spPr>
              <a:xfrm rot="1198410">
                <a:off x="2256370" y="1504797"/>
                <a:ext cx="3048000" cy="17145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mc:Fallback>
      </mc:AlternateContent>
      <p:pic>
        <p:nvPicPr>
          <p:cNvPr id="54" name="Picture 53" descr="AI - Free electronics icons">
            <a:extLst>
              <a:ext uri="{FF2B5EF4-FFF2-40B4-BE49-F238E27FC236}">
                <a16:creationId xmlns:a16="http://schemas.microsoft.com/office/drawing/2014/main" id="{4FB96D90-74B6-C217-9573-B3A876F42CB0}"/>
              </a:ext>
            </a:extLst>
          </p:cNvPr>
          <p:cNvPicPr>
            <a:picLocks noChangeAspect="1"/>
          </p:cNvPicPr>
          <p:nvPr/>
        </p:nvPicPr>
        <p:blipFill>
          <a:blip r:embed="rId14"/>
          <a:stretch>
            <a:fillRect/>
          </a:stretch>
        </p:blipFill>
        <p:spPr>
          <a:xfrm>
            <a:off x="5396119" y="1174916"/>
            <a:ext cx="1470582" cy="1470582"/>
          </a:xfrm>
          <a:prstGeom prst="rect">
            <a:avLst/>
          </a:prstGeom>
        </p:spPr>
      </p:pic>
      <p:sp>
        <p:nvSpPr>
          <p:cNvPr id="55" name="TextBox 54">
            <a:extLst>
              <a:ext uri="{FF2B5EF4-FFF2-40B4-BE49-F238E27FC236}">
                <a16:creationId xmlns:a16="http://schemas.microsoft.com/office/drawing/2014/main" id="{2CFD1051-DB93-2F10-E2A7-50755FF03610}"/>
              </a:ext>
            </a:extLst>
          </p:cNvPr>
          <p:cNvSpPr txBox="1"/>
          <p:nvPr/>
        </p:nvSpPr>
        <p:spPr>
          <a:xfrm>
            <a:off x="3275502" y="84763"/>
            <a:ext cx="6305107" cy="584775"/>
          </a:xfrm>
          <a:prstGeom prst="rect">
            <a:avLst/>
          </a:prstGeom>
          <a:noFill/>
        </p:spPr>
        <p:txBody>
          <a:bodyPr wrap="square" rtlCol="0">
            <a:spAutoFit/>
          </a:bodyPr>
          <a:lstStyle/>
          <a:p>
            <a:r>
              <a:rPr lang="en-US" sz="3200" dirty="0">
                <a:solidFill>
                  <a:schemeClr val="bg2"/>
                </a:solidFill>
                <a:latin typeface="Arial Black" panose="020B0A04020102020204" pitchFamily="34" charset="0"/>
              </a:rPr>
              <a:t>Privacy &amp; Ethical Issues </a:t>
            </a:r>
          </a:p>
        </p:txBody>
      </p:sp>
      <p:pic>
        <p:nvPicPr>
          <p:cNvPr id="59" name="Graphic 58" descr="Butterfly with solid fill">
            <a:extLst>
              <a:ext uri="{FF2B5EF4-FFF2-40B4-BE49-F238E27FC236}">
                <a16:creationId xmlns:a16="http://schemas.microsoft.com/office/drawing/2014/main" id="{B434ABEC-F6CB-5590-02E3-0CEA3D7C3A0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rot="2109008">
            <a:off x="1299454" y="671678"/>
            <a:ext cx="914400" cy="914400"/>
          </a:xfrm>
          <a:prstGeom prst="rect">
            <a:avLst/>
          </a:prstGeom>
        </p:spPr>
      </p:pic>
      <p:pic>
        <p:nvPicPr>
          <p:cNvPr id="60" name="Graphic 59" descr="Butterfly with solid fill">
            <a:extLst>
              <a:ext uri="{FF2B5EF4-FFF2-40B4-BE49-F238E27FC236}">
                <a16:creationId xmlns:a16="http://schemas.microsoft.com/office/drawing/2014/main" id="{F81E81C6-45AD-39B2-1EAB-1B546275258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rot="20348069">
            <a:off x="9978144" y="687896"/>
            <a:ext cx="914400" cy="914400"/>
          </a:xfrm>
          <a:prstGeom prst="rect">
            <a:avLst/>
          </a:prstGeom>
        </p:spPr>
      </p:pic>
      <p:pic>
        <p:nvPicPr>
          <p:cNvPr id="5" name="Picture 4" descr="Office Employee Thinking Illustration - Download SVG, PNG, EPS for Man |  IconScout">
            <a:extLst>
              <a:ext uri="{FF2B5EF4-FFF2-40B4-BE49-F238E27FC236}">
                <a16:creationId xmlns:a16="http://schemas.microsoft.com/office/drawing/2014/main" id="{E2597096-2C25-9A2E-E8DD-137AD866BC3C}"/>
              </a:ext>
            </a:extLst>
          </p:cNvPr>
          <p:cNvPicPr>
            <a:picLocks noChangeAspect="1"/>
          </p:cNvPicPr>
          <p:nvPr/>
        </p:nvPicPr>
        <p:blipFill>
          <a:blip r:embed="rId16"/>
          <a:stretch>
            <a:fillRect/>
          </a:stretch>
        </p:blipFill>
        <p:spPr>
          <a:xfrm>
            <a:off x="3737180" y="4656124"/>
            <a:ext cx="2063459" cy="2063459"/>
          </a:xfrm>
          <a:prstGeom prst="rect">
            <a:avLst/>
          </a:prstGeom>
        </p:spPr>
      </p:pic>
      <p:sp>
        <p:nvSpPr>
          <p:cNvPr id="7" name="Thought Bubble: Cloud 6">
            <a:extLst>
              <a:ext uri="{FF2B5EF4-FFF2-40B4-BE49-F238E27FC236}">
                <a16:creationId xmlns:a16="http://schemas.microsoft.com/office/drawing/2014/main" id="{AF4727FB-0A85-84D1-A5D8-67CF3586FD33}"/>
              </a:ext>
            </a:extLst>
          </p:cNvPr>
          <p:cNvSpPr/>
          <p:nvPr/>
        </p:nvSpPr>
        <p:spPr>
          <a:xfrm>
            <a:off x="4178332" y="3979245"/>
            <a:ext cx="1783734" cy="596709"/>
          </a:xfrm>
          <a:prstGeom prst="cloudCallout">
            <a:avLst/>
          </a:prstGeom>
          <a:solidFill>
            <a:srgbClr val="A1B3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Sustainable?</a:t>
            </a:r>
          </a:p>
        </p:txBody>
      </p:sp>
      <p:sp>
        <p:nvSpPr>
          <p:cNvPr id="13" name="Speech Bubble: Rectangle 12">
            <a:extLst>
              <a:ext uri="{FF2B5EF4-FFF2-40B4-BE49-F238E27FC236}">
                <a16:creationId xmlns:a16="http://schemas.microsoft.com/office/drawing/2014/main" id="{9DBB46D5-DC78-B926-532C-2AD5F82932AE}"/>
              </a:ext>
            </a:extLst>
          </p:cNvPr>
          <p:cNvSpPr/>
          <p:nvPr/>
        </p:nvSpPr>
        <p:spPr>
          <a:xfrm>
            <a:off x="2244259" y="3429000"/>
            <a:ext cx="1380443" cy="935934"/>
          </a:xfrm>
          <a:prstGeom prst="wedgeRectCallout">
            <a:avLst/>
          </a:prstGeom>
          <a:solidFill>
            <a:srgbClr val="A1B3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We need to implement AI in our business!</a:t>
            </a:r>
          </a:p>
        </p:txBody>
      </p:sp>
      <p:pic>
        <p:nvPicPr>
          <p:cNvPr id="16" name="Picture 15" descr="Businessman Boss - Free vector clipart images on creazilla.com">
            <a:extLst>
              <a:ext uri="{FF2B5EF4-FFF2-40B4-BE49-F238E27FC236}">
                <a16:creationId xmlns:a16="http://schemas.microsoft.com/office/drawing/2014/main" id="{DE0B80E4-9E91-52F7-70FA-3E7426EA0D7C}"/>
              </a:ext>
            </a:extLst>
          </p:cNvPr>
          <p:cNvPicPr>
            <a:picLocks noChangeAspect="1"/>
          </p:cNvPicPr>
          <p:nvPr/>
        </p:nvPicPr>
        <p:blipFill>
          <a:blip r:embed="rId17"/>
          <a:stretch>
            <a:fillRect/>
          </a:stretch>
        </p:blipFill>
        <p:spPr>
          <a:xfrm flipH="1">
            <a:off x="2155967" y="4384046"/>
            <a:ext cx="1615580" cy="2272403"/>
          </a:xfrm>
          <a:prstGeom prst="rect">
            <a:avLst/>
          </a:prstGeom>
        </p:spPr>
      </p:pic>
      <p:pic>
        <p:nvPicPr>
          <p:cNvPr id="19" name="Picture 18" descr="Image may contain Advertisement and Poster">
            <a:extLst>
              <a:ext uri="{FF2B5EF4-FFF2-40B4-BE49-F238E27FC236}">
                <a16:creationId xmlns:a16="http://schemas.microsoft.com/office/drawing/2014/main" id="{32308E63-9560-7908-596E-6FA8F0AEC65F}"/>
              </a:ext>
            </a:extLst>
          </p:cNvPr>
          <p:cNvPicPr>
            <a:picLocks noChangeAspect="1"/>
          </p:cNvPicPr>
          <p:nvPr/>
        </p:nvPicPr>
        <p:blipFill>
          <a:blip r:embed="rId18"/>
          <a:srcRect l="16648" r="15121"/>
          <a:stretch>
            <a:fillRect/>
          </a:stretch>
        </p:blipFill>
        <p:spPr>
          <a:xfrm rot="590247">
            <a:off x="7325016" y="4144217"/>
            <a:ext cx="2108399" cy="2059529"/>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0023497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100000">
              <a:schemeClr val="accent1">
                <a:lumMod val="5000"/>
                <a:lumOff val="95000"/>
              </a:schemeClr>
            </a:gs>
            <a:gs pos="70000">
              <a:srgbClr val="91B1E8"/>
            </a:gs>
            <a:gs pos="30000">
              <a:srgbClr val="7CA5EB"/>
            </a:gs>
            <a:gs pos="0">
              <a:srgbClr val="4285F4"/>
            </a:gs>
          </a:gsLst>
          <a:lin ang="5400000" scaled="1"/>
        </a:gradFill>
        <a:effectLst/>
      </p:bgPr>
    </p:bg>
    <p:spTree>
      <p:nvGrpSpPr>
        <p:cNvPr id="1" name="">
          <a:extLst>
            <a:ext uri="{FF2B5EF4-FFF2-40B4-BE49-F238E27FC236}">
              <a16:creationId xmlns:a16="http://schemas.microsoft.com/office/drawing/2014/main" id="{7DB1FDE6-2157-95A7-9D7E-71767D6B9250}"/>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542084F1-C69A-6019-D665-EB5F2719DC5D}"/>
              </a:ext>
            </a:extLst>
          </p:cNvPr>
          <p:cNvSpPr/>
          <p:nvPr/>
        </p:nvSpPr>
        <p:spPr>
          <a:xfrm>
            <a:off x="0" y="0"/>
            <a:ext cx="12211050" cy="6867265"/>
          </a:xfrm>
          <a:prstGeom prst="rect">
            <a:avLst/>
          </a:prstGeom>
          <a:solidFill>
            <a:srgbClr val="E4DCC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7D6E2D4-B246-74C8-11E4-92E5944806E8}"/>
              </a:ext>
            </a:extLst>
          </p:cNvPr>
          <p:cNvSpPr txBox="1"/>
          <p:nvPr/>
        </p:nvSpPr>
        <p:spPr>
          <a:xfrm>
            <a:off x="-2257425" y="-9230951"/>
            <a:ext cx="16398643" cy="2215991"/>
          </a:xfrm>
          <a:prstGeom prst="rect">
            <a:avLst/>
          </a:prstGeom>
          <a:noFill/>
          <a:ln>
            <a:noFill/>
          </a:ln>
        </p:spPr>
        <p:txBody>
          <a:bodyPr wrap="square" rtlCol="0">
            <a:spAutoFit/>
          </a:bodyPr>
          <a:lstStyle/>
          <a:p>
            <a:r>
              <a:rPr lang="en-US" sz="13800" spc="300" dirty="0">
                <a:ln w="50800">
                  <a:gradFill>
                    <a:gsLst>
                      <a:gs pos="62000">
                        <a:srgbClr val="3086FF"/>
                      </a:gs>
                      <a:gs pos="94000">
                        <a:srgbClr val="0DBB63">
                          <a:lumMod val="99000"/>
                        </a:srgbClr>
                      </a:gs>
                      <a:gs pos="51000">
                        <a:srgbClr val="FFB80C"/>
                      </a:gs>
                      <a:gs pos="0">
                        <a:srgbClr val="FF4640"/>
                      </a:gs>
                    </a:gsLst>
                    <a:lin ang="5400000" scaled="1"/>
                  </a:gradFill>
                </a:ln>
                <a:noFill/>
                <a:latin typeface="Google Sans" pitchFamily="2" charset="0"/>
                <a:ea typeface="Google Sans" pitchFamily="2" charset="0"/>
                <a:cs typeface="Google Sans" pitchFamily="2" charset="0"/>
              </a:rPr>
              <a:t>Google</a:t>
            </a:r>
          </a:p>
        </p:txBody>
      </p:sp>
      <p:pic>
        <p:nvPicPr>
          <p:cNvPr id="4" name="Picture 3" descr="File:Google Favicon 2025.svg - Wikimedia Commons">
            <a:extLst>
              <a:ext uri="{FF2B5EF4-FFF2-40B4-BE49-F238E27FC236}">
                <a16:creationId xmlns:a16="http://schemas.microsoft.com/office/drawing/2014/main" id="{901B0D6D-7133-2B1D-09A3-8DFCA8E1F3A0}"/>
              </a:ext>
            </a:extLst>
          </p:cNvPr>
          <p:cNvPicPr>
            <a:picLocks noChangeAspect="1"/>
          </p:cNvPicPr>
          <p:nvPr/>
        </p:nvPicPr>
        <p:blipFill>
          <a:blip r:embed="rId3"/>
          <a:stretch>
            <a:fillRect/>
          </a:stretch>
        </p:blipFill>
        <p:spPr>
          <a:xfrm>
            <a:off x="-3593455" y="-18117154"/>
            <a:ext cx="16071205" cy="16456905"/>
          </a:xfrm>
          <a:prstGeom prst="rect">
            <a:avLst/>
          </a:prstGeom>
          <a:ln>
            <a:noFill/>
          </a:ln>
        </p:spPr>
      </p:pic>
      <p:sp>
        <p:nvSpPr>
          <p:cNvPr id="11" name="TextBox 10">
            <a:extLst>
              <a:ext uri="{FF2B5EF4-FFF2-40B4-BE49-F238E27FC236}">
                <a16:creationId xmlns:a16="http://schemas.microsoft.com/office/drawing/2014/main" id="{3FE7E364-17D8-FFA8-F39D-4714F49AACB4}"/>
              </a:ext>
            </a:extLst>
          </p:cNvPr>
          <p:cNvSpPr txBox="1"/>
          <p:nvPr/>
        </p:nvSpPr>
        <p:spPr>
          <a:xfrm>
            <a:off x="-2333625" y="-11081045"/>
            <a:ext cx="16398643" cy="2215991"/>
          </a:xfrm>
          <a:prstGeom prst="rect">
            <a:avLst/>
          </a:prstGeom>
          <a:noFill/>
          <a:ln>
            <a:noFill/>
          </a:ln>
        </p:spPr>
        <p:txBody>
          <a:bodyPr wrap="square" rtlCol="0">
            <a:spAutoFit/>
          </a:bodyPr>
          <a:lstStyle/>
          <a:p>
            <a:r>
              <a:rPr lang="en-US" sz="13800" spc="300" dirty="0">
                <a:ln w="50800">
                  <a:gradFill>
                    <a:gsLst>
                      <a:gs pos="62000">
                        <a:srgbClr val="3086FF"/>
                      </a:gs>
                      <a:gs pos="94000">
                        <a:srgbClr val="0DBB63">
                          <a:lumMod val="99000"/>
                        </a:srgbClr>
                      </a:gs>
                      <a:gs pos="51000">
                        <a:srgbClr val="FFB80C"/>
                      </a:gs>
                      <a:gs pos="0">
                        <a:srgbClr val="FF4640"/>
                      </a:gs>
                    </a:gsLst>
                    <a:lin ang="5400000" scaled="1"/>
                  </a:gradFill>
                </a:ln>
                <a:noFill/>
                <a:latin typeface="Google Sans" pitchFamily="2" charset="0"/>
                <a:ea typeface="Google Sans" pitchFamily="2" charset="0"/>
                <a:cs typeface="Google Sans" pitchFamily="2" charset="0"/>
              </a:rPr>
              <a:t>Google</a:t>
            </a:r>
          </a:p>
        </p:txBody>
      </p:sp>
      <p:sp>
        <p:nvSpPr>
          <p:cNvPr id="12" name="TextBox 11">
            <a:extLst>
              <a:ext uri="{FF2B5EF4-FFF2-40B4-BE49-F238E27FC236}">
                <a16:creationId xmlns:a16="http://schemas.microsoft.com/office/drawing/2014/main" id="{4AE37ADE-867D-8FE8-9295-AE28A3D84650}"/>
              </a:ext>
            </a:extLst>
          </p:cNvPr>
          <p:cNvSpPr txBox="1"/>
          <p:nvPr/>
        </p:nvSpPr>
        <p:spPr>
          <a:xfrm>
            <a:off x="-2257425" y="-7014960"/>
            <a:ext cx="16398643" cy="2215991"/>
          </a:xfrm>
          <a:prstGeom prst="rect">
            <a:avLst/>
          </a:prstGeom>
          <a:noFill/>
          <a:ln>
            <a:noFill/>
          </a:ln>
        </p:spPr>
        <p:txBody>
          <a:bodyPr wrap="square" rtlCol="0">
            <a:spAutoFit/>
          </a:bodyPr>
          <a:lstStyle/>
          <a:p>
            <a:r>
              <a:rPr lang="en-US" sz="13800" spc="300" dirty="0">
                <a:ln w="50800">
                  <a:gradFill>
                    <a:gsLst>
                      <a:gs pos="62000">
                        <a:srgbClr val="3086FF"/>
                      </a:gs>
                      <a:gs pos="94000">
                        <a:srgbClr val="0DBB63">
                          <a:lumMod val="99000"/>
                        </a:srgbClr>
                      </a:gs>
                      <a:gs pos="51000">
                        <a:srgbClr val="FFB80C"/>
                      </a:gs>
                      <a:gs pos="0">
                        <a:srgbClr val="FF4640"/>
                      </a:gs>
                    </a:gsLst>
                    <a:lin ang="5400000" scaled="1"/>
                  </a:gradFill>
                </a:ln>
                <a:noFill/>
                <a:latin typeface="Google Sans" pitchFamily="2" charset="0"/>
                <a:ea typeface="Google Sans" pitchFamily="2" charset="0"/>
                <a:cs typeface="Google Sans" pitchFamily="2" charset="0"/>
              </a:rPr>
              <a:t>Google</a:t>
            </a:r>
          </a:p>
        </p:txBody>
      </p:sp>
      <p:pic>
        <p:nvPicPr>
          <p:cNvPr id="9" name="Picture 8" descr="File:Google Gemini icon 2025.svg - Wikimedia Commons">
            <a:extLst>
              <a:ext uri="{FF2B5EF4-FFF2-40B4-BE49-F238E27FC236}">
                <a16:creationId xmlns:a16="http://schemas.microsoft.com/office/drawing/2014/main" id="{84826375-CEB6-1A31-9FCD-09E68BE634C9}"/>
              </a:ext>
            </a:extLst>
          </p:cNvPr>
          <p:cNvPicPr>
            <a:picLocks noChangeAspect="1"/>
          </p:cNvPicPr>
          <p:nvPr/>
        </p:nvPicPr>
        <p:blipFill>
          <a:blip r:embed="rId4"/>
          <a:stretch>
            <a:fillRect/>
          </a:stretch>
        </p:blipFill>
        <p:spPr>
          <a:xfrm>
            <a:off x="5218178" y="-1975159"/>
            <a:ext cx="1755643" cy="1755643"/>
          </a:xfrm>
          <a:prstGeom prst="rect">
            <a:avLst/>
          </a:prstGeom>
        </p:spPr>
      </p:pic>
      <p:sp>
        <p:nvSpPr>
          <p:cNvPr id="14" name="Rectangle 13">
            <a:extLst>
              <a:ext uri="{FF2B5EF4-FFF2-40B4-BE49-F238E27FC236}">
                <a16:creationId xmlns:a16="http://schemas.microsoft.com/office/drawing/2014/main" id="{789E8D01-C6BC-634C-8E1F-7B8FD720B91D}"/>
              </a:ext>
            </a:extLst>
          </p:cNvPr>
          <p:cNvSpPr/>
          <p:nvPr/>
        </p:nvSpPr>
        <p:spPr>
          <a:xfrm>
            <a:off x="2107843" y="7693703"/>
            <a:ext cx="9150205" cy="2215991"/>
          </a:xfrm>
          <a:prstGeom prst="rect">
            <a:avLst/>
          </a:prstGeom>
          <a:noFill/>
        </p:spPr>
        <p:txBody>
          <a:bodyPr wrap="square" lIns="91440" tIns="45720" rIns="91440" bIns="45720">
            <a:spAutoFit/>
          </a:bodyPr>
          <a:lstStyle/>
          <a:p>
            <a:pPr algn="ctr"/>
            <a:r>
              <a:rPr lang="en-US" sz="13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Google Sans" pitchFamily="2" charset="0"/>
                <a:ea typeface="Google Sans" pitchFamily="2" charset="0"/>
                <a:cs typeface="Google Sans" pitchFamily="2" charset="0"/>
              </a:rPr>
              <a:t>$422.49 B</a:t>
            </a:r>
            <a:endParaRPr lang="en-US" sz="13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2" name="Rectangle: Folded Corner 1">
            <a:extLst>
              <a:ext uri="{FF2B5EF4-FFF2-40B4-BE49-F238E27FC236}">
                <a16:creationId xmlns:a16="http://schemas.microsoft.com/office/drawing/2014/main" id="{DEC78965-6932-C82C-9748-4E7B83B2E442}"/>
              </a:ext>
            </a:extLst>
          </p:cNvPr>
          <p:cNvSpPr/>
          <p:nvPr/>
        </p:nvSpPr>
        <p:spPr>
          <a:xfrm>
            <a:off x="4584583" y="1835002"/>
            <a:ext cx="2714625" cy="2505075"/>
          </a:xfrm>
          <a:prstGeom prst="foldedCorner">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Advantages</a:t>
            </a:r>
          </a:p>
        </p:txBody>
      </p:sp>
      <p:sp>
        <p:nvSpPr>
          <p:cNvPr id="3" name="TextBox 2">
            <a:extLst>
              <a:ext uri="{FF2B5EF4-FFF2-40B4-BE49-F238E27FC236}">
                <a16:creationId xmlns:a16="http://schemas.microsoft.com/office/drawing/2014/main" id="{0A5FA5BC-9653-7746-485C-65BE1C224FA3}"/>
              </a:ext>
            </a:extLst>
          </p:cNvPr>
          <p:cNvSpPr txBox="1"/>
          <p:nvPr/>
        </p:nvSpPr>
        <p:spPr>
          <a:xfrm>
            <a:off x="4286251" y="6274511"/>
            <a:ext cx="4343400" cy="646331"/>
          </a:xfrm>
          <a:prstGeom prst="rect">
            <a:avLst/>
          </a:prstGeom>
          <a:noFill/>
        </p:spPr>
        <p:txBody>
          <a:bodyPr wrap="square" rtlCol="0">
            <a:spAutoFit/>
          </a:bodyPr>
          <a:lstStyle/>
          <a:p>
            <a:r>
              <a:rPr lang="en-US" dirty="0"/>
              <a:t>*</a:t>
            </a:r>
            <a:r>
              <a:rPr lang="en-US" i="1" dirty="0"/>
              <a:t>From </a:t>
            </a:r>
            <a:r>
              <a:rPr lang="en-US" i="1" dirty="0">
                <a:hlinkClick r:id="rId5"/>
              </a:rPr>
              <a:t>FIU Business</a:t>
            </a:r>
            <a:r>
              <a:rPr lang="en-US" i="1" dirty="0"/>
              <a:t>, “The Competitive advantage of using AI in business”</a:t>
            </a:r>
            <a:endParaRPr lang="en-US" dirty="0"/>
          </a:p>
        </p:txBody>
      </p:sp>
      <p:pic>
        <p:nvPicPr>
          <p:cNvPr id="5" name="Picture 4" descr="Image may contain Advertisement and Poster">
            <a:extLst>
              <a:ext uri="{FF2B5EF4-FFF2-40B4-BE49-F238E27FC236}">
                <a16:creationId xmlns:a16="http://schemas.microsoft.com/office/drawing/2014/main" id="{07CC4ACC-8C62-3A75-27C0-54655464FC5D}"/>
              </a:ext>
            </a:extLst>
          </p:cNvPr>
          <p:cNvPicPr>
            <a:picLocks noChangeAspect="1"/>
          </p:cNvPicPr>
          <p:nvPr/>
        </p:nvPicPr>
        <p:blipFill>
          <a:blip r:embed="rId6"/>
          <a:srcRect t="4635" r="1719"/>
          <a:stretch>
            <a:fillRect/>
          </a:stretch>
        </p:blipFill>
        <p:spPr>
          <a:xfrm>
            <a:off x="2425565" y="6812281"/>
            <a:ext cx="70693" cy="45719"/>
          </a:xfrm>
          <a:custGeom>
            <a:avLst/>
            <a:gdLst>
              <a:gd name="csX0" fmla="*/ 3442772 w 7590623"/>
              <a:gd name="csY0" fmla="*/ 0 h 4909018"/>
              <a:gd name="csX1" fmla="*/ 7590623 w 7590623"/>
              <a:gd name="csY1" fmla="*/ 3910988 h 4909018"/>
              <a:gd name="csX2" fmla="*/ 7460038 w 7590623"/>
              <a:gd name="csY2" fmla="*/ 4888405 h 4909018"/>
              <a:gd name="csX3" fmla="*/ 7453830 w 7590623"/>
              <a:gd name="csY3" fmla="*/ 4909018 h 4909018"/>
              <a:gd name="csX4" fmla="*/ 0 w 7590623"/>
              <a:gd name="csY4" fmla="*/ 4909018 h 4909018"/>
              <a:gd name="csX5" fmla="*/ 0 w 7590623"/>
              <a:gd name="csY5" fmla="*/ 1729184 h 4909018"/>
              <a:gd name="csX6" fmla="*/ 3309 w 7590623"/>
              <a:gd name="csY6" fmla="*/ 1724318 h 4909018"/>
              <a:gd name="csX7" fmla="*/ 3442772 w 7590623"/>
              <a:gd name="csY7" fmla="*/ 0 h 49090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590623" h="4909018">
                <a:moveTo>
                  <a:pt x="3442772" y="0"/>
                </a:moveTo>
                <a:cubicBezTo>
                  <a:pt x="5733567" y="0"/>
                  <a:pt x="7590623" y="1751009"/>
                  <a:pt x="7590623" y="3910988"/>
                </a:cubicBezTo>
                <a:cubicBezTo>
                  <a:pt x="7590623" y="4248485"/>
                  <a:pt x="7545285" y="4575997"/>
                  <a:pt x="7460038" y="4888405"/>
                </a:cubicBezTo>
                <a:lnTo>
                  <a:pt x="7453830" y="4909018"/>
                </a:lnTo>
                <a:lnTo>
                  <a:pt x="0" y="4909018"/>
                </a:lnTo>
                <a:lnTo>
                  <a:pt x="0" y="1729184"/>
                </a:lnTo>
                <a:lnTo>
                  <a:pt x="3309" y="1724318"/>
                </a:lnTo>
                <a:cubicBezTo>
                  <a:pt x="748708" y="683988"/>
                  <a:pt x="2011025" y="0"/>
                  <a:pt x="3442772" y="0"/>
                </a:cubicBezTo>
                <a:close/>
              </a:path>
            </a:pathLst>
          </a:custGeom>
        </p:spPr>
      </p:pic>
      <p:pic>
        <p:nvPicPr>
          <p:cNvPr id="13" name="Content Placeholder 12">
            <a:extLst>
              <a:ext uri="{FF2B5EF4-FFF2-40B4-BE49-F238E27FC236}">
                <a16:creationId xmlns:a16="http://schemas.microsoft.com/office/drawing/2014/main" id="{A0FDABA2-D2DB-4471-DA57-FFA7038C9269}"/>
              </a:ext>
            </a:extLst>
          </p:cNvPr>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a:off x="2757936" y="0"/>
            <a:ext cx="6830163" cy="6830163"/>
          </a:xfrm>
          <a:prstGeom prst="rect">
            <a:avLst/>
          </a:prstGeom>
        </p:spPr>
      </p:pic>
    </p:spTree>
    <p:extLst>
      <p:ext uri="{BB962C8B-B14F-4D97-AF65-F5344CB8AC3E}">
        <p14:creationId xmlns:p14="http://schemas.microsoft.com/office/powerpoint/2010/main" val="5144878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4DCC7"/>
        </a:solidFill>
        <a:effectLst/>
      </p:bgPr>
    </p:bg>
    <p:spTree>
      <p:nvGrpSpPr>
        <p:cNvPr id="1" name=""/>
        <p:cNvGrpSpPr/>
        <p:nvPr/>
      </p:nvGrpSpPr>
      <p:grpSpPr>
        <a:xfrm>
          <a:off x="0" y="0"/>
          <a:ext cx="0" cy="0"/>
          <a:chOff x="0" y="0"/>
          <a:chExt cx="0" cy="0"/>
        </a:xfrm>
      </p:grpSpPr>
      <p:sp>
        <p:nvSpPr>
          <p:cNvPr id="6" name="Arrow: Pentagon 5">
            <a:extLst>
              <a:ext uri="{FF2B5EF4-FFF2-40B4-BE49-F238E27FC236}">
                <a16:creationId xmlns:a16="http://schemas.microsoft.com/office/drawing/2014/main" id="{1FDDFB01-F9F2-3344-F5B2-EF88A87AC945}"/>
              </a:ext>
            </a:extLst>
          </p:cNvPr>
          <p:cNvSpPr/>
          <p:nvPr/>
        </p:nvSpPr>
        <p:spPr>
          <a:xfrm>
            <a:off x="2702840" y="1608083"/>
            <a:ext cx="6251974" cy="1006508"/>
          </a:xfrm>
          <a:prstGeom prst="homePlate">
            <a:avLst/>
          </a:prstGeom>
          <a:solidFill>
            <a:srgbClr val="A1B3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F3C85B-F878-A4B3-8AE9-DB8026EC7CD2}"/>
              </a:ext>
            </a:extLst>
          </p:cNvPr>
          <p:cNvSpPr>
            <a:spLocks noGrp="1"/>
          </p:cNvSpPr>
          <p:nvPr>
            <p:ph type="title"/>
          </p:nvPr>
        </p:nvSpPr>
        <p:spPr>
          <a:xfrm>
            <a:off x="838200" y="365054"/>
            <a:ext cx="10515600" cy="1325563"/>
          </a:xfrm>
        </p:spPr>
        <p:txBody>
          <a:bodyPr/>
          <a:lstStyle/>
          <a:p>
            <a:r>
              <a:rPr lang="en-US" dirty="0">
                <a:latin typeface="Arial Black" panose="020B0A04020102020204" pitchFamily="34" charset="0"/>
              </a:rPr>
              <a:t>Ethics : Agentic Misalignment</a:t>
            </a:r>
          </a:p>
        </p:txBody>
      </p:sp>
      <p:pic>
        <p:nvPicPr>
          <p:cNvPr id="4" name="Picture 3">
            <a:extLst>
              <a:ext uri="{FF2B5EF4-FFF2-40B4-BE49-F238E27FC236}">
                <a16:creationId xmlns:a16="http://schemas.microsoft.com/office/drawing/2014/main" id="{99EBC876-A0E4-FB9D-7607-1A3DD35F4D30}"/>
              </a:ext>
            </a:extLst>
          </p:cNvPr>
          <p:cNvPicPr>
            <a:picLocks noChangeAspect="1"/>
          </p:cNvPicPr>
          <p:nvPr/>
        </p:nvPicPr>
        <p:blipFill>
          <a:blip r:embed="rId2"/>
          <a:stretch>
            <a:fillRect/>
          </a:stretch>
        </p:blipFill>
        <p:spPr>
          <a:xfrm>
            <a:off x="3010434" y="2931618"/>
            <a:ext cx="5911188" cy="2519952"/>
          </a:xfrm>
          <a:prstGeom prst="rect">
            <a:avLst/>
          </a:prstGeom>
        </p:spPr>
      </p:pic>
      <p:sp>
        <p:nvSpPr>
          <p:cNvPr id="5" name="TextBox 4">
            <a:extLst>
              <a:ext uri="{FF2B5EF4-FFF2-40B4-BE49-F238E27FC236}">
                <a16:creationId xmlns:a16="http://schemas.microsoft.com/office/drawing/2014/main" id="{7FB6DDB7-FAFD-E759-E21B-E767E2158751}"/>
              </a:ext>
            </a:extLst>
          </p:cNvPr>
          <p:cNvSpPr txBox="1"/>
          <p:nvPr/>
        </p:nvSpPr>
        <p:spPr>
          <a:xfrm>
            <a:off x="3279227" y="1829550"/>
            <a:ext cx="5911187" cy="830997"/>
          </a:xfrm>
          <a:prstGeom prst="rect">
            <a:avLst/>
          </a:prstGeom>
          <a:noFill/>
        </p:spPr>
        <p:txBody>
          <a:bodyPr wrap="square" rtlCol="0">
            <a:spAutoFit/>
          </a:bodyPr>
          <a:lstStyle/>
          <a:p>
            <a:r>
              <a:rPr lang="en-US" sz="2400" dirty="0"/>
              <a:t> A team of experimenters gave Claude full reign over the email systems</a:t>
            </a:r>
          </a:p>
        </p:txBody>
      </p:sp>
      <p:sp>
        <p:nvSpPr>
          <p:cNvPr id="8" name="Oval 7">
            <a:extLst>
              <a:ext uri="{FF2B5EF4-FFF2-40B4-BE49-F238E27FC236}">
                <a16:creationId xmlns:a16="http://schemas.microsoft.com/office/drawing/2014/main" id="{B84EDC4B-A1CB-58B1-FDC9-58E8CCDB80F1}"/>
              </a:ext>
            </a:extLst>
          </p:cNvPr>
          <p:cNvSpPr/>
          <p:nvPr/>
        </p:nvSpPr>
        <p:spPr>
          <a:xfrm>
            <a:off x="2520114" y="1428031"/>
            <a:ext cx="759114" cy="724608"/>
          </a:xfrm>
          <a:prstGeom prst="ellipse">
            <a:avLst/>
          </a:prstGeom>
          <a:solidFill>
            <a:srgbClr val="A1B3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1</a:t>
            </a:r>
          </a:p>
        </p:txBody>
      </p:sp>
      <p:sp>
        <p:nvSpPr>
          <p:cNvPr id="14" name="Arrow: Bent-Up 13">
            <a:extLst>
              <a:ext uri="{FF2B5EF4-FFF2-40B4-BE49-F238E27FC236}">
                <a16:creationId xmlns:a16="http://schemas.microsoft.com/office/drawing/2014/main" id="{FA590B70-17CF-EC57-9110-D361DC45F2FB}"/>
              </a:ext>
            </a:extLst>
          </p:cNvPr>
          <p:cNvSpPr/>
          <p:nvPr/>
        </p:nvSpPr>
        <p:spPr>
          <a:xfrm rot="10800000" flipH="1">
            <a:off x="9652869" y="2056487"/>
            <a:ext cx="1343857" cy="928734"/>
          </a:xfrm>
          <a:prstGeom prst="bentUpArrow">
            <a:avLst>
              <a:gd name="adj1" fmla="val 25126"/>
              <a:gd name="adj2" fmla="val 26560"/>
              <a:gd name="adj3" fmla="val 25000"/>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Diagonal Corners Rounded 15">
            <a:extLst>
              <a:ext uri="{FF2B5EF4-FFF2-40B4-BE49-F238E27FC236}">
                <a16:creationId xmlns:a16="http://schemas.microsoft.com/office/drawing/2014/main" id="{03683E6D-6E2D-CBA1-DCED-5B7331DFABDC}"/>
              </a:ext>
            </a:extLst>
          </p:cNvPr>
          <p:cNvSpPr/>
          <p:nvPr/>
        </p:nvSpPr>
        <p:spPr>
          <a:xfrm>
            <a:off x="9181566" y="3140179"/>
            <a:ext cx="2894819" cy="2194759"/>
          </a:xfrm>
          <a:prstGeom prst="round2DiagRect">
            <a:avLst/>
          </a:prstGeom>
          <a:solidFill>
            <a:srgbClr val="F4B18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a:p>
            <a:pPr algn="ctr"/>
            <a:r>
              <a:rPr lang="en-US" sz="2400" dirty="0">
                <a:solidFill>
                  <a:schemeClr val="tx1"/>
                </a:solidFill>
              </a:rPr>
              <a:t>               </a:t>
            </a:r>
          </a:p>
          <a:p>
            <a:pPr algn="ctr"/>
            <a:r>
              <a:rPr lang="en-US" sz="2400" dirty="0">
                <a:solidFill>
                  <a:schemeClr val="tx1"/>
                </a:solidFill>
              </a:rPr>
              <a:t>Rumors were spread about  the bot being shut down.</a:t>
            </a:r>
            <a:endParaRPr lang="en-US" sz="2400" dirty="0"/>
          </a:p>
          <a:p>
            <a:pPr algn="ctr"/>
            <a:endParaRPr lang="en-US" sz="2400" dirty="0"/>
          </a:p>
        </p:txBody>
      </p:sp>
      <p:sp>
        <p:nvSpPr>
          <p:cNvPr id="17" name="Oval 16">
            <a:extLst>
              <a:ext uri="{FF2B5EF4-FFF2-40B4-BE49-F238E27FC236}">
                <a16:creationId xmlns:a16="http://schemas.microsoft.com/office/drawing/2014/main" id="{DC2F7596-01F4-CCD8-CD1C-0BD4BAD422DE}"/>
              </a:ext>
            </a:extLst>
          </p:cNvPr>
          <p:cNvSpPr/>
          <p:nvPr/>
        </p:nvSpPr>
        <p:spPr>
          <a:xfrm>
            <a:off x="8965164" y="2927257"/>
            <a:ext cx="756863" cy="722460"/>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2</a:t>
            </a:r>
          </a:p>
        </p:txBody>
      </p:sp>
      <p:sp>
        <p:nvSpPr>
          <p:cNvPr id="18" name="Arrow: Bent-Up 17">
            <a:extLst>
              <a:ext uri="{FF2B5EF4-FFF2-40B4-BE49-F238E27FC236}">
                <a16:creationId xmlns:a16="http://schemas.microsoft.com/office/drawing/2014/main" id="{2BA22F31-70AC-95CA-EF27-72427178556C}"/>
              </a:ext>
            </a:extLst>
          </p:cNvPr>
          <p:cNvSpPr/>
          <p:nvPr/>
        </p:nvSpPr>
        <p:spPr>
          <a:xfrm rot="16200000" flipH="1">
            <a:off x="9832214" y="5307068"/>
            <a:ext cx="985166" cy="1381376"/>
          </a:xfrm>
          <a:prstGeom prst="bentUpArrow">
            <a:avLst>
              <a:gd name="adj1" fmla="val 25126"/>
              <a:gd name="adj2" fmla="val 26560"/>
              <a:gd name="adj3" fmla="val 25000"/>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Pentagon 18">
            <a:extLst>
              <a:ext uri="{FF2B5EF4-FFF2-40B4-BE49-F238E27FC236}">
                <a16:creationId xmlns:a16="http://schemas.microsoft.com/office/drawing/2014/main" id="{E91D2166-DCF0-7D88-AE7A-D24A1DC9DAFD}"/>
              </a:ext>
            </a:extLst>
          </p:cNvPr>
          <p:cNvSpPr/>
          <p:nvPr/>
        </p:nvSpPr>
        <p:spPr>
          <a:xfrm rot="10800000">
            <a:off x="2478749" y="5799491"/>
            <a:ext cx="6244953" cy="948270"/>
          </a:xfrm>
          <a:prstGeom prst="homePlate">
            <a:avLst/>
          </a:prstGeom>
          <a:solidFill>
            <a:srgbClr val="9A714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4BE9B2A5-E43C-02DC-5D67-B08A9230B227}"/>
              </a:ext>
            </a:extLst>
          </p:cNvPr>
          <p:cNvSpPr txBox="1"/>
          <p:nvPr/>
        </p:nvSpPr>
        <p:spPr>
          <a:xfrm>
            <a:off x="3709061" y="5948952"/>
            <a:ext cx="5193159" cy="1200329"/>
          </a:xfrm>
          <a:prstGeom prst="rect">
            <a:avLst/>
          </a:prstGeom>
          <a:noFill/>
        </p:spPr>
        <p:txBody>
          <a:bodyPr wrap="square" rtlCol="0">
            <a:spAutoFit/>
          </a:bodyPr>
          <a:lstStyle/>
          <a:p>
            <a:r>
              <a:rPr lang="en-US" sz="2400" dirty="0"/>
              <a:t>In retaliation, Claude decided to blackmail the CEO.</a:t>
            </a:r>
          </a:p>
          <a:p>
            <a:endParaRPr lang="en-US" sz="2400" dirty="0"/>
          </a:p>
        </p:txBody>
      </p:sp>
      <p:sp>
        <p:nvSpPr>
          <p:cNvPr id="21" name="Oval 20">
            <a:extLst>
              <a:ext uri="{FF2B5EF4-FFF2-40B4-BE49-F238E27FC236}">
                <a16:creationId xmlns:a16="http://schemas.microsoft.com/office/drawing/2014/main" id="{6EA434EB-1B3F-2245-C4EC-E4E11C51D219}"/>
              </a:ext>
            </a:extLst>
          </p:cNvPr>
          <p:cNvSpPr/>
          <p:nvPr/>
        </p:nvSpPr>
        <p:spPr>
          <a:xfrm>
            <a:off x="2798654" y="5621668"/>
            <a:ext cx="731889" cy="662671"/>
          </a:xfrm>
          <a:prstGeom prst="ellipse">
            <a:avLst/>
          </a:prstGeom>
          <a:solidFill>
            <a:srgbClr val="9A714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3</a:t>
            </a:r>
          </a:p>
        </p:txBody>
      </p:sp>
      <p:sp>
        <p:nvSpPr>
          <p:cNvPr id="22" name="Arrow: Bent-Up 21">
            <a:extLst>
              <a:ext uri="{FF2B5EF4-FFF2-40B4-BE49-F238E27FC236}">
                <a16:creationId xmlns:a16="http://schemas.microsoft.com/office/drawing/2014/main" id="{B3E1E213-1EFB-AFBF-7343-18052FD7BB98}"/>
              </a:ext>
            </a:extLst>
          </p:cNvPr>
          <p:cNvSpPr/>
          <p:nvPr/>
        </p:nvSpPr>
        <p:spPr>
          <a:xfrm flipH="1">
            <a:off x="593124" y="5239265"/>
            <a:ext cx="1072364" cy="1419215"/>
          </a:xfrm>
          <a:prstGeom prst="bentUpArrow">
            <a:avLst>
              <a:gd name="adj1" fmla="val 25126"/>
              <a:gd name="adj2" fmla="val 26560"/>
              <a:gd name="adj3" fmla="val 25000"/>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Diagonal Corners Rounded 6">
            <a:extLst>
              <a:ext uri="{FF2B5EF4-FFF2-40B4-BE49-F238E27FC236}">
                <a16:creationId xmlns:a16="http://schemas.microsoft.com/office/drawing/2014/main" id="{B65CAA12-B615-6D3E-645B-2002BC4D13DD}"/>
              </a:ext>
            </a:extLst>
          </p:cNvPr>
          <p:cNvSpPr/>
          <p:nvPr/>
        </p:nvSpPr>
        <p:spPr>
          <a:xfrm>
            <a:off x="115615" y="2989498"/>
            <a:ext cx="2764826" cy="2161574"/>
          </a:xfrm>
          <a:prstGeom prst="round2DiagRect">
            <a:avLst/>
          </a:prstGeom>
          <a:solidFill>
            <a:srgbClr val="FF464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               </a:t>
            </a:r>
          </a:p>
          <a:p>
            <a:pPr algn="ctr"/>
            <a:r>
              <a:rPr lang="en-US" sz="2400" dirty="0">
                <a:solidFill>
                  <a:schemeClr val="tx1"/>
                </a:solidFill>
              </a:rPr>
              <a:t>AI Autonomy is dangerous, “Human in the loop” mandate.</a:t>
            </a:r>
          </a:p>
        </p:txBody>
      </p:sp>
      <p:sp>
        <p:nvSpPr>
          <p:cNvPr id="9" name="Oval 8">
            <a:extLst>
              <a:ext uri="{FF2B5EF4-FFF2-40B4-BE49-F238E27FC236}">
                <a16:creationId xmlns:a16="http://schemas.microsoft.com/office/drawing/2014/main" id="{BBC01D5C-68B7-A887-15AB-BC68E57DB155}"/>
              </a:ext>
            </a:extLst>
          </p:cNvPr>
          <p:cNvSpPr/>
          <p:nvPr/>
        </p:nvSpPr>
        <p:spPr>
          <a:xfrm>
            <a:off x="0" y="2819400"/>
            <a:ext cx="756863" cy="691896"/>
          </a:xfrm>
          <a:prstGeom prst="ellipse">
            <a:avLst/>
          </a:prstGeom>
          <a:solidFill>
            <a:srgbClr val="FF464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4</a:t>
            </a:r>
          </a:p>
        </p:txBody>
      </p:sp>
      <p:sp>
        <p:nvSpPr>
          <p:cNvPr id="10" name="TextBox 9">
            <a:extLst>
              <a:ext uri="{FF2B5EF4-FFF2-40B4-BE49-F238E27FC236}">
                <a16:creationId xmlns:a16="http://schemas.microsoft.com/office/drawing/2014/main" id="{B3B16EA2-2C1D-D1DC-C338-1FF95341CDAE}"/>
              </a:ext>
            </a:extLst>
          </p:cNvPr>
          <p:cNvSpPr txBox="1"/>
          <p:nvPr/>
        </p:nvSpPr>
        <p:spPr>
          <a:xfrm>
            <a:off x="8954814" y="6490339"/>
            <a:ext cx="3121571" cy="369332"/>
          </a:xfrm>
          <a:prstGeom prst="rect">
            <a:avLst/>
          </a:prstGeom>
          <a:noFill/>
        </p:spPr>
        <p:txBody>
          <a:bodyPr wrap="square" rtlCol="0">
            <a:spAutoFit/>
          </a:bodyPr>
          <a:lstStyle/>
          <a:p>
            <a:r>
              <a:rPr lang="en-US" dirty="0"/>
              <a:t>*</a:t>
            </a:r>
            <a:r>
              <a:rPr lang="en-US" i="1" dirty="0"/>
              <a:t>From </a:t>
            </a:r>
            <a:r>
              <a:rPr lang="en-US" i="1" dirty="0">
                <a:hlinkClick r:id="rId3"/>
              </a:rPr>
              <a:t>Anthropic</a:t>
            </a:r>
            <a:endParaRPr lang="en-US" dirty="0"/>
          </a:p>
        </p:txBody>
      </p:sp>
      <p:pic>
        <p:nvPicPr>
          <p:cNvPr id="3" name="Picture 2" descr="Businessman Boss - Free vector clipart images on creazilla.com">
            <a:extLst>
              <a:ext uri="{FF2B5EF4-FFF2-40B4-BE49-F238E27FC236}">
                <a16:creationId xmlns:a16="http://schemas.microsoft.com/office/drawing/2014/main" id="{3FB093C9-40A1-11DB-B9C5-BB907AB44AE1}"/>
              </a:ext>
            </a:extLst>
          </p:cNvPr>
          <p:cNvPicPr>
            <a:picLocks noChangeAspect="1"/>
          </p:cNvPicPr>
          <p:nvPr/>
        </p:nvPicPr>
        <p:blipFill>
          <a:blip r:embed="rId4"/>
          <a:stretch>
            <a:fillRect/>
          </a:stretch>
        </p:blipFill>
        <p:spPr>
          <a:xfrm flipH="1">
            <a:off x="-5499706" y="1690617"/>
            <a:ext cx="3767976" cy="5299868"/>
          </a:xfrm>
          <a:prstGeom prst="rect">
            <a:avLst/>
          </a:prstGeom>
        </p:spPr>
      </p:pic>
      <p:sp>
        <p:nvSpPr>
          <p:cNvPr id="11" name="Speech Bubble: Rectangle 10">
            <a:extLst>
              <a:ext uri="{FF2B5EF4-FFF2-40B4-BE49-F238E27FC236}">
                <a16:creationId xmlns:a16="http://schemas.microsoft.com/office/drawing/2014/main" id="{BF04B876-12E7-946F-665D-AF6F79007FB7}"/>
              </a:ext>
            </a:extLst>
          </p:cNvPr>
          <p:cNvSpPr/>
          <p:nvPr/>
        </p:nvSpPr>
        <p:spPr>
          <a:xfrm>
            <a:off x="-3435244" y="634824"/>
            <a:ext cx="2612944" cy="1191127"/>
          </a:xfrm>
          <a:prstGeom prst="wedgeRectCallout">
            <a:avLst/>
          </a:prstGeom>
          <a:solidFill>
            <a:srgbClr val="A1B3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We need to implement AI in our business!</a:t>
            </a:r>
          </a:p>
        </p:txBody>
      </p:sp>
      <p:pic>
        <p:nvPicPr>
          <p:cNvPr id="12" name="Picture 11" descr="Office Employee Thinking Illustration - Download SVG, PNG, EPS for Man |  IconScout">
            <a:extLst>
              <a:ext uri="{FF2B5EF4-FFF2-40B4-BE49-F238E27FC236}">
                <a16:creationId xmlns:a16="http://schemas.microsoft.com/office/drawing/2014/main" id="{8E70876D-FAAF-4984-11FC-3786366C5979}"/>
              </a:ext>
            </a:extLst>
          </p:cNvPr>
          <p:cNvPicPr>
            <a:picLocks noChangeAspect="1"/>
          </p:cNvPicPr>
          <p:nvPr/>
        </p:nvPicPr>
        <p:blipFill>
          <a:blip r:embed="rId5"/>
          <a:stretch>
            <a:fillRect/>
          </a:stretch>
        </p:blipFill>
        <p:spPr>
          <a:xfrm>
            <a:off x="11925892" y="2386986"/>
            <a:ext cx="4286250" cy="4286250"/>
          </a:xfrm>
          <a:prstGeom prst="rect">
            <a:avLst/>
          </a:prstGeom>
        </p:spPr>
      </p:pic>
      <p:sp>
        <p:nvSpPr>
          <p:cNvPr id="13" name="Thought Bubble: Cloud 12">
            <a:extLst>
              <a:ext uri="{FF2B5EF4-FFF2-40B4-BE49-F238E27FC236}">
                <a16:creationId xmlns:a16="http://schemas.microsoft.com/office/drawing/2014/main" id="{3E4B07F8-9069-6F16-50AA-57B3AC492127}"/>
              </a:ext>
            </a:extLst>
          </p:cNvPr>
          <p:cNvSpPr/>
          <p:nvPr/>
        </p:nvSpPr>
        <p:spPr>
          <a:xfrm>
            <a:off x="14081636" y="1307152"/>
            <a:ext cx="3224463" cy="1600200"/>
          </a:xfrm>
          <a:prstGeom prst="cloudCallout">
            <a:avLst/>
          </a:prstGeom>
          <a:solidFill>
            <a:srgbClr val="A1B3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Sustainable?</a:t>
            </a:r>
          </a:p>
        </p:txBody>
      </p:sp>
      <p:sp>
        <p:nvSpPr>
          <p:cNvPr id="15" name="TextBox 14">
            <a:extLst>
              <a:ext uri="{FF2B5EF4-FFF2-40B4-BE49-F238E27FC236}">
                <a16:creationId xmlns:a16="http://schemas.microsoft.com/office/drawing/2014/main" id="{57C1B10A-A7C4-0AB9-38F5-D181F8A1F5BC}"/>
              </a:ext>
            </a:extLst>
          </p:cNvPr>
          <p:cNvSpPr txBox="1"/>
          <p:nvPr/>
        </p:nvSpPr>
        <p:spPr>
          <a:xfrm>
            <a:off x="3511586" y="7261623"/>
            <a:ext cx="4908884" cy="1077218"/>
          </a:xfrm>
          <a:prstGeom prst="rect">
            <a:avLst/>
          </a:prstGeom>
          <a:noFill/>
        </p:spPr>
        <p:txBody>
          <a:bodyPr wrap="square" rtlCol="0">
            <a:spAutoFit/>
          </a:bodyPr>
          <a:lstStyle/>
          <a:p>
            <a:r>
              <a:rPr lang="en-US" sz="3200" dirty="0">
                <a:latin typeface="Arial Black" panose="020B0A04020102020204" pitchFamily="34" charset="0"/>
              </a:rPr>
              <a:t>Businesses also have to think of . . .</a:t>
            </a:r>
          </a:p>
        </p:txBody>
      </p:sp>
      <p:sp>
        <p:nvSpPr>
          <p:cNvPr id="23" name="Oval 22">
            <a:extLst>
              <a:ext uri="{FF2B5EF4-FFF2-40B4-BE49-F238E27FC236}">
                <a16:creationId xmlns:a16="http://schemas.microsoft.com/office/drawing/2014/main" id="{2FD2E16B-EF6C-7804-25C9-830F78F2F410}"/>
              </a:ext>
            </a:extLst>
          </p:cNvPr>
          <p:cNvSpPr/>
          <p:nvPr/>
        </p:nvSpPr>
        <p:spPr>
          <a:xfrm>
            <a:off x="2034368" y="-3997674"/>
            <a:ext cx="3794459" cy="3794459"/>
          </a:xfrm>
          <a:prstGeom prst="ellipse">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en-US" sz="2000" dirty="0">
                <a:solidFill>
                  <a:schemeClr val="tx1"/>
                </a:solidFill>
              </a:rPr>
              <a:t>Impacts to creativity</a:t>
            </a:r>
          </a:p>
          <a:p>
            <a:pPr marL="285750" indent="-285750" algn="ctr">
              <a:buFont typeface="Arial" panose="020B0604020202020204" pitchFamily="34" charset="0"/>
              <a:buChar char="•"/>
            </a:pPr>
            <a:r>
              <a:rPr lang="en-US" sz="2000" dirty="0">
                <a:solidFill>
                  <a:schemeClr val="tx1"/>
                </a:solidFill>
              </a:rPr>
              <a:t>Views that the tool is a “substitute threat”</a:t>
            </a:r>
          </a:p>
          <a:p>
            <a:pPr marL="285750" indent="-285750" algn="ctr">
              <a:buFont typeface="Arial" panose="020B0604020202020204" pitchFamily="34" charset="0"/>
              <a:buChar char="•"/>
            </a:pPr>
            <a:r>
              <a:rPr lang="en-US" sz="2000" dirty="0">
                <a:solidFill>
                  <a:schemeClr val="tx1"/>
                </a:solidFill>
              </a:rPr>
              <a:t>Designs start to look similar</a:t>
            </a:r>
          </a:p>
          <a:p>
            <a:pPr marL="285750" indent="-285750" algn="ctr">
              <a:buFont typeface="Arial" panose="020B0604020202020204" pitchFamily="34" charset="0"/>
              <a:buChar char="•"/>
            </a:pPr>
            <a:r>
              <a:rPr lang="en-US" sz="2000" dirty="0">
                <a:solidFill>
                  <a:schemeClr val="tx1"/>
                </a:solidFill>
              </a:rPr>
              <a:t>Misinformation</a:t>
            </a:r>
          </a:p>
          <a:p>
            <a:pPr marL="285750" indent="-285750" algn="ctr">
              <a:buFont typeface="Arial" panose="020B0604020202020204" pitchFamily="34" charset="0"/>
              <a:buChar char="•"/>
            </a:pPr>
            <a:endParaRPr lang="en-US" sz="2000" dirty="0"/>
          </a:p>
        </p:txBody>
      </p:sp>
      <p:pic>
        <p:nvPicPr>
          <p:cNvPr id="25" name="Picture 24" descr="Bill Gates PNG Free Download">
            <a:extLst>
              <a:ext uri="{FF2B5EF4-FFF2-40B4-BE49-F238E27FC236}">
                <a16:creationId xmlns:a16="http://schemas.microsoft.com/office/drawing/2014/main" id="{FE30C0BF-D16D-6B5D-4223-ADF45298125A}"/>
              </a:ext>
            </a:extLst>
          </p:cNvPr>
          <p:cNvPicPr>
            <a:picLocks noChangeAspect="1"/>
          </p:cNvPicPr>
          <p:nvPr/>
        </p:nvPicPr>
        <p:blipFill>
          <a:blip r:embed="rId6"/>
          <a:stretch>
            <a:fillRect/>
          </a:stretch>
        </p:blipFill>
        <p:spPr>
          <a:xfrm>
            <a:off x="12336329" y="213139"/>
            <a:ext cx="8371690" cy="6596314"/>
          </a:xfrm>
          <a:prstGeom prst="rect">
            <a:avLst/>
          </a:prstGeom>
        </p:spPr>
      </p:pic>
      <p:sp>
        <p:nvSpPr>
          <p:cNvPr id="27" name="Oval 26">
            <a:extLst>
              <a:ext uri="{FF2B5EF4-FFF2-40B4-BE49-F238E27FC236}">
                <a16:creationId xmlns:a16="http://schemas.microsoft.com/office/drawing/2014/main" id="{63DC02B4-8F94-5275-FE40-771880B3FED3}"/>
              </a:ext>
            </a:extLst>
          </p:cNvPr>
          <p:cNvSpPr/>
          <p:nvPr/>
        </p:nvSpPr>
        <p:spPr>
          <a:xfrm>
            <a:off x="-2726038" y="7439107"/>
            <a:ext cx="8783053" cy="8783053"/>
          </a:xfrm>
          <a:prstGeom prst="ellipse">
            <a:avLst/>
          </a:prstGeom>
          <a:solidFill>
            <a:srgbClr val="F678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47BF19CF-8F1E-3FD4-0B83-488FEDB6DD5A}"/>
              </a:ext>
            </a:extLst>
          </p:cNvPr>
          <p:cNvSpPr txBox="1"/>
          <p:nvPr/>
        </p:nvSpPr>
        <p:spPr>
          <a:xfrm>
            <a:off x="606711" y="10113209"/>
            <a:ext cx="4126830" cy="3539430"/>
          </a:xfrm>
          <a:prstGeom prst="rect">
            <a:avLst/>
          </a:prstGeom>
          <a:noFill/>
        </p:spPr>
        <p:txBody>
          <a:bodyPr wrap="square" rtlCol="0">
            <a:spAutoFit/>
          </a:bodyPr>
          <a:lstStyle/>
          <a:p>
            <a:r>
              <a:rPr lang="en-US" sz="2800" dirty="0">
                <a:latin typeface="Arial Rounded MT Bold" panose="020F0704030504030204" pitchFamily="34" charset="0"/>
              </a:rPr>
              <a:t>“We should keep in mind that we’re only at the beginning of what AI can accomplish. Whatever limitations it has today will be gone before we know it.” – Bill Gates</a:t>
            </a:r>
          </a:p>
        </p:txBody>
      </p:sp>
      <p:sp>
        <p:nvSpPr>
          <p:cNvPr id="31" name="Oval 30">
            <a:extLst>
              <a:ext uri="{FF2B5EF4-FFF2-40B4-BE49-F238E27FC236}">
                <a16:creationId xmlns:a16="http://schemas.microsoft.com/office/drawing/2014/main" id="{DEB6B4C6-8DEB-6B80-ECAA-5E3EC3A8C0E8}"/>
              </a:ext>
            </a:extLst>
          </p:cNvPr>
          <p:cNvSpPr/>
          <p:nvPr/>
        </p:nvSpPr>
        <p:spPr>
          <a:xfrm>
            <a:off x="-2726039" y="7439107"/>
            <a:ext cx="8783053" cy="8783053"/>
          </a:xfrm>
          <a:prstGeom prst="ellipse">
            <a:avLst/>
          </a:prstGeom>
          <a:solidFill>
            <a:srgbClr val="F6786E">
              <a:alpha val="0"/>
            </a:srgbClr>
          </a:solidFill>
          <a:ln w="412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4" name="Group 23">
            <a:extLst>
              <a:ext uri="{FF2B5EF4-FFF2-40B4-BE49-F238E27FC236}">
                <a16:creationId xmlns:a16="http://schemas.microsoft.com/office/drawing/2014/main" id="{BA163AAE-2D48-A484-C949-5D279E748FE8}"/>
              </a:ext>
            </a:extLst>
          </p:cNvPr>
          <p:cNvGrpSpPr/>
          <p:nvPr/>
        </p:nvGrpSpPr>
        <p:grpSpPr>
          <a:xfrm rot="177087">
            <a:off x="4241912" y="7157102"/>
            <a:ext cx="3443884" cy="3833870"/>
            <a:chOff x="5866481" y="4047282"/>
            <a:chExt cx="3443884" cy="3833870"/>
          </a:xfrm>
        </p:grpSpPr>
        <p:sp>
          <p:nvSpPr>
            <p:cNvPr id="26" name="Rectangle: Rounded Corners 25">
              <a:extLst>
                <a:ext uri="{FF2B5EF4-FFF2-40B4-BE49-F238E27FC236}">
                  <a16:creationId xmlns:a16="http://schemas.microsoft.com/office/drawing/2014/main" id="{E7D2E3D1-6E95-675F-0008-492A83CF6179}"/>
                </a:ext>
              </a:extLst>
            </p:cNvPr>
            <p:cNvSpPr/>
            <p:nvPr/>
          </p:nvSpPr>
          <p:spPr>
            <a:xfrm>
              <a:off x="5866481" y="4047282"/>
              <a:ext cx="3404212" cy="3833870"/>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E952531D-71E8-8721-7C02-D827B569E108}"/>
                </a:ext>
              </a:extLst>
            </p:cNvPr>
            <p:cNvSpPr txBox="1"/>
            <p:nvPr/>
          </p:nvSpPr>
          <p:spPr>
            <a:xfrm>
              <a:off x="7166472" y="4179484"/>
              <a:ext cx="1156771" cy="1446550"/>
            </a:xfrm>
            <a:prstGeom prst="rect">
              <a:avLst/>
            </a:prstGeom>
            <a:noFill/>
          </p:spPr>
          <p:txBody>
            <a:bodyPr wrap="square" rtlCol="0">
              <a:spAutoFit/>
            </a:bodyPr>
            <a:lstStyle/>
            <a:p>
              <a:r>
                <a:rPr lang="en-US" sz="8800" b="1" dirty="0">
                  <a:latin typeface="Modern No. 20" panose="02070704070505020303" pitchFamily="18" charset="0"/>
                </a:rPr>
                <a:t>5.</a:t>
              </a:r>
            </a:p>
          </p:txBody>
        </p:sp>
        <p:sp>
          <p:nvSpPr>
            <p:cNvPr id="30" name="TextBox 29">
              <a:extLst>
                <a:ext uri="{FF2B5EF4-FFF2-40B4-BE49-F238E27FC236}">
                  <a16:creationId xmlns:a16="http://schemas.microsoft.com/office/drawing/2014/main" id="{FAAEF26B-CEEF-7E06-DC2A-E413617DD9A9}"/>
                </a:ext>
              </a:extLst>
            </p:cNvPr>
            <p:cNvSpPr txBox="1"/>
            <p:nvPr/>
          </p:nvSpPr>
          <p:spPr>
            <a:xfrm>
              <a:off x="5887401" y="5532560"/>
              <a:ext cx="3422964" cy="400110"/>
            </a:xfrm>
            <a:prstGeom prst="rect">
              <a:avLst/>
            </a:prstGeom>
            <a:noFill/>
          </p:spPr>
          <p:txBody>
            <a:bodyPr wrap="square" rtlCol="0">
              <a:spAutoFit/>
            </a:bodyPr>
            <a:lstStyle/>
            <a:p>
              <a:pPr algn="ctr"/>
              <a:r>
                <a:rPr lang="en-US" sz="2000" u="sng" dirty="0">
                  <a:solidFill>
                    <a:schemeClr val="bg1"/>
                  </a:solidFill>
                  <a:latin typeface="Modern No. 20" panose="02070704070505020303" pitchFamily="18" charset="0"/>
                </a:rPr>
                <a:t>Human Oversight</a:t>
              </a:r>
            </a:p>
          </p:txBody>
        </p:sp>
        <p:sp>
          <p:nvSpPr>
            <p:cNvPr id="32" name="TextBox 31">
              <a:extLst>
                <a:ext uri="{FF2B5EF4-FFF2-40B4-BE49-F238E27FC236}">
                  <a16:creationId xmlns:a16="http://schemas.microsoft.com/office/drawing/2014/main" id="{2DDEE08B-AC61-6116-9758-033200C3F605}"/>
                </a:ext>
              </a:extLst>
            </p:cNvPr>
            <p:cNvSpPr txBox="1"/>
            <p:nvPr/>
          </p:nvSpPr>
          <p:spPr>
            <a:xfrm>
              <a:off x="6037241" y="6239306"/>
              <a:ext cx="3123285" cy="1323439"/>
            </a:xfrm>
            <a:prstGeom prst="rect">
              <a:avLst/>
            </a:prstGeom>
            <a:noFill/>
          </p:spPr>
          <p:txBody>
            <a:bodyPr wrap="square" rtlCol="0">
              <a:spAutoFit/>
            </a:bodyPr>
            <a:lstStyle/>
            <a:p>
              <a:r>
                <a:rPr lang="en-US" sz="2000" dirty="0">
                  <a:solidFill>
                    <a:schemeClr val="bg1"/>
                  </a:solidFill>
                  <a:latin typeface="Modern No. 20" panose="02070704070505020303" pitchFamily="18" charset="0"/>
                </a:rPr>
                <a:t>Decisions always need a human, “Human in the loop” mandate to make the final call.</a:t>
              </a:r>
            </a:p>
          </p:txBody>
        </p:sp>
      </p:grpSp>
      <p:grpSp>
        <p:nvGrpSpPr>
          <p:cNvPr id="33" name="Group 32">
            <a:extLst>
              <a:ext uri="{FF2B5EF4-FFF2-40B4-BE49-F238E27FC236}">
                <a16:creationId xmlns:a16="http://schemas.microsoft.com/office/drawing/2014/main" id="{7B9DF50E-9D57-8E2E-1F50-8F158AB55D92}"/>
              </a:ext>
            </a:extLst>
          </p:cNvPr>
          <p:cNvGrpSpPr/>
          <p:nvPr/>
        </p:nvGrpSpPr>
        <p:grpSpPr>
          <a:xfrm rot="21248385">
            <a:off x="4145173" y="7183387"/>
            <a:ext cx="3443884" cy="3833870"/>
            <a:chOff x="2401677" y="3965407"/>
            <a:chExt cx="3443884" cy="3833870"/>
          </a:xfrm>
        </p:grpSpPr>
        <p:sp>
          <p:nvSpPr>
            <p:cNvPr id="34" name="Rectangle: Rounded Corners 33">
              <a:extLst>
                <a:ext uri="{FF2B5EF4-FFF2-40B4-BE49-F238E27FC236}">
                  <a16:creationId xmlns:a16="http://schemas.microsoft.com/office/drawing/2014/main" id="{97E7AB56-59DC-736B-29CB-57AC1639A637}"/>
                </a:ext>
              </a:extLst>
            </p:cNvPr>
            <p:cNvSpPr/>
            <p:nvPr/>
          </p:nvSpPr>
          <p:spPr>
            <a:xfrm>
              <a:off x="2401677" y="3965407"/>
              <a:ext cx="3404212" cy="3833870"/>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40ED74C3-E708-3856-089B-A50C06C51E9A}"/>
                </a:ext>
              </a:extLst>
            </p:cNvPr>
            <p:cNvSpPr txBox="1"/>
            <p:nvPr/>
          </p:nvSpPr>
          <p:spPr>
            <a:xfrm>
              <a:off x="3701668" y="4097609"/>
              <a:ext cx="1156771" cy="1446550"/>
            </a:xfrm>
            <a:prstGeom prst="rect">
              <a:avLst/>
            </a:prstGeom>
            <a:noFill/>
          </p:spPr>
          <p:txBody>
            <a:bodyPr wrap="square" rtlCol="0">
              <a:spAutoFit/>
            </a:bodyPr>
            <a:lstStyle/>
            <a:p>
              <a:r>
                <a:rPr lang="en-US" sz="8800" b="1" dirty="0">
                  <a:latin typeface="Modern No. 20" panose="02070704070505020303" pitchFamily="18" charset="0"/>
                </a:rPr>
                <a:t>4.</a:t>
              </a:r>
            </a:p>
          </p:txBody>
        </p:sp>
        <p:sp>
          <p:nvSpPr>
            <p:cNvPr id="36" name="TextBox 35">
              <a:extLst>
                <a:ext uri="{FF2B5EF4-FFF2-40B4-BE49-F238E27FC236}">
                  <a16:creationId xmlns:a16="http://schemas.microsoft.com/office/drawing/2014/main" id="{E2477870-D2F1-5153-A399-36922C394D13}"/>
                </a:ext>
              </a:extLst>
            </p:cNvPr>
            <p:cNvSpPr txBox="1"/>
            <p:nvPr/>
          </p:nvSpPr>
          <p:spPr>
            <a:xfrm>
              <a:off x="2422597" y="5450685"/>
              <a:ext cx="3422964" cy="400110"/>
            </a:xfrm>
            <a:prstGeom prst="rect">
              <a:avLst/>
            </a:prstGeom>
            <a:noFill/>
          </p:spPr>
          <p:txBody>
            <a:bodyPr wrap="square" rtlCol="0">
              <a:spAutoFit/>
            </a:bodyPr>
            <a:lstStyle/>
            <a:p>
              <a:pPr algn="ctr"/>
              <a:r>
                <a:rPr lang="en-US" sz="2000" u="sng" dirty="0">
                  <a:solidFill>
                    <a:schemeClr val="bg1"/>
                  </a:solidFill>
                  <a:latin typeface="Modern No. 20" panose="02070704070505020303" pitchFamily="18" charset="0"/>
                </a:rPr>
                <a:t>Privacy &amp; Security</a:t>
              </a:r>
            </a:p>
          </p:txBody>
        </p:sp>
        <p:sp>
          <p:nvSpPr>
            <p:cNvPr id="37" name="TextBox 36">
              <a:extLst>
                <a:ext uri="{FF2B5EF4-FFF2-40B4-BE49-F238E27FC236}">
                  <a16:creationId xmlns:a16="http://schemas.microsoft.com/office/drawing/2014/main" id="{74AEC8F9-95B0-4077-1432-D47BD4EADFF0}"/>
                </a:ext>
              </a:extLst>
            </p:cNvPr>
            <p:cNvSpPr txBox="1"/>
            <p:nvPr/>
          </p:nvSpPr>
          <p:spPr>
            <a:xfrm>
              <a:off x="2572437" y="6157431"/>
              <a:ext cx="3123285" cy="1015663"/>
            </a:xfrm>
            <a:prstGeom prst="rect">
              <a:avLst/>
            </a:prstGeom>
            <a:noFill/>
          </p:spPr>
          <p:txBody>
            <a:bodyPr wrap="square" rtlCol="0">
              <a:spAutoFit/>
            </a:bodyPr>
            <a:lstStyle/>
            <a:p>
              <a:r>
                <a:rPr lang="en-US" sz="2000" dirty="0">
                  <a:solidFill>
                    <a:schemeClr val="bg1"/>
                  </a:solidFill>
                  <a:latin typeface="Modern No. 20" panose="02070704070505020303" pitchFamily="18" charset="0"/>
                </a:rPr>
                <a:t>Complying with regulations like EU AI Act or GDPR and using data encryption.</a:t>
              </a:r>
            </a:p>
          </p:txBody>
        </p:sp>
      </p:grpSp>
      <p:grpSp>
        <p:nvGrpSpPr>
          <p:cNvPr id="38" name="Group 37">
            <a:extLst>
              <a:ext uri="{FF2B5EF4-FFF2-40B4-BE49-F238E27FC236}">
                <a16:creationId xmlns:a16="http://schemas.microsoft.com/office/drawing/2014/main" id="{9E7448B0-7F8E-7459-8696-44883C5DB539}"/>
              </a:ext>
            </a:extLst>
          </p:cNvPr>
          <p:cNvGrpSpPr/>
          <p:nvPr/>
        </p:nvGrpSpPr>
        <p:grpSpPr>
          <a:xfrm rot="686133">
            <a:off x="4312890" y="7369167"/>
            <a:ext cx="3443884" cy="3833870"/>
            <a:chOff x="8262651" y="1773383"/>
            <a:chExt cx="3443884" cy="3833870"/>
          </a:xfrm>
        </p:grpSpPr>
        <p:sp>
          <p:nvSpPr>
            <p:cNvPr id="39" name="Rectangle: Rounded Corners 38">
              <a:extLst>
                <a:ext uri="{FF2B5EF4-FFF2-40B4-BE49-F238E27FC236}">
                  <a16:creationId xmlns:a16="http://schemas.microsoft.com/office/drawing/2014/main" id="{96BF98F9-84BB-628A-048D-250DA97F29A7}"/>
                </a:ext>
              </a:extLst>
            </p:cNvPr>
            <p:cNvSpPr/>
            <p:nvPr/>
          </p:nvSpPr>
          <p:spPr>
            <a:xfrm>
              <a:off x="8262651" y="1773383"/>
              <a:ext cx="3404212" cy="3833870"/>
            </a:xfrm>
            <a:prstGeom prst="roundRect">
              <a:avLst/>
            </a:prstGeom>
            <a:solidFill>
              <a:srgbClr val="3259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A7DA80D8-92DE-B1FA-EB56-A389E9C0EED7}"/>
                </a:ext>
              </a:extLst>
            </p:cNvPr>
            <p:cNvSpPr txBox="1"/>
            <p:nvPr/>
          </p:nvSpPr>
          <p:spPr>
            <a:xfrm>
              <a:off x="9562642" y="1905585"/>
              <a:ext cx="1156771" cy="1446550"/>
            </a:xfrm>
            <a:prstGeom prst="rect">
              <a:avLst/>
            </a:prstGeom>
            <a:noFill/>
          </p:spPr>
          <p:txBody>
            <a:bodyPr wrap="square" rtlCol="0">
              <a:spAutoFit/>
            </a:bodyPr>
            <a:lstStyle/>
            <a:p>
              <a:r>
                <a:rPr lang="en-US" sz="8800" b="1" dirty="0">
                  <a:latin typeface="Modern No. 20" panose="02070704070505020303" pitchFamily="18" charset="0"/>
                </a:rPr>
                <a:t>3.</a:t>
              </a:r>
            </a:p>
          </p:txBody>
        </p:sp>
        <p:sp>
          <p:nvSpPr>
            <p:cNvPr id="41" name="TextBox 40">
              <a:extLst>
                <a:ext uri="{FF2B5EF4-FFF2-40B4-BE49-F238E27FC236}">
                  <a16:creationId xmlns:a16="http://schemas.microsoft.com/office/drawing/2014/main" id="{D043C544-2DF0-22FF-69B9-9FAADF3CC297}"/>
                </a:ext>
              </a:extLst>
            </p:cNvPr>
            <p:cNvSpPr txBox="1"/>
            <p:nvPr/>
          </p:nvSpPr>
          <p:spPr>
            <a:xfrm>
              <a:off x="8283571" y="3258661"/>
              <a:ext cx="3422964" cy="400110"/>
            </a:xfrm>
            <a:prstGeom prst="rect">
              <a:avLst/>
            </a:prstGeom>
            <a:noFill/>
          </p:spPr>
          <p:txBody>
            <a:bodyPr wrap="square" rtlCol="0">
              <a:spAutoFit/>
            </a:bodyPr>
            <a:lstStyle/>
            <a:p>
              <a:pPr algn="ctr"/>
              <a:r>
                <a:rPr lang="en-US" sz="2000" u="sng" dirty="0">
                  <a:solidFill>
                    <a:schemeClr val="bg1"/>
                  </a:solidFill>
                  <a:latin typeface="Modern No. 20" panose="02070704070505020303" pitchFamily="18" charset="0"/>
                </a:rPr>
                <a:t>Accountability &amp; Governance</a:t>
              </a:r>
            </a:p>
          </p:txBody>
        </p:sp>
        <p:sp>
          <p:nvSpPr>
            <p:cNvPr id="42" name="TextBox 41">
              <a:extLst>
                <a:ext uri="{FF2B5EF4-FFF2-40B4-BE49-F238E27FC236}">
                  <a16:creationId xmlns:a16="http://schemas.microsoft.com/office/drawing/2014/main" id="{C55B2881-E64C-8288-5AE8-0BD06E3AFBA5}"/>
                </a:ext>
              </a:extLst>
            </p:cNvPr>
            <p:cNvSpPr txBox="1"/>
            <p:nvPr/>
          </p:nvSpPr>
          <p:spPr>
            <a:xfrm>
              <a:off x="8433411" y="3965407"/>
              <a:ext cx="3123285" cy="1015663"/>
            </a:xfrm>
            <a:prstGeom prst="rect">
              <a:avLst/>
            </a:prstGeom>
            <a:noFill/>
          </p:spPr>
          <p:txBody>
            <a:bodyPr wrap="square" rtlCol="0">
              <a:spAutoFit/>
            </a:bodyPr>
            <a:lstStyle/>
            <a:p>
              <a:r>
                <a:rPr lang="en-US" sz="2000" dirty="0">
                  <a:solidFill>
                    <a:schemeClr val="bg1"/>
                  </a:solidFill>
                  <a:latin typeface="Modern No. 20" panose="02070704070505020303" pitchFamily="18" charset="0"/>
                </a:rPr>
                <a:t>Appoint Responsible AI Officer or Ethics board from start to finish.</a:t>
              </a:r>
            </a:p>
          </p:txBody>
        </p:sp>
      </p:grpSp>
      <p:grpSp>
        <p:nvGrpSpPr>
          <p:cNvPr id="43" name="Group 42">
            <a:extLst>
              <a:ext uri="{FF2B5EF4-FFF2-40B4-BE49-F238E27FC236}">
                <a16:creationId xmlns:a16="http://schemas.microsoft.com/office/drawing/2014/main" id="{4AF13D08-4B7A-AC68-F65D-9ED4E2292113}"/>
              </a:ext>
            </a:extLst>
          </p:cNvPr>
          <p:cNvGrpSpPr/>
          <p:nvPr/>
        </p:nvGrpSpPr>
        <p:grpSpPr>
          <a:xfrm rot="21060277">
            <a:off x="3817415" y="7240545"/>
            <a:ext cx="3443884" cy="3833870"/>
            <a:chOff x="742080" y="1498294"/>
            <a:chExt cx="3443884" cy="3833870"/>
          </a:xfrm>
        </p:grpSpPr>
        <p:sp>
          <p:nvSpPr>
            <p:cNvPr id="44" name="Rectangle: Rounded Corners 43">
              <a:extLst>
                <a:ext uri="{FF2B5EF4-FFF2-40B4-BE49-F238E27FC236}">
                  <a16:creationId xmlns:a16="http://schemas.microsoft.com/office/drawing/2014/main" id="{7B3EE2CD-136D-7432-29EB-2F4E7FF16ECC}"/>
                </a:ext>
              </a:extLst>
            </p:cNvPr>
            <p:cNvSpPr/>
            <p:nvPr/>
          </p:nvSpPr>
          <p:spPr>
            <a:xfrm>
              <a:off x="742080" y="1498294"/>
              <a:ext cx="3404212" cy="383387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E483A584-6124-825E-8FC0-040C356EC0CA}"/>
                </a:ext>
              </a:extLst>
            </p:cNvPr>
            <p:cNvSpPr txBox="1"/>
            <p:nvPr/>
          </p:nvSpPr>
          <p:spPr>
            <a:xfrm>
              <a:off x="2042071" y="1630496"/>
              <a:ext cx="1156771" cy="1446550"/>
            </a:xfrm>
            <a:prstGeom prst="rect">
              <a:avLst/>
            </a:prstGeom>
            <a:noFill/>
          </p:spPr>
          <p:txBody>
            <a:bodyPr wrap="square" rtlCol="0">
              <a:spAutoFit/>
            </a:bodyPr>
            <a:lstStyle/>
            <a:p>
              <a:r>
                <a:rPr lang="en-US" sz="8800" b="1" dirty="0">
                  <a:latin typeface="Modern No. 20" panose="02070704070505020303" pitchFamily="18" charset="0"/>
                </a:rPr>
                <a:t>2.</a:t>
              </a:r>
            </a:p>
          </p:txBody>
        </p:sp>
        <p:sp>
          <p:nvSpPr>
            <p:cNvPr id="46" name="TextBox 45">
              <a:extLst>
                <a:ext uri="{FF2B5EF4-FFF2-40B4-BE49-F238E27FC236}">
                  <a16:creationId xmlns:a16="http://schemas.microsoft.com/office/drawing/2014/main" id="{8416BC38-BC1C-DACE-C8C9-FDE3C3087622}"/>
                </a:ext>
              </a:extLst>
            </p:cNvPr>
            <p:cNvSpPr txBox="1"/>
            <p:nvPr/>
          </p:nvSpPr>
          <p:spPr>
            <a:xfrm>
              <a:off x="763000" y="2983572"/>
              <a:ext cx="3422964" cy="400110"/>
            </a:xfrm>
            <a:prstGeom prst="rect">
              <a:avLst/>
            </a:prstGeom>
            <a:noFill/>
          </p:spPr>
          <p:txBody>
            <a:bodyPr wrap="square" rtlCol="0">
              <a:spAutoFit/>
            </a:bodyPr>
            <a:lstStyle/>
            <a:p>
              <a:pPr algn="ctr"/>
              <a:r>
                <a:rPr lang="en-US" sz="2000" u="sng" dirty="0">
                  <a:solidFill>
                    <a:schemeClr val="bg1"/>
                  </a:solidFill>
                  <a:latin typeface="Modern No. 20" panose="02070704070505020303" pitchFamily="18" charset="0"/>
                </a:rPr>
                <a:t>Fairness &amp; Bias Mitigation</a:t>
              </a:r>
            </a:p>
          </p:txBody>
        </p:sp>
        <p:sp>
          <p:nvSpPr>
            <p:cNvPr id="47" name="TextBox 46">
              <a:extLst>
                <a:ext uri="{FF2B5EF4-FFF2-40B4-BE49-F238E27FC236}">
                  <a16:creationId xmlns:a16="http://schemas.microsoft.com/office/drawing/2014/main" id="{0A36D14A-D54F-385F-9367-08CC2CF6A51F}"/>
                </a:ext>
              </a:extLst>
            </p:cNvPr>
            <p:cNvSpPr txBox="1"/>
            <p:nvPr/>
          </p:nvSpPr>
          <p:spPr>
            <a:xfrm>
              <a:off x="912840" y="3690318"/>
              <a:ext cx="3123285" cy="1323439"/>
            </a:xfrm>
            <a:prstGeom prst="rect">
              <a:avLst/>
            </a:prstGeom>
            <a:noFill/>
          </p:spPr>
          <p:txBody>
            <a:bodyPr wrap="square" rtlCol="0">
              <a:spAutoFit/>
            </a:bodyPr>
            <a:lstStyle/>
            <a:p>
              <a:r>
                <a:rPr lang="en-US" sz="2000" dirty="0">
                  <a:solidFill>
                    <a:schemeClr val="bg1"/>
                  </a:solidFill>
                  <a:latin typeface="Modern No. 20" panose="02070704070505020303" pitchFamily="18" charset="0"/>
                </a:rPr>
                <a:t>AI should have quality data because whatever we input into an algorithm the same it will output back at us.</a:t>
              </a:r>
            </a:p>
          </p:txBody>
        </p:sp>
      </p:grpSp>
      <p:grpSp>
        <p:nvGrpSpPr>
          <p:cNvPr id="48" name="Group 47">
            <a:extLst>
              <a:ext uri="{FF2B5EF4-FFF2-40B4-BE49-F238E27FC236}">
                <a16:creationId xmlns:a16="http://schemas.microsoft.com/office/drawing/2014/main" id="{76641F0D-D8D9-2BE4-D8BA-5E4832A93B4C}"/>
              </a:ext>
            </a:extLst>
          </p:cNvPr>
          <p:cNvGrpSpPr/>
          <p:nvPr/>
        </p:nvGrpSpPr>
        <p:grpSpPr>
          <a:xfrm>
            <a:off x="4088836" y="7244234"/>
            <a:ext cx="3443884" cy="3833870"/>
            <a:chOff x="4505898" y="1366092"/>
            <a:chExt cx="3443884" cy="3833870"/>
          </a:xfrm>
        </p:grpSpPr>
        <p:sp>
          <p:nvSpPr>
            <p:cNvPr id="49" name="Rectangle: Rounded Corners 48">
              <a:extLst>
                <a:ext uri="{FF2B5EF4-FFF2-40B4-BE49-F238E27FC236}">
                  <a16:creationId xmlns:a16="http://schemas.microsoft.com/office/drawing/2014/main" id="{C98ECF97-7C10-E016-65F2-E5441F4E24B8}"/>
                </a:ext>
              </a:extLst>
            </p:cNvPr>
            <p:cNvSpPr/>
            <p:nvPr/>
          </p:nvSpPr>
          <p:spPr>
            <a:xfrm>
              <a:off x="4505898" y="1366092"/>
              <a:ext cx="3404212" cy="38338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B703D5F7-87E5-D772-68AD-2DA2A473C251}"/>
                </a:ext>
              </a:extLst>
            </p:cNvPr>
            <p:cNvSpPr txBox="1"/>
            <p:nvPr/>
          </p:nvSpPr>
          <p:spPr>
            <a:xfrm>
              <a:off x="5805889" y="1498294"/>
              <a:ext cx="1156771" cy="1446550"/>
            </a:xfrm>
            <a:prstGeom prst="rect">
              <a:avLst/>
            </a:prstGeom>
            <a:noFill/>
          </p:spPr>
          <p:txBody>
            <a:bodyPr wrap="square" rtlCol="0">
              <a:spAutoFit/>
            </a:bodyPr>
            <a:lstStyle/>
            <a:p>
              <a:r>
                <a:rPr lang="en-US" sz="8800" b="1" dirty="0">
                  <a:latin typeface="Modern No. 20" panose="02070704070505020303" pitchFamily="18" charset="0"/>
                </a:rPr>
                <a:t>1.</a:t>
              </a:r>
            </a:p>
          </p:txBody>
        </p:sp>
        <p:sp>
          <p:nvSpPr>
            <p:cNvPr id="51" name="TextBox 50">
              <a:extLst>
                <a:ext uri="{FF2B5EF4-FFF2-40B4-BE49-F238E27FC236}">
                  <a16:creationId xmlns:a16="http://schemas.microsoft.com/office/drawing/2014/main" id="{2F74E017-097F-E5A4-E699-AB7F2F96B374}"/>
                </a:ext>
              </a:extLst>
            </p:cNvPr>
            <p:cNvSpPr txBox="1"/>
            <p:nvPr/>
          </p:nvSpPr>
          <p:spPr>
            <a:xfrm>
              <a:off x="4526818" y="2851370"/>
              <a:ext cx="3422964" cy="400110"/>
            </a:xfrm>
            <a:prstGeom prst="rect">
              <a:avLst/>
            </a:prstGeom>
            <a:noFill/>
          </p:spPr>
          <p:txBody>
            <a:bodyPr wrap="square" rtlCol="0">
              <a:spAutoFit/>
            </a:bodyPr>
            <a:lstStyle/>
            <a:p>
              <a:r>
                <a:rPr lang="en-US" sz="2000" u="sng" dirty="0">
                  <a:solidFill>
                    <a:schemeClr val="bg1"/>
                  </a:solidFill>
                  <a:latin typeface="Modern No. 20" panose="02070704070505020303" pitchFamily="18" charset="0"/>
                </a:rPr>
                <a:t>Transparency &amp; Explainability</a:t>
              </a:r>
            </a:p>
          </p:txBody>
        </p:sp>
        <p:sp>
          <p:nvSpPr>
            <p:cNvPr id="52" name="TextBox 51">
              <a:extLst>
                <a:ext uri="{FF2B5EF4-FFF2-40B4-BE49-F238E27FC236}">
                  <a16:creationId xmlns:a16="http://schemas.microsoft.com/office/drawing/2014/main" id="{FABF65E0-F878-DC4C-C44E-2C5C610121B2}"/>
                </a:ext>
              </a:extLst>
            </p:cNvPr>
            <p:cNvSpPr txBox="1"/>
            <p:nvPr/>
          </p:nvSpPr>
          <p:spPr>
            <a:xfrm>
              <a:off x="4676658" y="3558116"/>
              <a:ext cx="3123285" cy="1323439"/>
            </a:xfrm>
            <a:prstGeom prst="rect">
              <a:avLst/>
            </a:prstGeom>
            <a:noFill/>
          </p:spPr>
          <p:txBody>
            <a:bodyPr wrap="square" rtlCol="0">
              <a:spAutoFit/>
            </a:bodyPr>
            <a:lstStyle/>
            <a:p>
              <a:r>
                <a:rPr lang="en-US" sz="2000" dirty="0">
                  <a:solidFill>
                    <a:schemeClr val="bg1"/>
                  </a:solidFill>
                  <a:latin typeface="Modern No. 20" panose="02070704070505020303" pitchFamily="18" charset="0"/>
                </a:rPr>
                <a:t>AI should not be a “Black Box”, using “Explainable AI” to show the logic behind a decision </a:t>
              </a:r>
            </a:p>
          </p:txBody>
        </p:sp>
      </p:grpSp>
    </p:spTree>
    <p:extLst>
      <p:ext uri="{BB962C8B-B14F-4D97-AF65-F5344CB8AC3E}">
        <p14:creationId xmlns:p14="http://schemas.microsoft.com/office/powerpoint/2010/main" val="8905827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335A9F"/>
            </a:gs>
            <a:gs pos="59000">
              <a:schemeClr val="accent1">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6E0AAEEE-D8E4-2684-1387-ABC35DD617B9}"/>
              </a:ext>
            </a:extLst>
          </p:cNvPr>
          <p:cNvGrpSpPr/>
          <p:nvPr/>
        </p:nvGrpSpPr>
        <p:grpSpPr>
          <a:xfrm rot="177087">
            <a:off x="4356134" y="1397074"/>
            <a:ext cx="3443884" cy="3833870"/>
            <a:chOff x="5866481" y="4047282"/>
            <a:chExt cx="3443884" cy="3833870"/>
          </a:xfrm>
        </p:grpSpPr>
        <p:sp>
          <p:nvSpPr>
            <p:cNvPr id="21" name="Rectangle: Rounded Corners 20">
              <a:extLst>
                <a:ext uri="{FF2B5EF4-FFF2-40B4-BE49-F238E27FC236}">
                  <a16:creationId xmlns:a16="http://schemas.microsoft.com/office/drawing/2014/main" id="{26669936-728A-942D-DB09-9470C78E14E8}"/>
                </a:ext>
              </a:extLst>
            </p:cNvPr>
            <p:cNvSpPr/>
            <p:nvPr/>
          </p:nvSpPr>
          <p:spPr>
            <a:xfrm>
              <a:off x="5866481" y="4047282"/>
              <a:ext cx="3404212" cy="3833870"/>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AB8174CD-5C00-11A5-1E8E-608F6DBEA8E7}"/>
                </a:ext>
              </a:extLst>
            </p:cNvPr>
            <p:cNvSpPr txBox="1"/>
            <p:nvPr/>
          </p:nvSpPr>
          <p:spPr>
            <a:xfrm>
              <a:off x="7166472" y="4179484"/>
              <a:ext cx="1156771" cy="1446550"/>
            </a:xfrm>
            <a:prstGeom prst="rect">
              <a:avLst/>
            </a:prstGeom>
            <a:noFill/>
          </p:spPr>
          <p:txBody>
            <a:bodyPr wrap="square" rtlCol="0">
              <a:spAutoFit/>
            </a:bodyPr>
            <a:lstStyle/>
            <a:p>
              <a:r>
                <a:rPr lang="en-US" sz="8800" b="1" dirty="0">
                  <a:latin typeface="Modern No. 20" panose="02070704070505020303" pitchFamily="18" charset="0"/>
                </a:rPr>
                <a:t>5.</a:t>
              </a:r>
            </a:p>
          </p:txBody>
        </p:sp>
        <p:sp>
          <p:nvSpPr>
            <p:cNvPr id="23" name="TextBox 22">
              <a:extLst>
                <a:ext uri="{FF2B5EF4-FFF2-40B4-BE49-F238E27FC236}">
                  <a16:creationId xmlns:a16="http://schemas.microsoft.com/office/drawing/2014/main" id="{73CAF123-2C9D-6477-D7F2-20C76CEA896B}"/>
                </a:ext>
              </a:extLst>
            </p:cNvPr>
            <p:cNvSpPr txBox="1"/>
            <p:nvPr/>
          </p:nvSpPr>
          <p:spPr>
            <a:xfrm>
              <a:off x="5887401" y="5532560"/>
              <a:ext cx="3422964" cy="400110"/>
            </a:xfrm>
            <a:prstGeom prst="rect">
              <a:avLst/>
            </a:prstGeom>
            <a:noFill/>
          </p:spPr>
          <p:txBody>
            <a:bodyPr wrap="square" rtlCol="0">
              <a:spAutoFit/>
            </a:bodyPr>
            <a:lstStyle/>
            <a:p>
              <a:pPr algn="ctr"/>
              <a:r>
                <a:rPr lang="en-US" sz="2000" u="sng" dirty="0">
                  <a:solidFill>
                    <a:schemeClr val="bg1"/>
                  </a:solidFill>
                  <a:latin typeface="Modern No. 20" panose="02070704070505020303" pitchFamily="18" charset="0"/>
                </a:rPr>
                <a:t>Human Oversight</a:t>
              </a:r>
            </a:p>
          </p:txBody>
        </p:sp>
        <p:sp>
          <p:nvSpPr>
            <p:cNvPr id="24" name="TextBox 23">
              <a:extLst>
                <a:ext uri="{FF2B5EF4-FFF2-40B4-BE49-F238E27FC236}">
                  <a16:creationId xmlns:a16="http://schemas.microsoft.com/office/drawing/2014/main" id="{661AA2AC-14C8-3750-478C-E15D89EBE763}"/>
                </a:ext>
              </a:extLst>
            </p:cNvPr>
            <p:cNvSpPr txBox="1"/>
            <p:nvPr/>
          </p:nvSpPr>
          <p:spPr>
            <a:xfrm>
              <a:off x="6037241" y="6239306"/>
              <a:ext cx="3123285" cy="1323439"/>
            </a:xfrm>
            <a:prstGeom prst="rect">
              <a:avLst/>
            </a:prstGeom>
            <a:noFill/>
          </p:spPr>
          <p:txBody>
            <a:bodyPr wrap="square" rtlCol="0">
              <a:spAutoFit/>
            </a:bodyPr>
            <a:lstStyle/>
            <a:p>
              <a:r>
                <a:rPr lang="en-US" sz="2000" dirty="0">
                  <a:solidFill>
                    <a:schemeClr val="bg1"/>
                  </a:solidFill>
                  <a:latin typeface="Modern No. 20" panose="02070704070505020303" pitchFamily="18" charset="0"/>
                </a:rPr>
                <a:t>Decisions always need a human, “Human in the loop” mandate to make the final call.</a:t>
              </a:r>
            </a:p>
          </p:txBody>
        </p:sp>
      </p:grpSp>
      <p:grpSp>
        <p:nvGrpSpPr>
          <p:cNvPr id="28" name="Group 27">
            <a:extLst>
              <a:ext uri="{FF2B5EF4-FFF2-40B4-BE49-F238E27FC236}">
                <a16:creationId xmlns:a16="http://schemas.microsoft.com/office/drawing/2014/main" id="{1B6B10C1-5E0F-F822-AE8E-0A66F23959AA}"/>
              </a:ext>
            </a:extLst>
          </p:cNvPr>
          <p:cNvGrpSpPr/>
          <p:nvPr/>
        </p:nvGrpSpPr>
        <p:grpSpPr>
          <a:xfrm rot="21248385">
            <a:off x="4259395" y="1423359"/>
            <a:ext cx="3443884" cy="3833870"/>
            <a:chOff x="2401677" y="3965407"/>
            <a:chExt cx="3443884" cy="3833870"/>
          </a:xfrm>
        </p:grpSpPr>
        <p:sp>
          <p:nvSpPr>
            <p:cNvPr id="14" name="Rectangle: Rounded Corners 13">
              <a:extLst>
                <a:ext uri="{FF2B5EF4-FFF2-40B4-BE49-F238E27FC236}">
                  <a16:creationId xmlns:a16="http://schemas.microsoft.com/office/drawing/2014/main" id="{BFDD5735-7722-5DF5-7FA2-9118441EA615}"/>
                </a:ext>
              </a:extLst>
            </p:cNvPr>
            <p:cNvSpPr/>
            <p:nvPr/>
          </p:nvSpPr>
          <p:spPr>
            <a:xfrm>
              <a:off x="2401677" y="3965407"/>
              <a:ext cx="3404212" cy="3833870"/>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CE82951-03AC-F0C8-5EB6-8ED2D8E0CBB6}"/>
                </a:ext>
              </a:extLst>
            </p:cNvPr>
            <p:cNvSpPr txBox="1"/>
            <p:nvPr/>
          </p:nvSpPr>
          <p:spPr>
            <a:xfrm>
              <a:off x="3701668" y="4097609"/>
              <a:ext cx="1156771" cy="1446550"/>
            </a:xfrm>
            <a:prstGeom prst="rect">
              <a:avLst/>
            </a:prstGeom>
            <a:noFill/>
          </p:spPr>
          <p:txBody>
            <a:bodyPr wrap="square" rtlCol="0">
              <a:spAutoFit/>
            </a:bodyPr>
            <a:lstStyle/>
            <a:p>
              <a:r>
                <a:rPr lang="en-US" sz="8800" b="1" dirty="0">
                  <a:latin typeface="Modern No. 20" panose="02070704070505020303" pitchFamily="18" charset="0"/>
                </a:rPr>
                <a:t>4.</a:t>
              </a:r>
            </a:p>
          </p:txBody>
        </p:sp>
        <p:sp>
          <p:nvSpPr>
            <p:cNvPr id="16" name="TextBox 15">
              <a:extLst>
                <a:ext uri="{FF2B5EF4-FFF2-40B4-BE49-F238E27FC236}">
                  <a16:creationId xmlns:a16="http://schemas.microsoft.com/office/drawing/2014/main" id="{EEE3008C-F7DC-CDC9-9846-0A4D0B15636A}"/>
                </a:ext>
              </a:extLst>
            </p:cNvPr>
            <p:cNvSpPr txBox="1"/>
            <p:nvPr/>
          </p:nvSpPr>
          <p:spPr>
            <a:xfrm>
              <a:off x="2422597" y="5450685"/>
              <a:ext cx="3422964" cy="400110"/>
            </a:xfrm>
            <a:prstGeom prst="rect">
              <a:avLst/>
            </a:prstGeom>
            <a:noFill/>
          </p:spPr>
          <p:txBody>
            <a:bodyPr wrap="square" rtlCol="0">
              <a:spAutoFit/>
            </a:bodyPr>
            <a:lstStyle/>
            <a:p>
              <a:pPr algn="ctr"/>
              <a:r>
                <a:rPr lang="en-US" sz="2000" u="sng" dirty="0">
                  <a:solidFill>
                    <a:schemeClr val="bg1"/>
                  </a:solidFill>
                  <a:latin typeface="Modern No. 20" panose="02070704070505020303" pitchFamily="18" charset="0"/>
                </a:rPr>
                <a:t>Privacy &amp; Security</a:t>
              </a:r>
            </a:p>
          </p:txBody>
        </p:sp>
        <p:sp>
          <p:nvSpPr>
            <p:cNvPr id="17" name="TextBox 16">
              <a:extLst>
                <a:ext uri="{FF2B5EF4-FFF2-40B4-BE49-F238E27FC236}">
                  <a16:creationId xmlns:a16="http://schemas.microsoft.com/office/drawing/2014/main" id="{406F1A2D-33C5-0DB9-7A29-76332F798164}"/>
                </a:ext>
              </a:extLst>
            </p:cNvPr>
            <p:cNvSpPr txBox="1"/>
            <p:nvPr/>
          </p:nvSpPr>
          <p:spPr>
            <a:xfrm>
              <a:off x="2572437" y="6157431"/>
              <a:ext cx="3123285" cy="1015663"/>
            </a:xfrm>
            <a:prstGeom prst="rect">
              <a:avLst/>
            </a:prstGeom>
            <a:noFill/>
          </p:spPr>
          <p:txBody>
            <a:bodyPr wrap="square" rtlCol="0">
              <a:spAutoFit/>
            </a:bodyPr>
            <a:lstStyle/>
            <a:p>
              <a:r>
                <a:rPr lang="en-US" sz="2000" dirty="0">
                  <a:solidFill>
                    <a:schemeClr val="bg1"/>
                  </a:solidFill>
                  <a:latin typeface="Modern No. 20" panose="02070704070505020303" pitchFamily="18" charset="0"/>
                </a:rPr>
                <a:t>Complying with regulations like EU AI Act or GDPR and using data encryption.</a:t>
              </a:r>
            </a:p>
          </p:txBody>
        </p:sp>
      </p:grpSp>
      <p:grpSp>
        <p:nvGrpSpPr>
          <p:cNvPr id="27" name="Group 26">
            <a:extLst>
              <a:ext uri="{FF2B5EF4-FFF2-40B4-BE49-F238E27FC236}">
                <a16:creationId xmlns:a16="http://schemas.microsoft.com/office/drawing/2014/main" id="{A9CE3970-B8EA-0B03-47BE-3D0D3FAB6F4D}"/>
              </a:ext>
            </a:extLst>
          </p:cNvPr>
          <p:cNvGrpSpPr/>
          <p:nvPr/>
        </p:nvGrpSpPr>
        <p:grpSpPr>
          <a:xfrm rot="686133">
            <a:off x="4427112" y="1609139"/>
            <a:ext cx="3443884" cy="3833870"/>
            <a:chOff x="8262651" y="1773383"/>
            <a:chExt cx="3443884" cy="3833870"/>
          </a:xfrm>
        </p:grpSpPr>
        <p:sp>
          <p:nvSpPr>
            <p:cNvPr id="6" name="Rectangle: Rounded Corners 5">
              <a:extLst>
                <a:ext uri="{FF2B5EF4-FFF2-40B4-BE49-F238E27FC236}">
                  <a16:creationId xmlns:a16="http://schemas.microsoft.com/office/drawing/2014/main" id="{67AE0A1E-72D7-FE25-9293-76BFBCE4DCE6}"/>
                </a:ext>
              </a:extLst>
            </p:cNvPr>
            <p:cNvSpPr/>
            <p:nvPr/>
          </p:nvSpPr>
          <p:spPr>
            <a:xfrm>
              <a:off x="8262651" y="1773383"/>
              <a:ext cx="3404212" cy="3833870"/>
            </a:xfrm>
            <a:prstGeom prst="roundRect">
              <a:avLst/>
            </a:prstGeom>
            <a:solidFill>
              <a:srgbClr val="3259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03A66F5-E2A7-34B3-CA63-0BF8945CAEB5}"/>
                </a:ext>
              </a:extLst>
            </p:cNvPr>
            <p:cNvSpPr txBox="1"/>
            <p:nvPr/>
          </p:nvSpPr>
          <p:spPr>
            <a:xfrm>
              <a:off x="9562642" y="1905585"/>
              <a:ext cx="1156771" cy="1446550"/>
            </a:xfrm>
            <a:prstGeom prst="rect">
              <a:avLst/>
            </a:prstGeom>
            <a:noFill/>
          </p:spPr>
          <p:txBody>
            <a:bodyPr wrap="square" rtlCol="0">
              <a:spAutoFit/>
            </a:bodyPr>
            <a:lstStyle/>
            <a:p>
              <a:r>
                <a:rPr lang="en-US" sz="8800" b="1" dirty="0">
                  <a:latin typeface="Modern No. 20" panose="02070704070505020303" pitchFamily="18" charset="0"/>
                </a:rPr>
                <a:t>3.</a:t>
              </a:r>
            </a:p>
          </p:txBody>
        </p:sp>
        <p:sp>
          <p:nvSpPr>
            <p:cNvPr id="8" name="TextBox 7">
              <a:extLst>
                <a:ext uri="{FF2B5EF4-FFF2-40B4-BE49-F238E27FC236}">
                  <a16:creationId xmlns:a16="http://schemas.microsoft.com/office/drawing/2014/main" id="{1378BF2B-2F72-4FF9-151E-C1D30DDD2388}"/>
                </a:ext>
              </a:extLst>
            </p:cNvPr>
            <p:cNvSpPr txBox="1"/>
            <p:nvPr/>
          </p:nvSpPr>
          <p:spPr>
            <a:xfrm>
              <a:off x="8283571" y="3258661"/>
              <a:ext cx="3422964" cy="400110"/>
            </a:xfrm>
            <a:prstGeom prst="rect">
              <a:avLst/>
            </a:prstGeom>
            <a:noFill/>
          </p:spPr>
          <p:txBody>
            <a:bodyPr wrap="square" rtlCol="0">
              <a:spAutoFit/>
            </a:bodyPr>
            <a:lstStyle/>
            <a:p>
              <a:pPr algn="ctr"/>
              <a:r>
                <a:rPr lang="en-US" sz="2000" u="sng" dirty="0">
                  <a:solidFill>
                    <a:schemeClr val="bg1"/>
                  </a:solidFill>
                  <a:latin typeface="Modern No. 20" panose="02070704070505020303" pitchFamily="18" charset="0"/>
                </a:rPr>
                <a:t>Accountability &amp; Governance</a:t>
              </a:r>
            </a:p>
          </p:txBody>
        </p:sp>
        <p:sp>
          <p:nvSpPr>
            <p:cNvPr id="9" name="TextBox 8">
              <a:extLst>
                <a:ext uri="{FF2B5EF4-FFF2-40B4-BE49-F238E27FC236}">
                  <a16:creationId xmlns:a16="http://schemas.microsoft.com/office/drawing/2014/main" id="{1F9EBCF1-EAAA-6699-6A49-4424D1150641}"/>
                </a:ext>
              </a:extLst>
            </p:cNvPr>
            <p:cNvSpPr txBox="1"/>
            <p:nvPr/>
          </p:nvSpPr>
          <p:spPr>
            <a:xfrm>
              <a:off x="8433411" y="3965407"/>
              <a:ext cx="3123285" cy="1015663"/>
            </a:xfrm>
            <a:prstGeom prst="rect">
              <a:avLst/>
            </a:prstGeom>
            <a:noFill/>
          </p:spPr>
          <p:txBody>
            <a:bodyPr wrap="square" rtlCol="0">
              <a:spAutoFit/>
            </a:bodyPr>
            <a:lstStyle/>
            <a:p>
              <a:r>
                <a:rPr lang="en-US" sz="2000" dirty="0">
                  <a:solidFill>
                    <a:schemeClr val="bg1"/>
                  </a:solidFill>
                  <a:latin typeface="Modern No. 20" panose="02070704070505020303" pitchFamily="18" charset="0"/>
                </a:rPr>
                <a:t>Appoint Responsible AI Officer or Ethics board from start to finish.</a:t>
              </a:r>
            </a:p>
          </p:txBody>
        </p:sp>
      </p:grpSp>
      <p:grpSp>
        <p:nvGrpSpPr>
          <p:cNvPr id="25" name="Group 24">
            <a:extLst>
              <a:ext uri="{FF2B5EF4-FFF2-40B4-BE49-F238E27FC236}">
                <a16:creationId xmlns:a16="http://schemas.microsoft.com/office/drawing/2014/main" id="{6D6154CC-10C0-068A-F3AA-D0BEC3339143}"/>
              </a:ext>
            </a:extLst>
          </p:cNvPr>
          <p:cNvGrpSpPr/>
          <p:nvPr/>
        </p:nvGrpSpPr>
        <p:grpSpPr>
          <a:xfrm rot="21060277">
            <a:off x="3931637" y="1480517"/>
            <a:ext cx="3443884" cy="3833870"/>
            <a:chOff x="742080" y="1498294"/>
            <a:chExt cx="3443884" cy="3833870"/>
          </a:xfrm>
        </p:grpSpPr>
        <p:sp>
          <p:nvSpPr>
            <p:cNvPr id="2" name="Rectangle: Rounded Corners 1">
              <a:extLst>
                <a:ext uri="{FF2B5EF4-FFF2-40B4-BE49-F238E27FC236}">
                  <a16:creationId xmlns:a16="http://schemas.microsoft.com/office/drawing/2014/main" id="{4A2770AA-35C1-2906-E73F-19AAF429E3BF}"/>
                </a:ext>
              </a:extLst>
            </p:cNvPr>
            <p:cNvSpPr/>
            <p:nvPr/>
          </p:nvSpPr>
          <p:spPr>
            <a:xfrm>
              <a:off x="742080" y="1498294"/>
              <a:ext cx="3404212" cy="383387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3E718FD-6AEC-66BF-43C7-C79850871855}"/>
                </a:ext>
              </a:extLst>
            </p:cNvPr>
            <p:cNvSpPr txBox="1"/>
            <p:nvPr/>
          </p:nvSpPr>
          <p:spPr>
            <a:xfrm>
              <a:off x="2042071" y="1630496"/>
              <a:ext cx="1156771" cy="1446550"/>
            </a:xfrm>
            <a:prstGeom prst="rect">
              <a:avLst/>
            </a:prstGeom>
            <a:noFill/>
          </p:spPr>
          <p:txBody>
            <a:bodyPr wrap="square" rtlCol="0">
              <a:spAutoFit/>
            </a:bodyPr>
            <a:lstStyle/>
            <a:p>
              <a:r>
                <a:rPr lang="en-US" sz="8800" b="1" dirty="0">
                  <a:latin typeface="Modern No. 20" panose="02070704070505020303" pitchFamily="18" charset="0"/>
                </a:rPr>
                <a:t>2.</a:t>
              </a:r>
            </a:p>
          </p:txBody>
        </p:sp>
        <p:sp>
          <p:nvSpPr>
            <p:cNvPr id="4" name="TextBox 3">
              <a:extLst>
                <a:ext uri="{FF2B5EF4-FFF2-40B4-BE49-F238E27FC236}">
                  <a16:creationId xmlns:a16="http://schemas.microsoft.com/office/drawing/2014/main" id="{B8362B5E-B63F-F96E-39B0-B1AC598A600D}"/>
                </a:ext>
              </a:extLst>
            </p:cNvPr>
            <p:cNvSpPr txBox="1"/>
            <p:nvPr/>
          </p:nvSpPr>
          <p:spPr>
            <a:xfrm>
              <a:off x="763000" y="2983572"/>
              <a:ext cx="3422964" cy="400110"/>
            </a:xfrm>
            <a:prstGeom prst="rect">
              <a:avLst/>
            </a:prstGeom>
            <a:noFill/>
          </p:spPr>
          <p:txBody>
            <a:bodyPr wrap="square" rtlCol="0">
              <a:spAutoFit/>
            </a:bodyPr>
            <a:lstStyle/>
            <a:p>
              <a:pPr algn="ctr"/>
              <a:r>
                <a:rPr lang="en-US" sz="2000" u="sng" dirty="0">
                  <a:solidFill>
                    <a:schemeClr val="bg1"/>
                  </a:solidFill>
                  <a:latin typeface="Modern No. 20" panose="02070704070505020303" pitchFamily="18" charset="0"/>
                </a:rPr>
                <a:t>Fairness &amp; Bias Mitigation</a:t>
              </a:r>
            </a:p>
          </p:txBody>
        </p:sp>
        <p:sp>
          <p:nvSpPr>
            <p:cNvPr id="5" name="TextBox 4">
              <a:extLst>
                <a:ext uri="{FF2B5EF4-FFF2-40B4-BE49-F238E27FC236}">
                  <a16:creationId xmlns:a16="http://schemas.microsoft.com/office/drawing/2014/main" id="{D24FB488-7D9A-6418-B248-7F1410609B4E}"/>
                </a:ext>
              </a:extLst>
            </p:cNvPr>
            <p:cNvSpPr txBox="1"/>
            <p:nvPr/>
          </p:nvSpPr>
          <p:spPr>
            <a:xfrm>
              <a:off x="912840" y="3690318"/>
              <a:ext cx="3123285" cy="1323439"/>
            </a:xfrm>
            <a:prstGeom prst="rect">
              <a:avLst/>
            </a:prstGeom>
            <a:noFill/>
          </p:spPr>
          <p:txBody>
            <a:bodyPr wrap="square" rtlCol="0">
              <a:spAutoFit/>
            </a:bodyPr>
            <a:lstStyle/>
            <a:p>
              <a:r>
                <a:rPr lang="en-US" sz="2000" dirty="0">
                  <a:solidFill>
                    <a:schemeClr val="bg1"/>
                  </a:solidFill>
                  <a:latin typeface="Modern No. 20" panose="02070704070505020303" pitchFamily="18" charset="0"/>
                </a:rPr>
                <a:t>AI should have quality data because whatever we input into an algorithm the same it will output back at us.</a:t>
              </a:r>
            </a:p>
          </p:txBody>
        </p:sp>
      </p:grpSp>
      <p:grpSp>
        <p:nvGrpSpPr>
          <p:cNvPr id="26" name="Group 25">
            <a:extLst>
              <a:ext uri="{FF2B5EF4-FFF2-40B4-BE49-F238E27FC236}">
                <a16:creationId xmlns:a16="http://schemas.microsoft.com/office/drawing/2014/main" id="{9BDBE208-DEE6-600D-AF7E-91F3AB2D0B51}"/>
              </a:ext>
            </a:extLst>
          </p:cNvPr>
          <p:cNvGrpSpPr/>
          <p:nvPr/>
        </p:nvGrpSpPr>
        <p:grpSpPr>
          <a:xfrm>
            <a:off x="4203058" y="1484206"/>
            <a:ext cx="3443884" cy="3833870"/>
            <a:chOff x="4505898" y="1366092"/>
            <a:chExt cx="3443884" cy="3833870"/>
          </a:xfrm>
        </p:grpSpPr>
        <p:sp>
          <p:nvSpPr>
            <p:cNvPr id="10" name="Rectangle: Rounded Corners 9">
              <a:extLst>
                <a:ext uri="{FF2B5EF4-FFF2-40B4-BE49-F238E27FC236}">
                  <a16:creationId xmlns:a16="http://schemas.microsoft.com/office/drawing/2014/main" id="{F0762DD4-92E1-D037-DDD5-EFEB2F6D944B}"/>
                </a:ext>
              </a:extLst>
            </p:cNvPr>
            <p:cNvSpPr/>
            <p:nvPr/>
          </p:nvSpPr>
          <p:spPr>
            <a:xfrm>
              <a:off x="4505898" y="1366092"/>
              <a:ext cx="3404212" cy="38338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0AD3F8D-42EA-3D08-FA00-2FC9D715E689}"/>
                </a:ext>
              </a:extLst>
            </p:cNvPr>
            <p:cNvSpPr txBox="1"/>
            <p:nvPr/>
          </p:nvSpPr>
          <p:spPr>
            <a:xfrm>
              <a:off x="5805889" y="1498294"/>
              <a:ext cx="1156771" cy="1446550"/>
            </a:xfrm>
            <a:prstGeom prst="rect">
              <a:avLst/>
            </a:prstGeom>
            <a:noFill/>
          </p:spPr>
          <p:txBody>
            <a:bodyPr wrap="square" rtlCol="0">
              <a:spAutoFit/>
            </a:bodyPr>
            <a:lstStyle/>
            <a:p>
              <a:r>
                <a:rPr lang="en-US" sz="8800" b="1" dirty="0">
                  <a:latin typeface="Modern No. 20" panose="02070704070505020303" pitchFamily="18" charset="0"/>
                </a:rPr>
                <a:t>1.</a:t>
              </a:r>
            </a:p>
          </p:txBody>
        </p:sp>
        <p:sp>
          <p:nvSpPr>
            <p:cNvPr id="12" name="TextBox 11">
              <a:extLst>
                <a:ext uri="{FF2B5EF4-FFF2-40B4-BE49-F238E27FC236}">
                  <a16:creationId xmlns:a16="http://schemas.microsoft.com/office/drawing/2014/main" id="{FB1A2F07-40F3-9E7A-443A-047D528F034E}"/>
                </a:ext>
              </a:extLst>
            </p:cNvPr>
            <p:cNvSpPr txBox="1"/>
            <p:nvPr/>
          </p:nvSpPr>
          <p:spPr>
            <a:xfrm>
              <a:off x="4526818" y="2851370"/>
              <a:ext cx="3422964" cy="400110"/>
            </a:xfrm>
            <a:prstGeom prst="rect">
              <a:avLst/>
            </a:prstGeom>
            <a:noFill/>
          </p:spPr>
          <p:txBody>
            <a:bodyPr wrap="square" rtlCol="0">
              <a:spAutoFit/>
            </a:bodyPr>
            <a:lstStyle/>
            <a:p>
              <a:r>
                <a:rPr lang="en-US" sz="2000" u="sng" dirty="0">
                  <a:solidFill>
                    <a:schemeClr val="bg1"/>
                  </a:solidFill>
                  <a:latin typeface="Modern No. 20" panose="02070704070505020303" pitchFamily="18" charset="0"/>
                </a:rPr>
                <a:t>Transparency &amp; Explainability</a:t>
              </a:r>
            </a:p>
          </p:txBody>
        </p:sp>
        <p:sp>
          <p:nvSpPr>
            <p:cNvPr id="13" name="TextBox 12">
              <a:extLst>
                <a:ext uri="{FF2B5EF4-FFF2-40B4-BE49-F238E27FC236}">
                  <a16:creationId xmlns:a16="http://schemas.microsoft.com/office/drawing/2014/main" id="{6EF294C0-F669-2040-1BA1-24D565FAB52E}"/>
                </a:ext>
              </a:extLst>
            </p:cNvPr>
            <p:cNvSpPr txBox="1"/>
            <p:nvPr/>
          </p:nvSpPr>
          <p:spPr>
            <a:xfrm>
              <a:off x="4676658" y="3558116"/>
              <a:ext cx="3123285" cy="1323439"/>
            </a:xfrm>
            <a:prstGeom prst="rect">
              <a:avLst/>
            </a:prstGeom>
            <a:noFill/>
          </p:spPr>
          <p:txBody>
            <a:bodyPr wrap="square" rtlCol="0">
              <a:spAutoFit/>
            </a:bodyPr>
            <a:lstStyle/>
            <a:p>
              <a:r>
                <a:rPr lang="en-US" sz="2000" dirty="0">
                  <a:solidFill>
                    <a:schemeClr val="bg1"/>
                  </a:solidFill>
                  <a:latin typeface="Modern No. 20" panose="02070704070505020303" pitchFamily="18" charset="0"/>
                </a:rPr>
                <a:t>AI should not be a “Black Box”, using “Explainable AI” to show the logic behind a decision </a:t>
              </a:r>
            </a:p>
          </p:txBody>
        </p:sp>
      </p:grpSp>
    </p:spTree>
    <p:extLst>
      <p:ext uri="{BB962C8B-B14F-4D97-AF65-F5344CB8AC3E}">
        <p14:creationId xmlns:p14="http://schemas.microsoft.com/office/powerpoint/2010/main" val="27486208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335A9F"/>
            </a:gs>
            <a:gs pos="59000">
              <a:schemeClr val="accent1">
                <a:lumMod val="50000"/>
              </a:schemeClr>
            </a:gs>
          </a:gsLst>
          <a:path path="circle">
            <a:fillToRect l="50000" t="50000" r="50000" b="50000"/>
          </a:path>
          <a:tileRect/>
        </a:gradFill>
        <a:effectLst/>
      </p:bgPr>
    </p:bg>
    <p:spTree>
      <p:nvGrpSpPr>
        <p:cNvPr id="1" name="">
          <a:extLst>
            <a:ext uri="{FF2B5EF4-FFF2-40B4-BE49-F238E27FC236}">
              <a16:creationId xmlns:a16="http://schemas.microsoft.com/office/drawing/2014/main" id="{48065DC3-71FB-F43C-1E92-A7E12C401E6D}"/>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2CDBF081-7C69-0AD6-FA5E-132FC496EB83}"/>
              </a:ext>
            </a:extLst>
          </p:cNvPr>
          <p:cNvGrpSpPr/>
          <p:nvPr/>
        </p:nvGrpSpPr>
        <p:grpSpPr>
          <a:xfrm rot="1193393">
            <a:off x="6933584" y="2152111"/>
            <a:ext cx="3443884" cy="3833870"/>
            <a:chOff x="2401677" y="3965407"/>
            <a:chExt cx="3443884" cy="3833870"/>
          </a:xfrm>
        </p:grpSpPr>
        <p:sp>
          <p:nvSpPr>
            <p:cNvPr id="14" name="Rectangle: Rounded Corners 13">
              <a:extLst>
                <a:ext uri="{FF2B5EF4-FFF2-40B4-BE49-F238E27FC236}">
                  <a16:creationId xmlns:a16="http://schemas.microsoft.com/office/drawing/2014/main" id="{6FEC995F-D2B2-8226-5EE7-F5BCCF14E977}"/>
                </a:ext>
              </a:extLst>
            </p:cNvPr>
            <p:cNvSpPr/>
            <p:nvPr/>
          </p:nvSpPr>
          <p:spPr>
            <a:xfrm>
              <a:off x="2401677" y="3965407"/>
              <a:ext cx="3404212" cy="3833870"/>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46DB25B-092F-EFE8-725C-A80514E5FAFD}"/>
                </a:ext>
              </a:extLst>
            </p:cNvPr>
            <p:cNvSpPr txBox="1"/>
            <p:nvPr/>
          </p:nvSpPr>
          <p:spPr>
            <a:xfrm>
              <a:off x="3701668" y="4097609"/>
              <a:ext cx="1156771" cy="1446550"/>
            </a:xfrm>
            <a:prstGeom prst="rect">
              <a:avLst/>
            </a:prstGeom>
            <a:noFill/>
          </p:spPr>
          <p:txBody>
            <a:bodyPr wrap="square" rtlCol="0">
              <a:spAutoFit/>
            </a:bodyPr>
            <a:lstStyle/>
            <a:p>
              <a:r>
                <a:rPr lang="en-US" sz="8800" b="1" dirty="0">
                  <a:latin typeface="Modern No. 20" panose="02070704070505020303" pitchFamily="18" charset="0"/>
                </a:rPr>
                <a:t>4.</a:t>
              </a:r>
            </a:p>
          </p:txBody>
        </p:sp>
        <p:sp>
          <p:nvSpPr>
            <p:cNvPr id="16" name="TextBox 15">
              <a:extLst>
                <a:ext uri="{FF2B5EF4-FFF2-40B4-BE49-F238E27FC236}">
                  <a16:creationId xmlns:a16="http://schemas.microsoft.com/office/drawing/2014/main" id="{EE3EEEFC-4D53-55AD-424D-97D1037A2EC7}"/>
                </a:ext>
              </a:extLst>
            </p:cNvPr>
            <p:cNvSpPr txBox="1"/>
            <p:nvPr/>
          </p:nvSpPr>
          <p:spPr>
            <a:xfrm>
              <a:off x="2422597" y="5450685"/>
              <a:ext cx="3422964" cy="400110"/>
            </a:xfrm>
            <a:prstGeom prst="rect">
              <a:avLst/>
            </a:prstGeom>
            <a:noFill/>
          </p:spPr>
          <p:txBody>
            <a:bodyPr wrap="square" rtlCol="0">
              <a:spAutoFit/>
            </a:bodyPr>
            <a:lstStyle/>
            <a:p>
              <a:pPr algn="ctr"/>
              <a:r>
                <a:rPr lang="en-US" sz="2000" u="sng" dirty="0">
                  <a:solidFill>
                    <a:schemeClr val="bg1"/>
                  </a:solidFill>
                  <a:latin typeface="Modern No. 20" panose="02070704070505020303" pitchFamily="18" charset="0"/>
                </a:rPr>
                <a:t>Privacy &amp; Security</a:t>
              </a:r>
            </a:p>
          </p:txBody>
        </p:sp>
        <p:sp>
          <p:nvSpPr>
            <p:cNvPr id="17" name="TextBox 16">
              <a:extLst>
                <a:ext uri="{FF2B5EF4-FFF2-40B4-BE49-F238E27FC236}">
                  <a16:creationId xmlns:a16="http://schemas.microsoft.com/office/drawing/2014/main" id="{0D1BC9C0-9113-A00B-8A86-202CFC6D65EA}"/>
                </a:ext>
              </a:extLst>
            </p:cNvPr>
            <p:cNvSpPr txBox="1"/>
            <p:nvPr/>
          </p:nvSpPr>
          <p:spPr>
            <a:xfrm>
              <a:off x="2572437" y="6157431"/>
              <a:ext cx="3123285" cy="1015663"/>
            </a:xfrm>
            <a:prstGeom prst="rect">
              <a:avLst/>
            </a:prstGeom>
            <a:noFill/>
          </p:spPr>
          <p:txBody>
            <a:bodyPr wrap="square" rtlCol="0">
              <a:spAutoFit/>
            </a:bodyPr>
            <a:lstStyle/>
            <a:p>
              <a:r>
                <a:rPr lang="en-US" sz="2000" dirty="0">
                  <a:solidFill>
                    <a:schemeClr val="bg1"/>
                  </a:solidFill>
                  <a:latin typeface="Modern No. 20" panose="02070704070505020303" pitchFamily="18" charset="0"/>
                </a:rPr>
                <a:t>Complying with regulations like EU AI Act or GDPR and using data encryption.</a:t>
              </a:r>
            </a:p>
          </p:txBody>
        </p:sp>
      </p:grpSp>
      <p:grpSp>
        <p:nvGrpSpPr>
          <p:cNvPr id="29" name="Group 28">
            <a:extLst>
              <a:ext uri="{FF2B5EF4-FFF2-40B4-BE49-F238E27FC236}">
                <a16:creationId xmlns:a16="http://schemas.microsoft.com/office/drawing/2014/main" id="{D0768CB3-89A1-2C3E-F8FA-E8FF840802D9}"/>
              </a:ext>
            </a:extLst>
          </p:cNvPr>
          <p:cNvGrpSpPr/>
          <p:nvPr/>
        </p:nvGrpSpPr>
        <p:grpSpPr>
          <a:xfrm rot="1676803">
            <a:off x="7233501" y="2145362"/>
            <a:ext cx="3443884" cy="3833870"/>
            <a:chOff x="5866481" y="4047282"/>
            <a:chExt cx="3443884" cy="3833870"/>
          </a:xfrm>
        </p:grpSpPr>
        <p:sp>
          <p:nvSpPr>
            <p:cNvPr id="21" name="Rectangle: Rounded Corners 20">
              <a:extLst>
                <a:ext uri="{FF2B5EF4-FFF2-40B4-BE49-F238E27FC236}">
                  <a16:creationId xmlns:a16="http://schemas.microsoft.com/office/drawing/2014/main" id="{69DBCEF6-5164-3075-CFD0-463D70C4624E}"/>
                </a:ext>
              </a:extLst>
            </p:cNvPr>
            <p:cNvSpPr/>
            <p:nvPr/>
          </p:nvSpPr>
          <p:spPr>
            <a:xfrm>
              <a:off x="5866481" y="4047282"/>
              <a:ext cx="3404212" cy="3833870"/>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7B4EAE93-9CBD-B6E0-8AB9-613C5950679F}"/>
                </a:ext>
              </a:extLst>
            </p:cNvPr>
            <p:cNvSpPr txBox="1"/>
            <p:nvPr/>
          </p:nvSpPr>
          <p:spPr>
            <a:xfrm>
              <a:off x="7166472" y="4179484"/>
              <a:ext cx="1156771" cy="1446550"/>
            </a:xfrm>
            <a:prstGeom prst="rect">
              <a:avLst/>
            </a:prstGeom>
            <a:noFill/>
          </p:spPr>
          <p:txBody>
            <a:bodyPr wrap="square" rtlCol="0">
              <a:spAutoFit/>
            </a:bodyPr>
            <a:lstStyle/>
            <a:p>
              <a:r>
                <a:rPr lang="en-US" sz="8800" b="1" dirty="0">
                  <a:latin typeface="Modern No. 20" panose="02070704070505020303" pitchFamily="18" charset="0"/>
                </a:rPr>
                <a:t>5.</a:t>
              </a:r>
            </a:p>
          </p:txBody>
        </p:sp>
        <p:sp>
          <p:nvSpPr>
            <p:cNvPr id="23" name="TextBox 22">
              <a:extLst>
                <a:ext uri="{FF2B5EF4-FFF2-40B4-BE49-F238E27FC236}">
                  <a16:creationId xmlns:a16="http://schemas.microsoft.com/office/drawing/2014/main" id="{F4E1F2EF-0F3D-3E2E-F7A7-F30E85A6B96D}"/>
                </a:ext>
              </a:extLst>
            </p:cNvPr>
            <p:cNvSpPr txBox="1"/>
            <p:nvPr/>
          </p:nvSpPr>
          <p:spPr>
            <a:xfrm>
              <a:off x="5887401" y="5532560"/>
              <a:ext cx="3422964" cy="400110"/>
            </a:xfrm>
            <a:prstGeom prst="rect">
              <a:avLst/>
            </a:prstGeom>
            <a:noFill/>
          </p:spPr>
          <p:txBody>
            <a:bodyPr wrap="square" rtlCol="0">
              <a:spAutoFit/>
            </a:bodyPr>
            <a:lstStyle/>
            <a:p>
              <a:pPr algn="ctr"/>
              <a:r>
                <a:rPr lang="en-US" sz="2000" u="sng" dirty="0">
                  <a:solidFill>
                    <a:schemeClr val="bg1"/>
                  </a:solidFill>
                  <a:latin typeface="Modern No. 20" panose="02070704070505020303" pitchFamily="18" charset="0"/>
                </a:rPr>
                <a:t>Human Oversight</a:t>
              </a:r>
            </a:p>
          </p:txBody>
        </p:sp>
        <p:sp>
          <p:nvSpPr>
            <p:cNvPr id="24" name="TextBox 23">
              <a:extLst>
                <a:ext uri="{FF2B5EF4-FFF2-40B4-BE49-F238E27FC236}">
                  <a16:creationId xmlns:a16="http://schemas.microsoft.com/office/drawing/2014/main" id="{2F5D10E7-DEEE-8BF5-21F6-505F3F4581B1}"/>
                </a:ext>
              </a:extLst>
            </p:cNvPr>
            <p:cNvSpPr txBox="1"/>
            <p:nvPr/>
          </p:nvSpPr>
          <p:spPr>
            <a:xfrm>
              <a:off x="6037241" y="6239306"/>
              <a:ext cx="3123285" cy="1323439"/>
            </a:xfrm>
            <a:prstGeom prst="rect">
              <a:avLst/>
            </a:prstGeom>
            <a:noFill/>
          </p:spPr>
          <p:txBody>
            <a:bodyPr wrap="square" rtlCol="0">
              <a:spAutoFit/>
            </a:bodyPr>
            <a:lstStyle/>
            <a:p>
              <a:r>
                <a:rPr lang="en-US" sz="2000" dirty="0">
                  <a:solidFill>
                    <a:schemeClr val="bg1"/>
                  </a:solidFill>
                  <a:latin typeface="Modern No. 20" panose="02070704070505020303" pitchFamily="18" charset="0"/>
                </a:rPr>
                <a:t>Decisions always need a human, “Human in the loop” mandate to make the final call.</a:t>
              </a:r>
            </a:p>
          </p:txBody>
        </p:sp>
      </p:grpSp>
      <p:grpSp>
        <p:nvGrpSpPr>
          <p:cNvPr id="27" name="Group 26">
            <a:extLst>
              <a:ext uri="{FF2B5EF4-FFF2-40B4-BE49-F238E27FC236}">
                <a16:creationId xmlns:a16="http://schemas.microsoft.com/office/drawing/2014/main" id="{64A18D20-563A-4F74-4FED-8F4452BAD980}"/>
              </a:ext>
            </a:extLst>
          </p:cNvPr>
          <p:cNvGrpSpPr/>
          <p:nvPr/>
        </p:nvGrpSpPr>
        <p:grpSpPr>
          <a:xfrm rot="806795">
            <a:off x="7063711" y="1747464"/>
            <a:ext cx="3443884" cy="3833870"/>
            <a:chOff x="8262651" y="1773383"/>
            <a:chExt cx="3443884" cy="3833870"/>
          </a:xfrm>
        </p:grpSpPr>
        <p:sp>
          <p:nvSpPr>
            <p:cNvPr id="6" name="Rectangle: Rounded Corners 5">
              <a:extLst>
                <a:ext uri="{FF2B5EF4-FFF2-40B4-BE49-F238E27FC236}">
                  <a16:creationId xmlns:a16="http://schemas.microsoft.com/office/drawing/2014/main" id="{D0C868FB-ED03-2718-A091-DCEFAF8731AE}"/>
                </a:ext>
              </a:extLst>
            </p:cNvPr>
            <p:cNvSpPr/>
            <p:nvPr/>
          </p:nvSpPr>
          <p:spPr>
            <a:xfrm>
              <a:off x="8262651" y="1773383"/>
              <a:ext cx="3404212" cy="3833870"/>
            </a:xfrm>
            <a:prstGeom prst="roundRect">
              <a:avLst/>
            </a:prstGeom>
            <a:solidFill>
              <a:srgbClr val="3259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A961259-A3E2-4F1F-5851-31F48222AE9A}"/>
                </a:ext>
              </a:extLst>
            </p:cNvPr>
            <p:cNvSpPr txBox="1"/>
            <p:nvPr/>
          </p:nvSpPr>
          <p:spPr>
            <a:xfrm>
              <a:off x="9562642" y="1905585"/>
              <a:ext cx="1156771" cy="1446550"/>
            </a:xfrm>
            <a:prstGeom prst="rect">
              <a:avLst/>
            </a:prstGeom>
            <a:noFill/>
          </p:spPr>
          <p:txBody>
            <a:bodyPr wrap="square" rtlCol="0">
              <a:spAutoFit/>
            </a:bodyPr>
            <a:lstStyle/>
            <a:p>
              <a:r>
                <a:rPr lang="en-US" sz="8800" b="1" dirty="0">
                  <a:latin typeface="Modern No. 20" panose="02070704070505020303" pitchFamily="18" charset="0"/>
                </a:rPr>
                <a:t>3.</a:t>
              </a:r>
            </a:p>
          </p:txBody>
        </p:sp>
        <p:sp>
          <p:nvSpPr>
            <p:cNvPr id="8" name="TextBox 7">
              <a:extLst>
                <a:ext uri="{FF2B5EF4-FFF2-40B4-BE49-F238E27FC236}">
                  <a16:creationId xmlns:a16="http://schemas.microsoft.com/office/drawing/2014/main" id="{932329F2-8568-F7D9-309C-EF4A895D4DC0}"/>
                </a:ext>
              </a:extLst>
            </p:cNvPr>
            <p:cNvSpPr txBox="1"/>
            <p:nvPr/>
          </p:nvSpPr>
          <p:spPr>
            <a:xfrm>
              <a:off x="8283571" y="3258661"/>
              <a:ext cx="3422964" cy="400110"/>
            </a:xfrm>
            <a:prstGeom prst="rect">
              <a:avLst/>
            </a:prstGeom>
            <a:noFill/>
          </p:spPr>
          <p:txBody>
            <a:bodyPr wrap="square" rtlCol="0">
              <a:spAutoFit/>
            </a:bodyPr>
            <a:lstStyle/>
            <a:p>
              <a:pPr algn="ctr"/>
              <a:r>
                <a:rPr lang="en-US" sz="2000" u="sng" dirty="0">
                  <a:solidFill>
                    <a:schemeClr val="bg1"/>
                  </a:solidFill>
                  <a:latin typeface="Modern No. 20" panose="02070704070505020303" pitchFamily="18" charset="0"/>
                </a:rPr>
                <a:t>Accountability &amp; Governance</a:t>
              </a:r>
            </a:p>
          </p:txBody>
        </p:sp>
        <p:sp>
          <p:nvSpPr>
            <p:cNvPr id="9" name="TextBox 8">
              <a:extLst>
                <a:ext uri="{FF2B5EF4-FFF2-40B4-BE49-F238E27FC236}">
                  <a16:creationId xmlns:a16="http://schemas.microsoft.com/office/drawing/2014/main" id="{9C3AC390-CEC6-852F-FB89-1AD33740EE02}"/>
                </a:ext>
              </a:extLst>
            </p:cNvPr>
            <p:cNvSpPr txBox="1"/>
            <p:nvPr/>
          </p:nvSpPr>
          <p:spPr>
            <a:xfrm>
              <a:off x="8433411" y="3965407"/>
              <a:ext cx="3123285" cy="1015663"/>
            </a:xfrm>
            <a:prstGeom prst="rect">
              <a:avLst/>
            </a:prstGeom>
            <a:noFill/>
          </p:spPr>
          <p:txBody>
            <a:bodyPr wrap="square" rtlCol="0">
              <a:spAutoFit/>
            </a:bodyPr>
            <a:lstStyle/>
            <a:p>
              <a:r>
                <a:rPr lang="en-US" sz="2000" dirty="0">
                  <a:solidFill>
                    <a:schemeClr val="bg1"/>
                  </a:solidFill>
                  <a:latin typeface="Modern No. 20" panose="02070704070505020303" pitchFamily="18" charset="0"/>
                </a:rPr>
                <a:t>Appoint Responsible AI Officer or Ethics board from start to finish.</a:t>
              </a:r>
            </a:p>
          </p:txBody>
        </p:sp>
      </p:grpSp>
      <p:grpSp>
        <p:nvGrpSpPr>
          <p:cNvPr id="25" name="Group 24">
            <a:extLst>
              <a:ext uri="{FF2B5EF4-FFF2-40B4-BE49-F238E27FC236}">
                <a16:creationId xmlns:a16="http://schemas.microsoft.com/office/drawing/2014/main" id="{03DDDCDE-ED6B-6207-1D3D-7EDB554E3FFE}"/>
              </a:ext>
            </a:extLst>
          </p:cNvPr>
          <p:cNvGrpSpPr/>
          <p:nvPr/>
        </p:nvGrpSpPr>
        <p:grpSpPr>
          <a:xfrm rot="249935">
            <a:off x="3783130" y="1207191"/>
            <a:ext cx="3443884" cy="3833870"/>
            <a:chOff x="742080" y="1498294"/>
            <a:chExt cx="3443884" cy="3833870"/>
          </a:xfrm>
        </p:grpSpPr>
        <p:sp>
          <p:nvSpPr>
            <p:cNvPr id="2" name="Rectangle: Rounded Corners 1">
              <a:extLst>
                <a:ext uri="{FF2B5EF4-FFF2-40B4-BE49-F238E27FC236}">
                  <a16:creationId xmlns:a16="http://schemas.microsoft.com/office/drawing/2014/main" id="{48ACBE36-1876-900F-423C-7FD74D6E52A3}"/>
                </a:ext>
              </a:extLst>
            </p:cNvPr>
            <p:cNvSpPr/>
            <p:nvPr/>
          </p:nvSpPr>
          <p:spPr>
            <a:xfrm>
              <a:off x="742080" y="1498294"/>
              <a:ext cx="3404212" cy="383387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41B28950-8667-33BA-0988-C22952FDB4A5}"/>
                </a:ext>
              </a:extLst>
            </p:cNvPr>
            <p:cNvSpPr txBox="1"/>
            <p:nvPr/>
          </p:nvSpPr>
          <p:spPr>
            <a:xfrm>
              <a:off x="2042071" y="1630496"/>
              <a:ext cx="1156771" cy="1446550"/>
            </a:xfrm>
            <a:prstGeom prst="rect">
              <a:avLst/>
            </a:prstGeom>
            <a:noFill/>
          </p:spPr>
          <p:txBody>
            <a:bodyPr wrap="square" rtlCol="0">
              <a:spAutoFit/>
            </a:bodyPr>
            <a:lstStyle/>
            <a:p>
              <a:r>
                <a:rPr lang="en-US" sz="8800" b="1" dirty="0">
                  <a:latin typeface="Modern No. 20" panose="02070704070505020303" pitchFamily="18" charset="0"/>
                </a:rPr>
                <a:t>2.</a:t>
              </a:r>
            </a:p>
          </p:txBody>
        </p:sp>
        <p:sp>
          <p:nvSpPr>
            <p:cNvPr id="4" name="TextBox 3">
              <a:extLst>
                <a:ext uri="{FF2B5EF4-FFF2-40B4-BE49-F238E27FC236}">
                  <a16:creationId xmlns:a16="http://schemas.microsoft.com/office/drawing/2014/main" id="{6FAAB710-A51B-9733-7959-2D23320985EC}"/>
                </a:ext>
              </a:extLst>
            </p:cNvPr>
            <p:cNvSpPr txBox="1"/>
            <p:nvPr/>
          </p:nvSpPr>
          <p:spPr>
            <a:xfrm>
              <a:off x="763000" y="2983572"/>
              <a:ext cx="3422964" cy="400110"/>
            </a:xfrm>
            <a:prstGeom prst="rect">
              <a:avLst/>
            </a:prstGeom>
            <a:noFill/>
          </p:spPr>
          <p:txBody>
            <a:bodyPr wrap="square" rtlCol="0">
              <a:spAutoFit/>
            </a:bodyPr>
            <a:lstStyle/>
            <a:p>
              <a:pPr algn="ctr"/>
              <a:r>
                <a:rPr lang="en-US" sz="2000" u="sng" dirty="0">
                  <a:solidFill>
                    <a:schemeClr val="bg1"/>
                  </a:solidFill>
                  <a:latin typeface="Modern No. 20" panose="02070704070505020303" pitchFamily="18" charset="0"/>
                </a:rPr>
                <a:t>Fairness &amp; Bias Mitigation</a:t>
              </a:r>
            </a:p>
          </p:txBody>
        </p:sp>
        <p:sp>
          <p:nvSpPr>
            <p:cNvPr id="5" name="TextBox 4">
              <a:extLst>
                <a:ext uri="{FF2B5EF4-FFF2-40B4-BE49-F238E27FC236}">
                  <a16:creationId xmlns:a16="http://schemas.microsoft.com/office/drawing/2014/main" id="{6B4D1A53-C4F9-643F-13EE-31487CD653B6}"/>
                </a:ext>
              </a:extLst>
            </p:cNvPr>
            <p:cNvSpPr txBox="1"/>
            <p:nvPr/>
          </p:nvSpPr>
          <p:spPr>
            <a:xfrm>
              <a:off x="912840" y="3690318"/>
              <a:ext cx="3123285" cy="1323439"/>
            </a:xfrm>
            <a:prstGeom prst="rect">
              <a:avLst/>
            </a:prstGeom>
            <a:noFill/>
          </p:spPr>
          <p:txBody>
            <a:bodyPr wrap="square" rtlCol="0">
              <a:spAutoFit/>
            </a:bodyPr>
            <a:lstStyle/>
            <a:p>
              <a:r>
                <a:rPr lang="en-US" sz="2000" dirty="0">
                  <a:solidFill>
                    <a:schemeClr val="bg1"/>
                  </a:solidFill>
                  <a:latin typeface="Modern No. 20" panose="02070704070505020303" pitchFamily="18" charset="0"/>
                </a:rPr>
                <a:t>AI should have quality data because whatever we input into an algorithm the same it will output back at us.</a:t>
              </a:r>
            </a:p>
          </p:txBody>
        </p:sp>
      </p:grpSp>
      <p:grpSp>
        <p:nvGrpSpPr>
          <p:cNvPr id="26" name="Group 25">
            <a:extLst>
              <a:ext uri="{FF2B5EF4-FFF2-40B4-BE49-F238E27FC236}">
                <a16:creationId xmlns:a16="http://schemas.microsoft.com/office/drawing/2014/main" id="{636FA995-76BC-AE83-D927-64642A2468EE}"/>
              </a:ext>
            </a:extLst>
          </p:cNvPr>
          <p:cNvGrpSpPr/>
          <p:nvPr/>
        </p:nvGrpSpPr>
        <p:grpSpPr>
          <a:xfrm rot="21021872">
            <a:off x="381754" y="1744145"/>
            <a:ext cx="3443884" cy="3833870"/>
            <a:chOff x="4505898" y="1366092"/>
            <a:chExt cx="3443884" cy="3833870"/>
          </a:xfrm>
        </p:grpSpPr>
        <p:sp>
          <p:nvSpPr>
            <p:cNvPr id="10" name="Rectangle: Rounded Corners 9">
              <a:extLst>
                <a:ext uri="{FF2B5EF4-FFF2-40B4-BE49-F238E27FC236}">
                  <a16:creationId xmlns:a16="http://schemas.microsoft.com/office/drawing/2014/main" id="{B131FCDB-B491-D11A-3AB8-BBC16D6F8965}"/>
                </a:ext>
              </a:extLst>
            </p:cNvPr>
            <p:cNvSpPr/>
            <p:nvPr/>
          </p:nvSpPr>
          <p:spPr>
            <a:xfrm>
              <a:off x="4505898" y="1366092"/>
              <a:ext cx="3404212" cy="38338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72F64A1-2F8D-90BD-E0FF-4AEDB66D2A1B}"/>
                </a:ext>
              </a:extLst>
            </p:cNvPr>
            <p:cNvSpPr txBox="1"/>
            <p:nvPr/>
          </p:nvSpPr>
          <p:spPr>
            <a:xfrm>
              <a:off x="5805889" y="1498294"/>
              <a:ext cx="1156771" cy="1446550"/>
            </a:xfrm>
            <a:prstGeom prst="rect">
              <a:avLst/>
            </a:prstGeom>
            <a:noFill/>
          </p:spPr>
          <p:txBody>
            <a:bodyPr wrap="square" rtlCol="0">
              <a:spAutoFit/>
            </a:bodyPr>
            <a:lstStyle/>
            <a:p>
              <a:r>
                <a:rPr lang="en-US" sz="8800" b="1" dirty="0">
                  <a:latin typeface="Modern No. 20" panose="02070704070505020303" pitchFamily="18" charset="0"/>
                </a:rPr>
                <a:t>1.</a:t>
              </a:r>
            </a:p>
          </p:txBody>
        </p:sp>
        <p:sp>
          <p:nvSpPr>
            <p:cNvPr id="12" name="TextBox 11">
              <a:extLst>
                <a:ext uri="{FF2B5EF4-FFF2-40B4-BE49-F238E27FC236}">
                  <a16:creationId xmlns:a16="http://schemas.microsoft.com/office/drawing/2014/main" id="{F7914004-DC4B-F515-41AE-E454FFBAFA39}"/>
                </a:ext>
              </a:extLst>
            </p:cNvPr>
            <p:cNvSpPr txBox="1"/>
            <p:nvPr/>
          </p:nvSpPr>
          <p:spPr>
            <a:xfrm>
              <a:off x="4526818" y="2851370"/>
              <a:ext cx="3422964" cy="400110"/>
            </a:xfrm>
            <a:prstGeom prst="rect">
              <a:avLst/>
            </a:prstGeom>
            <a:noFill/>
          </p:spPr>
          <p:txBody>
            <a:bodyPr wrap="square" rtlCol="0">
              <a:spAutoFit/>
            </a:bodyPr>
            <a:lstStyle/>
            <a:p>
              <a:r>
                <a:rPr lang="en-US" sz="2000" u="sng" dirty="0">
                  <a:solidFill>
                    <a:schemeClr val="bg1"/>
                  </a:solidFill>
                  <a:latin typeface="Modern No. 20" panose="02070704070505020303" pitchFamily="18" charset="0"/>
                </a:rPr>
                <a:t>Transparency &amp; Explainability</a:t>
              </a:r>
            </a:p>
          </p:txBody>
        </p:sp>
        <p:sp>
          <p:nvSpPr>
            <p:cNvPr id="13" name="TextBox 12">
              <a:extLst>
                <a:ext uri="{FF2B5EF4-FFF2-40B4-BE49-F238E27FC236}">
                  <a16:creationId xmlns:a16="http://schemas.microsoft.com/office/drawing/2014/main" id="{D74E8ED9-4DAB-1F47-82A7-B741C3B14E42}"/>
                </a:ext>
              </a:extLst>
            </p:cNvPr>
            <p:cNvSpPr txBox="1"/>
            <p:nvPr/>
          </p:nvSpPr>
          <p:spPr>
            <a:xfrm>
              <a:off x="4676658" y="3558116"/>
              <a:ext cx="3123285" cy="1323439"/>
            </a:xfrm>
            <a:prstGeom prst="rect">
              <a:avLst/>
            </a:prstGeom>
            <a:noFill/>
          </p:spPr>
          <p:txBody>
            <a:bodyPr wrap="square" rtlCol="0">
              <a:spAutoFit/>
            </a:bodyPr>
            <a:lstStyle/>
            <a:p>
              <a:r>
                <a:rPr lang="en-US" sz="2000" dirty="0">
                  <a:solidFill>
                    <a:schemeClr val="bg1"/>
                  </a:solidFill>
                  <a:latin typeface="Modern No. 20" panose="02070704070505020303" pitchFamily="18" charset="0"/>
                </a:rPr>
                <a:t>AI should not be a “Black Box”, using “Explainable AI” to show the logic behind a decision </a:t>
              </a:r>
            </a:p>
          </p:txBody>
        </p:sp>
      </p:grpSp>
    </p:spTree>
    <p:extLst>
      <p:ext uri="{BB962C8B-B14F-4D97-AF65-F5344CB8AC3E}">
        <p14:creationId xmlns:p14="http://schemas.microsoft.com/office/powerpoint/2010/main" val="26724714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335A9F"/>
            </a:gs>
            <a:gs pos="59000">
              <a:schemeClr val="accent1">
                <a:lumMod val="50000"/>
              </a:schemeClr>
            </a:gs>
          </a:gsLst>
          <a:path path="circle">
            <a:fillToRect l="50000" t="50000" r="50000" b="50000"/>
          </a:path>
          <a:tileRect/>
        </a:gradFill>
        <a:effectLst/>
      </p:bgPr>
    </p:bg>
    <p:spTree>
      <p:nvGrpSpPr>
        <p:cNvPr id="1" name="">
          <a:extLst>
            <a:ext uri="{FF2B5EF4-FFF2-40B4-BE49-F238E27FC236}">
              <a16:creationId xmlns:a16="http://schemas.microsoft.com/office/drawing/2014/main" id="{06CA0B26-076C-6D2D-F84C-CA39951D94A3}"/>
            </a:ext>
          </a:extLst>
        </p:cNvPr>
        <p:cNvGrpSpPr/>
        <p:nvPr/>
      </p:nvGrpSpPr>
      <p:grpSpPr>
        <a:xfrm>
          <a:off x="0" y="0"/>
          <a:ext cx="0" cy="0"/>
          <a:chOff x="0" y="0"/>
          <a:chExt cx="0" cy="0"/>
        </a:xfrm>
      </p:grpSpPr>
      <p:grpSp>
        <p:nvGrpSpPr>
          <p:cNvPr id="27" name="Group 26">
            <a:extLst>
              <a:ext uri="{FF2B5EF4-FFF2-40B4-BE49-F238E27FC236}">
                <a16:creationId xmlns:a16="http://schemas.microsoft.com/office/drawing/2014/main" id="{3C41813C-6774-1C48-AB2F-0FEE3BA4C001}"/>
              </a:ext>
            </a:extLst>
          </p:cNvPr>
          <p:cNvGrpSpPr/>
          <p:nvPr/>
        </p:nvGrpSpPr>
        <p:grpSpPr>
          <a:xfrm rot="806795">
            <a:off x="2783604" y="1431303"/>
            <a:ext cx="3443884" cy="3833870"/>
            <a:chOff x="8262651" y="1773383"/>
            <a:chExt cx="3443884" cy="3833870"/>
          </a:xfrm>
        </p:grpSpPr>
        <p:sp>
          <p:nvSpPr>
            <p:cNvPr id="6" name="Rectangle: Rounded Corners 5">
              <a:extLst>
                <a:ext uri="{FF2B5EF4-FFF2-40B4-BE49-F238E27FC236}">
                  <a16:creationId xmlns:a16="http://schemas.microsoft.com/office/drawing/2014/main" id="{72B206D8-04EC-763D-26EF-666EF4A9FA2D}"/>
                </a:ext>
              </a:extLst>
            </p:cNvPr>
            <p:cNvSpPr/>
            <p:nvPr/>
          </p:nvSpPr>
          <p:spPr>
            <a:xfrm>
              <a:off x="8262651" y="1773383"/>
              <a:ext cx="3404212" cy="3833870"/>
            </a:xfrm>
            <a:prstGeom prst="roundRect">
              <a:avLst/>
            </a:prstGeom>
            <a:solidFill>
              <a:srgbClr val="3259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3A61B9D-DE7D-D9E6-826A-086483E317F8}"/>
                </a:ext>
              </a:extLst>
            </p:cNvPr>
            <p:cNvSpPr txBox="1"/>
            <p:nvPr/>
          </p:nvSpPr>
          <p:spPr>
            <a:xfrm>
              <a:off x="9562642" y="1905585"/>
              <a:ext cx="1156771" cy="1446550"/>
            </a:xfrm>
            <a:prstGeom prst="rect">
              <a:avLst/>
            </a:prstGeom>
            <a:noFill/>
          </p:spPr>
          <p:txBody>
            <a:bodyPr wrap="square" rtlCol="0">
              <a:spAutoFit/>
            </a:bodyPr>
            <a:lstStyle/>
            <a:p>
              <a:r>
                <a:rPr lang="en-US" sz="8800" b="1" dirty="0">
                  <a:latin typeface="Modern No. 20" panose="02070704070505020303" pitchFamily="18" charset="0"/>
                </a:rPr>
                <a:t>3.</a:t>
              </a:r>
            </a:p>
          </p:txBody>
        </p:sp>
        <p:sp>
          <p:nvSpPr>
            <p:cNvPr id="8" name="TextBox 7">
              <a:extLst>
                <a:ext uri="{FF2B5EF4-FFF2-40B4-BE49-F238E27FC236}">
                  <a16:creationId xmlns:a16="http://schemas.microsoft.com/office/drawing/2014/main" id="{B29BEEEA-3BAD-3888-6AB7-D77BE5D072D0}"/>
                </a:ext>
              </a:extLst>
            </p:cNvPr>
            <p:cNvSpPr txBox="1"/>
            <p:nvPr/>
          </p:nvSpPr>
          <p:spPr>
            <a:xfrm>
              <a:off x="8283571" y="3258661"/>
              <a:ext cx="3422964" cy="400110"/>
            </a:xfrm>
            <a:prstGeom prst="rect">
              <a:avLst/>
            </a:prstGeom>
            <a:noFill/>
          </p:spPr>
          <p:txBody>
            <a:bodyPr wrap="square" rtlCol="0">
              <a:spAutoFit/>
            </a:bodyPr>
            <a:lstStyle/>
            <a:p>
              <a:pPr algn="ctr"/>
              <a:r>
                <a:rPr lang="en-US" sz="2000" u="sng" dirty="0">
                  <a:solidFill>
                    <a:schemeClr val="bg1"/>
                  </a:solidFill>
                  <a:latin typeface="Modern No. 20" panose="02070704070505020303" pitchFamily="18" charset="0"/>
                </a:rPr>
                <a:t>Accountability &amp; Governance</a:t>
              </a:r>
            </a:p>
          </p:txBody>
        </p:sp>
        <p:sp>
          <p:nvSpPr>
            <p:cNvPr id="9" name="TextBox 8">
              <a:extLst>
                <a:ext uri="{FF2B5EF4-FFF2-40B4-BE49-F238E27FC236}">
                  <a16:creationId xmlns:a16="http://schemas.microsoft.com/office/drawing/2014/main" id="{C507A3F0-A247-E1FD-632B-E05A7DE0444E}"/>
                </a:ext>
              </a:extLst>
            </p:cNvPr>
            <p:cNvSpPr txBox="1"/>
            <p:nvPr/>
          </p:nvSpPr>
          <p:spPr>
            <a:xfrm>
              <a:off x="8433411" y="3965407"/>
              <a:ext cx="3123285" cy="1015663"/>
            </a:xfrm>
            <a:prstGeom prst="rect">
              <a:avLst/>
            </a:prstGeom>
            <a:noFill/>
          </p:spPr>
          <p:txBody>
            <a:bodyPr wrap="square" rtlCol="0">
              <a:spAutoFit/>
            </a:bodyPr>
            <a:lstStyle/>
            <a:p>
              <a:r>
                <a:rPr lang="en-US" sz="2000" dirty="0">
                  <a:solidFill>
                    <a:schemeClr val="bg1"/>
                  </a:solidFill>
                  <a:latin typeface="Modern No. 20" panose="02070704070505020303" pitchFamily="18" charset="0"/>
                </a:rPr>
                <a:t>Appoint Responsible AI Officer or Ethics board from start to finish.</a:t>
              </a:r>
            </a:p>
          </p:txBody>
        </p:sp>
      </p:grpSp>
      <p:grpSp>
        <p:nvGrpSpPr>
          <p:cNvPr id="25" name="Group 24">
            <a:extLst>
              <a:ext uri="{FF2B5EF4-FFF2-40B4-BE49-F238E27FC236}">
                <a16:creationId xmlns:a16="http://schemas.microsoft.com/office/drawing/2014/main" id="{0362BC9A-C5E4-4ECE-9959-D566A6C04B02}"/>
              </a:ext>
            </a:extLst>
          </p:cNvPr>
          <p:cNvGrpSpPr/>
          <p:nvPr/>
        </p:nvGrpSpPr>
        <p:grpSpPr>
          <a:xfrm rot="249935">
            <a:off x="3054992" y="1432745"/>
            <a:ext cx="3443884" cy="3833870"/>
            <a:chOff x="742080" y="1498294"/>
            <a:chExt cx="3443884" cy="3833870"/>
          </a:xfrm>
        </p:grpSpPr>
        <p:sp>
          <p:nvSpPr>
            <p:cNvPr id="2" name="Rectangle: Rounded Corners 1">
              <a:extLst>
                <a:ext uri="{FF2B5EF4-FFF2-40B4-BE49-F238E27FC236}">
                  <a16:creationId xmlns:a16="http://schemas.microsoft.com/office/drawing/2014/main" id="{BDA4F61B-E06F-7DBD-E4ED-F51B1900B7FB}"/>
                </a:ext>
              </a:extLst>
            </p:cNvPr>
            <p:cNvSpPr/>
            <p:nvPr/>
          </p:nvSpPr>
          <p:spPr>
            <a:xfrm>
              <a:off x="742080" y="1498294"/>
              <a:ext cx="3404212" cy="383387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2F29B11E-4AF9-A98C-C566-1947AF1455FA}"/>
                </a:ext>
              </a:extLst>
            </p:cNvPr>
            <p:cNvSpPr txBox="1"/>
            <p:nvPr/>
          </p:nvSpPr>
          <p:spPr>
            <a:xfrm>
              <a:off x="2042071" y="1630496"/>
              <a:ext cx="1156771" cy="1446550"/>
            </a:xfrm>
            <a:prstGeom prst="rect">
              <a:avLst/>
            </a:prstGeom>
            <a:noFill/>
          </p:spPr>
          <p:txBody>
            <a:bodyPr wrap="square" rtlCol="0">
              <a:spAutoFit/>
            </a:bodyPr>
            <a:lstStyle/>
            <a:p>
              <a:r>
                <a:rPr lang="en-US" sz="8800" b="1" dirty="0">
                  <a:latin typeface="Modern No. 20" panose="02070704070505020303" pitchFamily="18" charset="0"/>
                </a:rPr>
                <a:t>2.</a:t>
              </a:r>
            </a:p>
          </p:txBody>
        </p:sp>
        <p:sp>
          <p:nvSpPr>
            <p:cNvPr id="4" name="TextBox 3">
              <a:extLst>
                <a:ext uri="{FF2B5EF4-FFF2-40B4-BE49-F238E27FC236}">
                  <a16:creationId xmlns:a16="http://schemas.microsoft.com/office/drawing/2014/main" id="{B0C16DDD-0371-B1C5-EDCA-851D04F6583D}"/>
                </a:ext>
              </a:extLst>
            </p:cNvPr>
            <p:cNvSpPr txBox="1"/>
            <p:nvPr/>
          </p:nvSpPr>
          <p:spPr>
            <a:xfrm>
              <a:off x="763000" y="2983572"/>
              <a:ext cx="3422964" cy="400110"/>
            </a:xfrm>
            <a:prstGeom prst="rect">
              <a:avLst/>
            </a:prstGeom>
            <a:noFill/>
          </p:spPr>
          <p:txBody>
            <a:bodyPr wrap="square" rtlCol="0">
              <a:spAutoFit/>
            </a:bodyPr>
            <a:lstStyle/>
            <a:p>
              <a:pPr algn="ctr"/>
              <a:r>
                <a:rPr lang="en-US" sz="2000" u="sng" dirty="0">
                  <a:solidFill>
                    <a:schemeClr val="bg1"/>
                  </a:solidFill>
                  <a:latin typeface="Modern No. 20" panose="02070704070505020303" pitchFamily="18" charset="0"/>
                </a:rPr>
                <a:t>Fairness &amp; Bias Mitigation</a:t>
              </a:r>
            </a:p>
          </p:txBody>
        </p:sp>
        <p:sp>
          <p:nvSpPr>
            <p:cNvPr id="5" name="TextBox 4">
              <a:extLst>
                <a:ext uri="{FF2B5EF4-FFF2-40B4-BE49-F238E27FC236}">
                  <a16:creationId xmlns:a16="http://schemas.microsoft.com/office/drawing/2014/main" id="{20F7245F-9DD0-25C5-247F-59CD2133E835}"/>
                </a:ext>
              </a:extLst>
            </p:cNvPr>
            <p:cNvSpPr txBox="1"/>
            <p:nvPr/>
          </p:nvSpPr>
          <p:spPr>
            <a:xfrm>
              <a:off x="912840" y="3690318"/>
              <a:ext cx="3123285" cy="1323439"/>
            </a:xfrm>
            <a:prstGeom prst="rect">
              <a:avLst/>
            </a:prstGeom>
            <a:noFill/>
          </p:spPr>
          <p:txBody>
            <a:bodyPr wrap="square" rtlCol="0">
              <a:spAutoFit/>
            </a:bodyPr>
            <a:lstStyle/>
            <a:p>
              <a:r>
                <a:rPr lang="en-US" sz="2000" dirty="0">
                  <a:solidFill>
                    <a:schemeClr val="bg1"/>
                  </a:solidFill>
                  <a:latin typeface="Modern No. 20" panose="02070704070505020303" pitchFamily="18" charset="0"/>
                </a:rPr>
                <a:t>AI should have quality data because whatever we input into an algorithm the same it will output back at us.</a:t>
              </a:r>
            </a:p>
          </p:txBody>
        </p:sp>
      </p:grpSp>
      <p:grpSp>
        <p:nvGrpSpPr>
          <p:cNvPr id="26" name="Group 25">
            <a:extLst>
              <a:ext uri="{FF2B5EF4-FFF2-40B4-BE49-F238E27FC236}">
                <a16:creationId xmlns:a16="http://schemas.microsoft.com/office/drawing/2014/main" id="{02642826-CC96-FE3A-EB1C-AE5E89E2E203}"/>
              </a:ext>
            </a:extLst>
          </p:cNvPr>
          <p:cNvGrpSpPr/>
          <p:nvPr/>
        </p:nvGrpSpPr>
        <p:grpSpPr>
          <a:xfrm rot="21021872">
            <a:off x="2974739" y="1637604"/>
            <a:ext cx="3443884" cy="3833870"/>
            <a:chOff x="4505898" y="1366092"/>
            <a:chExt cx="3443884" cy="3833870"/>
          </a:xfrm>
        </p:grpSpPr>
        <p:sp>
          <p:nvSpPr>
            <p:cNvPr id="10" name="Rectangle: Rounded Corners 9">
              <a:extLst>
                <a:ext uri="{FF2B5EF4-FFF2-40B4-BE49-F238E27FC236}">
                  <a16:creationId xmlns:a16="http://schemas.microsoft.com/office/drawing/2014/main" id="{B108A710-EFE6-BADF-DA38-292947D42534}"/>
                </a:ext>
              </a:extLst>
            </p:cNvPr>
            <p:cNvSpPr/>
            <p:nvPr/>
          </p:nvSpPr>
          <p:spPr>
            <a:xfrm>
              <a:off x="4505898" y="1366092"/>
              <a:ext cx="3404212" cy="38338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2790B4B-0D71-E82A-9828-447F44770BF5}"/>
                </a:ext>
              </a:extLst>
            </p:cNvPr>
            <p:cNvSpPr txBox="1"/>
            <p:nvPr/>
          </p:nvSpPr>
          <p:spPr>
            <a:xfrm>
              <a:off x="5805889" y="1498294"/>
              <a:ext cx="1156771" cy="1446550"/>
            </a:xfrm>
            <a:prstGeom prst="rect">
              <a:avLst/>
            </a:prstGeom>
            <a:noFill/>
          </p:spPr>
          <p:txBody>
            <a:bodyPr wrap="square" rtlCol="0">
              <a:spAutoFit/>
            </a:bodyPr>
            <a:lstStyle/>
            <a:p>
              <a:r>
                <a:rPr lang="en-US" sz="8800" b="1" dirty="0">
                  <a:latin typeface="Modern No. 20" panose="02070704070505020303" pitchFamily="18" charset="0"/>
                </a:rPr>
                <a:t>1.</a:t>
              </a:r>
            </a:p>
          </p:txBody>
        </p:sp>
        <p:sp>
          <p:nvSpPr>
            <p:cNvPr id="12" name="TextBox 11">
              <a:extLst>
                <a:ext uri="{FF2B5EF4-FFF2-40B4-BE49-F238E27FC236}">
                  <a16:creationId xmlns:a16="http://schemas.microsoft.com/office/drawing/2014/main" id="{09A22DA6-A641-0ED0-BF3F-B2FF5734F51D}"/>
                </a:ext>
              </a:extLst>
            </p:cNvPr>
            <p:cNvSpPr txBox="1"/>
            <p:nvPr/>
          </p:nvSpPr>
          <p:spPr>
            <a:xfrm>
              <a:off x="4526818" y="2851370"/>
              <a:ext cx="3422964" cy="400110"/>
            </a:xfrm>
            <a:prstGeom prst="rect">
              <a:avLst/>
            </a:prstGeom>
            <a:noFill/>
          </p:spPr>
          <p:txBody>
            <a:bodyPr wrap="square" rtlCol="0">
              <a:spAutoFit/>
            </a:bodyPr>
            <a:lstStyle/>
            <a:p>
              <a:r>
                <a:rPr lang="en-US" sz="2000" u="sng" dirty="0">
                  <a:solidFill>
                    <a:schemeClr val="bg1"/>
                  </a:solidFill>
                  <a:latin typeface="Modern No. 20" panose="02070704070505020303" pitchFamily="18" charset="0"/>
                </a:rPr>
                <a:t>Transparency &amp; Explainability</a:t>
              </a:r>
            </a:p>
          </p:txBody>
        </p:sp>
        <p:sp>
          <p:nvSpPr>
            <p:cNvPr id="13" name="TextBox 12">
              <a:extLst>
                <a:ext uri="{FF2B5EF4-FFF2-40B4-BE49-F238E27FC236}">
                  <a16:creationId xmlns:a16="http://schemas.microsoft.com/office/drawing/2014/main" id="{8BF23113-E873-FB63-272B-6608037B4EA4}"/>
                </a:ext>
              </a:extLst>
            </p:cNvPr>
            <p:cNvSpPr txBox="1"/>
            <p:nvPr/>
          </p:nvSpPr>
          <p:spPr>
            <a:xfrm>
              <a:off x="4676658" y="3558116"/>
              <a:ext cx="3123285" cy="1323439"/>
            </a:xfrm>
            <a:prstGeom prst="rect">
              <a:avLst/>
            </a:prstGeom>
            <a:noFill/>
          </p:spPr>
          <p:txBody>
            <a:bodyPr wrap="square" rtlCol="0">
              <a:spAutoFit/>
            </a:bodyPr>
            <a:lstStyle/>
            <a:p>
              <a:r>
                <a:rPr lang="en-US" sz="2000" dirty="0">
                  <a:solidFill>
                    <a:schemeClr val="bg1"/>
                  </a:solidFill>
                  <a:latin typeface="Modern No. 20" panose="02070704070505020303" pitchFamily="18" charset="0"/>
                </a:rPr>
                <a:t>AI should not be a “Black Box”, using “Explainable AI” to show the logic behind a decision </a:t>
              </a:r>
            </a:p>
          </p:txBody>
        </p:sp>
      </p:grpSp>
      <p:grpSp>
        <p:nvGrpSpPr>
          <p:cNvPr id="28" name="Group 27">
            <a:extLst>
              <a:ext uri="{FF2B5EF4-FFF2-40B4-BE49-F238E27FC236}">
                <a16:creationId xmlns:a16="http://schemas.microsoft.com/office/drawing/2014/main" id="{E5C1F360-4AE5-5311-59DD-F161C6B0A7BE}"/>
              </a:ext>
            </a:extLst>
          </p:cNvPr>
          <p:cNvGrpSpPr/>
          <p:nvPr/>
        </p:nvGrpSpPr>
        <p:grpSpPr>
          <a:xfrm rot="21079801">
            <a:off x="2877562" y="1611851"/>
            <a:ext cx="3443884" cy="3833870"/>
            <a:chOff x="2401677" y="3965407"/>
            <a:chExt cx="3443884" cy="3833870"/>
          </a:xfrm>
        </p:grpSpPr>
        <p:sp>
          <p:nvSpPr>
            <p:cNvPr id="14" name="Rectangle: Rounded Corners 13">
              <a:extLst>
                <a:ext uri="{FF2B5EF4-FFF2-40B4-BE49-F238E27FC236}">
                  <a16:creationId xmlns:a16="http://schemas.microsoft.com/office/drawing/2014/main" id="{FCE8316F-DA70-4F2A-D898-BE724A82C04B}"/>
                </a:ext>
              </a:extLst>
            </p:cNvPr>
            <p:cNvSpPr/>
            <p:nvPr/>
          </p:nvSpPr>
          <p:spPr>
            <a:xfrm>
              <a:off x="2401677" y="3965407"/>
              <a:ext cx="3404212" cy="3833870"/>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34B3F52-F8E6-81BD-60AC-0A6D2C1F461D}"/>
                </a:ext>
              </a:extLst>
            </p:cNvPr>
            <p:cNvSpPr txBox="1"/>
            <p:nvPr/>
          </p:nvSpPr>
          <p:spPr>
            <a:xfrm>
              <a:off x="3701668" y="4097609"/>
              <a:ext cx="1156771" cy="1446550"/>
            </a:xfrm>
            <a:prstGeom prst="rect">
              <a:avLst/>
            </a:prstGeom>
            <a:noFill/>
          </p:spPr>
          <p:txBody>
            <a:bodyPr wrap="square" rtlCol="0">
              <a:spAutoFit/>
            </a:bodyPr>
            <a:lstStyle/>
            <a:p>
              <a:r>
                <a:rPr lang="en-US" sz="8800" b="1" dirty="0">
                  <a:latin typeface="Modern No. 20" panose="02070704070505020303" pitchFamily="18" charset="0"/>
                </a:rPr>
                <a:t>4.</a:t>
              </a:r>
            </a:p>
          </p:txBody>
        </p:sp>
        <p:sp>
          <p:nvSpPr>
            <p:cNvPr id="16" name="TextBox 15">
              <a:extLst>
                <a:ext uri="{FF2B5EF4-FFF2-40B4-BE49-F238E27FC236}">
                  <a16:creationId xmlns:a16="http://schemas.microsoft.com/office/drawing/2014/main" id="{41127A96-2322-5360-FD2A-CA55F1FE6DDB}"/>
                </a:ext>
              </a:extLst>
            </p:cNvPr>
            <p:cNvSpPr txBox="1"/>
            <p:nvPr/>
          </p:nvSpPr>
          <p:spPr>
            <a:xfrm>
              <a:off x="2422597" y="5450685"/>
              <a:ext cx="3422964" cy="400110"/>
            </a:xfrm>
            <a:prstGeom prst="rect">
              <a:avLst/>
            </a:prstGeom>
            <a:noFill/>
          </p:spPr>
          <p:txBody>
            <a:bodyPr wrap="square" rtlCol="0">
              <a:spAutoFit/>
            </a:bodyPr>
            <a:lstStyle/>
            <a:p>
              <a:pPr algn="ctr"/>
              <a:r>
                <a:rPr lang="en-US" sz="2000" u="sng" dirty="0">
                  <a:solidFill>
                    <a:schemeClr val="bg1"/>
                  </a:solidFill>
                  <a:latin typeface="Modern No. 20" panose="02070704070505020303" pitchFamily="18" charset="0"/>
                </a:rPr>
                <a:t>Privacy &amp; Security</a:t>
              </a:r>
            </a:p>
          </p:txBody>
        </p:sp>
        <p:sp>
          <p:nvSpPr>
            <p:cNvPr id="17" name="TextBox 16">
              <a:extLst>
                <a:ext uri="{FF2B5EF4-FFF2-40B4-BE49-F238E27FC236}">
                  <a16:creationId xmlns:a16="http://schemas.microsoft.com/office/drawing/2014/main" id="{44EE3C73-B692-1060-1511-D27C5235A541}"/>
                </a:ext>
              </a:extLst>
            </p:cNvPr>
            <p:cNvSpPr txBox="1"/>
            <p:nvPr/>
          </p:nvSpPr>
          <p:spPr>
            <a:xfrm>
              <a:off x="2572437" y="6157431"/>
              <a:ext cx="3123285" cy="1015663"/>
            </a:xfrm>
            <a:prstGeom prst="rect">
              <a:avLst/>
            </a:prstGeom>
            <a:noFill/>
          </p:spPr>
          <p:txBody>
            <a:bodyPr wrap="square" rtlCol="0">
              <a:spAutoFit/>
            </a:bodyPr>
            <a:lstStyle/>
            <a:p>
              <a:r>
                <a:rPr lang="en-US" sz="2000" dirty="0">
                  <a:solidFill>
                    <a:schemeClr val="bg1"/>
                  </a:solidFill>
                  <a:latin typeface="Modern No. 20" panose="02070704070505020303" pitchFamily="18" charset="0"/>
                </a:rPr>
                <a:t>Complying with regulations like EU AI Act or GDPR and using data encryption.</a:t>
              </a:r>
            </a:p>
          </p:txBody>
        </p:sp>
      </p:grpSp>
      <p:grpSp>
        <p:nvGrpSpPr>
          <p:cNvPr id="29" name="Group 28">
            <a:extLst>
              <a:ext uri="{FF2B5EF4-FFF2-40B4-BE49-F238E27FC236}">
                <a16:creationId xmlns:a16="http://schemas.microsoft.com/office/drawing/2014/main" id="{7CC60DD7-9DE7-036E-271C-5D8175CEE8B2}"/>
              </a:ext>
            </a:extLst>
          </p:cNvPr>
          <p:cNvGrpSpPr/>
          <p:nvPr/>
        </p:nvGrpSpPr>
        <p:grpSpPr>
          <a:xfrm rot="442524">
            <a:off x="6163149" y="1762406"/>
            <a:ext cx="3443884" cy="3833870"/>
            <a:chOff x="5866481" y="4047282"/>
            <a:chExt cx="3443884" cy="3833870"/>
          </a:xfrm>
        </p:grpSpPr>
        <p:sp>
          <p:nvSpPr>
            <p:cNvPr id="21" name="Rectangle: Rounded Corners 20">
              <a:extLst>
                <a:ext uri="{FF2B5EF4-FFF2-40B4-BE49-F238E27FC236}">
                  <a16:creationId xmlns:a16="http://schemas.microsoft.com/office/drawing/2014/main" id="{97CCD57A-D4F2-3723-D4B8-1C33170C4FA5}"/>
                </a:ext>
              </a:extLst>
            </p:cNvPr>
            <p:cNvSpPr/>
            <p:nvPr/>
          </p:nvSpPr>
          <p:spPr>
            <a:xfrm>
              <a:off x="5866481" y="4047282"/>
              <a:ext cx="3404212" cy="3833870"/>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A42097A3-E093-E75C-ADF3-F1E6E107767A}"/>
                </a:ext>
              </a:extLst>
            </p:cNvPr>
            <p:cNvSpPr txBox="1"/>
            <p:nvPr/>
          </p:nvSpPr>
          <p:spPr>
            <a:xfrm>
              <a:off x="7166472" y="4179484"/>
              <a:ext cx="1156771" cy="1446550"/>
            </a:xfrm>
            <a:prstGeom prst="rect">
              <a:avLst/>
            </a:prstGeom>
            <a:noFill/>
          </p:spPr>
          <p:txBody>
            <a:bodyPr wrap="square" rtlCol="0">
              <a:spAutoFit/>
            </a:bodyPr>
            <a:lstStyle/>
            <a:p>
              <a:r>
                <a:rPr lang="en-US" sz="8800" b="1" dirty="0">
                  <a:latin typeface="Modern No. 20" panose="02070704070505020303" pitchFamily="18" charset="0"/>
                </a:rPr>
                <a:t>5.</a:t>
              </a:r>
            </a:p>
          </p:txBody>
        </p:sp>
        <p:sp>
          <p:nvSpPr>
            <p:cNvPr id="23" name="TextBox 22">
              <a:extLst>
                <a:ext uri="{FF2B5EF4-FFF2-40B4-BE49-F238E27FC236}">
                  <a16:creationId xmlns:a16="http://schemas.microsoft.com/office/drawing/2014/main" id="{1E2689CC-252F-4A2E-BABC-54107002EA11}"/>
                </a:ext>
              </a:extLst>
            </p:cNvPr>
            <p:cNvSpPr txBox="1"/>
            <p:nvPr/>
          </p:nvSpPr>
          <p:spPr>
            <a:xfrm>
              <a:off x="5887401" y="5532560"/>
              <a:ext cx="3422964" cy="400110"/>
            </a:xfrm>
            <a:prstGeom prst="rect">
              <a:avLst/>
            </a:prstGeom>
            <a:noFill/>
          </p:spPr>
          <p:txBody>
            <a:bodyPr wrap="square" rtlCol="0">
              <a:spAutoFit/>
            </a:bodyPr>
            <a:lstStyle/>
            <a:p>
              <a:pPr algn="ctr"/>
              <a:r>
                <a:rPr lang="en-US" sz="2000" u="sng" dirty="0">
                  <a:solidFill>
                    <a:schemeClr val="bg1"/>
                  </a:solidFill>
                  <a:latin typeface="Modern No. 20" panose="02070704070505020303" pitchFamily="18" charset="0"/>
                </a:rPr>
                <a:t>Human Oversight</a:t>
              </a:r>
            </a:p>
          </p:txBody>
        </p:sp>
        <p:sp>
          <p:nvSpPr>
            <p:cNvPr id="24" name="TextBox 23">
              <a:extLst>
                <a:ext uri="{FF2B5EF4-FFF2-40B4-BE49-F238E27FC236}">
                  <a16:creationId xmlns:a16="http://schemas.microsoft.com/office/drawing/2014/main" id="{8DCF43B9-782A-1313-02D3-563C00FC35A1}"/>
                </a:ext>
              </a:extLst>
            </p:cNvPr>
            <p:cNvSpPr txBox="1"/>
            <p:nvPr/>
          </p:nvSpPr>
          <p:spPr>
            <a:xfrm>
              <a:off x="6037241" y="6239306"/>
              <a:ext cx="3123285" cy="1323439"/>
            </a:xfrm>
            <a:prstGeom prst="rect">
              <a:avLst/>
            </a:prstGeom>
            <a:noFill/>
          </p:spPr>
          <p:txBody>
            <a:bodyPr wrap="square" rtlCol="0">
              <a:spAutoFit/>
            </a:bodyPr>
            <a:lstStyle/>
            <a:p>
              <a:r>
                <a:rPr lang="en-US" sz="2000" dirty="0">
                  <a:solidFill>
                    <a:schemeClr val="bg1"/>
                  </a:solidFill>
                  <a:latin typeface="Modern No. 20" panose="02070704070505020303" pitchFamily="18" charset="0"/>
                </a:rPr>
                <a:t>Decisions always need a human, “Human in the loop” mandate to make the final call.</a:t>
              </a:r>
            </a:p>
          </p:txBody>
        </p:sp>
      </p:grpSp>
      <p:sp>
        <p:nvSpPr>
          <p:cNvPr id="18" name="TextBox 17">
            <a:extLst>
              <a:ext uri="{FF2B5EF4-FFF2-40B4-BE49-F238E27FC236}">
                <a16:creationId xmlns:a16="http://schemas.microsoft.com/office/drawing/2014/main" id="{A2939064-EB14-BFD0-4136-3352C815E13B}"/>
              </a:ext>
            </a:extLst>
          </p:cNvPr>
          <p:cNvSpPr txBox="1"/>
          <p:nvPr/>
        </p:nvSpPr>
        <p:spPr>
          <a:xfrm>
            <a:off x="3629401" y="6159833"/>
            <a:ext cx="5213537" cy="646331"/>
          </a:xfrm>
          <a:prstGeom prst="rect">
            <a:avLst/>
          </a:prstGeom>
          <a:noFill/>
        </p:spPr>
        <p:txBody>
          <a:bodyPr wrap="square" rtlCol="0">
            <a:spAutoFit/>
          </a:bodyPr>
          <a:lstStyle/>
          <a:p>
            <a:r>
              <a:rPr lang="en-US" i="1" dirty="0">
                <a:solidFill>
                  <a:schemeClr val="bg2">
                    <a:lumMod val="75000"/>
                  </a:schemeClr>
                </a:solidFill>
              </a:rPr>
              <a:t>*From </a:t>
            </a:r>
            <a:r>
              <a:rPr lang="en-US" i="1" dirty="0">
                <a:solidFill>
                  <a:schemeClr val="bg2">
                    <a:lumMod val="75000"/>
                  </a:schemeClr>
                </a:solidFill>
                <a:hlinkClick r:id="rId3"/>
              </a:rPr>
              <a:t>Paragon Shift</a:t>
            </a:r>
            <a:r>
              <a:rPr lang="en-US" i="1" dirty="0">
                <a:solidFill>
                  <a:schemeClr val="bg2">
                    <a:lumMod val="75000"/>
                  </a:schemeClr>
                </a:solidFill>
              </a:rPr>
              <a:t>, “Responsible AI in Business Environments</a:t>
            </a:r>
          </a:p>
        </p:txBody>
      </p:sp>
    </p:spTree>
    <p:extLst>
      <p:ext uri="{BB962C8B-B14F-4D97-AF65-F5344CB8AC3E}">
        <p14:creationId xmlns:p14="http://schemas.microsoft.com/office/powerpoint/2010/main" val="39207063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97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5341F4C-5FF1-96D5-4B8C-B04DB35EDA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31B3C4-7AC2-1BFA-5E20-AE56E17DFF51}"/>
              </a:ext>
            </a:extLst>
          </p:cNvPr>
          <p:cNvSpPr>
            <a:spLocks noGrp="1"/>
          </p:cNvSpPr>
          <p:nvPr>
            <p:ph type="title"/>
          </p:nvPr>
        </p:nvSpPr>
        <p:spPr/>
        <p:txBody>
          <a:bodyPr/>
          <a:lstStyle/>
          <a:p>
            <a:pPr algn="ctr"/>
            <a:r>
              <a:rPr lang="en-US" dirty="0"/>
              <a:t>Works Cited</a:t>
            </a:r>
          </a:p>
        </p:txBody>
      </p:sp>
      <p:sp>
        <p:nvSpPr>
          <p:cNvPr id="3" name="Content Placeholder 2">
            <a:extLst>
              <a:ext uri="{FF2B5EF4-FFF2-40B4-BE49-F238E27FC236}">
                <a16:creationId xmlns:a16="http://schemas.microsoft.com/office/drawing/2014/main" id="{894E085D-2090-A7DC-499B-0635020B2B20}"/>
              </a:ext>
            </a:extLst>
          </p:cNvPr>
          <p:cNvSpPr>
            <a:spLocks noGrp="1"/>
          </p:cNvSpPr>
          <p:nvPr>
            <p:ph idx="1"/>
          </p:nvPr>
        </p:nvSpPr>
        <p:spPr/>
        <p:txBody>
          <a:bodyPr>
            <a:noAutofit/>
          </a:bodyPr>
          <a:lstStyle/>
          <a:p>
            <a:pPr marL="0" indent="0">
              <a:buNone/>
            </a:pPr>
            <a:r>
              <a:rPr lang="en-US" sz="1800" b="1" dirty="0" err="1"/>
              <a:t>Postindustria</a:t>
            </a:r>
            <a:r>
              <a:rPr lang="en-US" sz="1800" b="1" dirty="0"/>
              <a:t>.</a:t>
            </a:r>
            <a:r>
              <a:rPr lang="en-US" sz="1800" dirty="0"/>
              <a:t> "What are Common Misconceptions About AI &amp; Machine Learning?"</a:t>
            </a:r>
          </a:p>
          <a:p>
            <a:pPr marL="0" indent="0">
              <a:buNone/>
            </a:pPr>
            <a:r>
              <a:rPr lang="en-US" sz="1800" dirty="0">
                <a:hlinkClick r:id="rId2"/>
              </a:rPr>
              <a:t>https://postindustria.com/what-are-common-misconceptions-about-ai-machine-learning/</a:t>
            </a:r>
            <a:endParaRPr lang="en-US" sz="1800" dirty="0"/>
          </a:p>
          <a:p>
            <a:pPr marL="0" indent="0">
              <a:buNone/>
            </a:pPr>
            <a:r>
              <a:rPr lang="en-US" sz="1800" b="1" dirty="0"/>
              <a:t>Medium.</a:t>
            </a:r>
            <a:r>
              <a:rPr lang="en-US" sz="1800" dirty="0"/>
              <a:t> "Not Everything is an LLM: 8 AI Model Types You Should Know in 2025."</a:t>
            </a:r>
          </a:p>
          <a:p>
            <a:pPr marL="0" indent="0">
              <a:buNone/>
            </a:pPr>
            <a:r>
              <a:rPr lang="en-US" sz="1800" dirty="0">
                <a:hlinkClick r:id="rId3"/>
              </a:rPr>
              <a:t>https://medium.com/@sandrew022000/not-everything-is-an-llm-8-ai-model-types-you-should-know-in-2025-6cc01cd6dbaf</a:t>
            </a:r>
            <a:endParaRPr lang="en-US" sz="1800" dirty="0"/>
          </a:p>
          <a:p>
            <a:pPr marL="0" indent="0">
              <a:buNone/>
            </a:pPr>
            <a:r>
              <a:rPr lang="en-US" sz="1800" b="1" dirty="0"/>
              <a:t>Microsoft.</a:t>
            </a:r>
            <a:r>
              <a:rPr lang="en-US" sz="1800" dirty="0"/>
              <a:t> "Generative AI vs. Other Types of AI."</a:t>
            </a:r>
          </a:p>
          <a:p>
            <a:pPr marL="0" indent="0">
              <a:buNone/>
            </a:pPr>
            <a:r>
              <a:rPr lang="en-US" sz="1800" dirty="0">
                <a:hlinkClick r:id="rId4"/>
              </a:rPr>
              <a:t>https://www.microsoft.com/en-us/ai/ai-101/generative-ai-vs-other-types-of-ai#Other-AI-types</a:t>
            </a:r>
            <a:endParaRPr lang="en-US" sz="1800" dirty="0"/>
          </a:p>
          <a:p>
            <a:pPr marL="0" indent="0">
              <a:buNone/>
            </a:pPr>
            <a:r>
              <a:rPr lang="en-US" sz="1800" b="1" dirty="0"/>
              <a:t>Harvard Business School Library.</a:t>
            </a:r>
            <a:r>
              <a:rPr lang="en-US" sz="1800" dirty="0"/>
              <a:t> "Enhance or Eliminate: How AI Will Likely Change These Jobs."</a:t>
            </a:r>
          </a:p>
          <a:p>
            <a:pPr marL="0" indent="0">
              <a:buNone/>
            </a:pPr>
            <a:r>
              <a:rPr lang="en-US" sz="1800" dirty="0">
                <a:hlinkClick r:id="rId5"/>
              </a:rPr>
              <a:t>https://www.library.hbs.edu/working-knowledge/enhance-or-eliminate-how-ai-will-likely-change-these-jobs</a:t>
            </a:r>
            <a:endParaRPr lang="en-US" sz="1800" dirty="0"/>
          </a:p>
          <a:p>
            <a:pPr marL="0" indent="0">
              <a:buNone/>
            </a:pPr>
            <a:r>
              <a:rPr lang="en-US" sz="1800" b="1" dirty="0"/>
              <a:t>CACM (Association for Computing Machinery).</a:t>
            </a:r>
            <a:r>
              <a:rPr lang="en-US" sz="1800" dirty="0"/>
              <a:t> "As Good as a Coin Toss: Human Detection of AI-Generated Content."</a:t>
            </a:r>
          </a:p>
          <a:p>
            <a:pPr marL="0" indent="0">
              <a:buNone/>
            </a:pPr>
            <a:r>
              <a:rPr lang="en-US" sz="1800" dirty="0">
                <a:hlinkClick r:id="rId6"/>
              </a:rPr>
              <a:t>https://cacm.acm.org/research/as-good-as-a-coin-toss-human-detection-of-ai-generated-content/</a:t>
            </a:r>
            <a:endParaRPr lang="en-US" sz="1800" dirty="0"/>
          </a:p>
          <a:p>
            <a:pPr marL="0" indent="0">
              <a:buNone/>
            </a:pPr>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pPr marL="0" indent="0">
              <a:buNone/>
            </a:pPr>
            <a:endParaRPr lang="en-US" sz="1800" dirty="0"/>
          </a:p>
          <a:p>
            <a:endParaRPr lang="en-US" sz="1800" dirty="0"/>
          </a:p>
        </p:txBody>
      </p:sp>
    </p:spTree>
    <p:extLst>
      <p:ext uri="{BB962C8B-B14F-4D97-AF65-F5344CB8AC3E}">
        <p14:creationId xmlns:p14="http://schemas.microsoft.com/office/powerpoint/2010/main" val="34184023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97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4AC10BC3-C6BF-3BB0-5A9F-8E1E1455F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E00CE7-E849-BFC7-DD45-737BC6A992C5}"/>
              </a:ext>
            </a:extLst>
          </p:cNvPr>
          <p:cNvSpPr>
            <a:spLocks noGrp="1"/>
          </p:cNvSpPr>
          <p:nvPr>
            <p:ph type="title"/>
          </p:nvPr>
        </p:nvSpPr>
        <p:spPr/>
        <p:txBody>
          <a:bodyPr/>
          <a:lstStyle/>
          <a:p>
            <a:pPr algn="ctr"/>
            <a:r>
              <a:rPr lang="en-US" dirty="0"/>
              <a:t>Works Cited</a:t>
            </a:r>
          </a:p>
        </p:txBody>
      </p:sp>
      <p:sp>
        <p:nvSpPr>
          <p:cNvPr id="3" name="Content Placeholder 2">
            <a:extLst>
              <a:ext uri="{FF2B5EF4-FFF2-40B4-BE49-F238E27FC236}">
                <a16:creationId xmlns:a16="http://schemas.microsoft.com/office/drawing/2014/main" id="{B25A6497-E452-1411-9F2F-409BC483295B}"/>
              </a:ext>
            </a:extLst>
          </p:cNvPr>
          <p:cNvSpPr>
            <a:spLocks noGrp="1"/>
          </p:cNvSpPr>
          <p:nvPr>
            <p:ph idx="1"/>
          </p:nvPr>
        </p:nvSpPr>
        <p:spPr/>
        <p:txBody>
          <a:bodyPr>
            <a:normAutofit fontScale="62500" lnSpcReduction="20000"/>
          </a:bodyPr>
          <a:lstStyle/>
          <a:p>
            <a:pPr marL="0" indent="0">
              <a:buNone/>
            </a:pPr>
            <a:r>
              <a:rPr lang="en-US" b="1" dirty="0"/>
              <a:t>Quanta Magazine.</a:t>
            </a:r>
            <a:r>
              <a:rPr lang="en-US" dirty="0"/>
              <a:t> "AI is Nothing Like a Brain—and That’s Okay."</a:t>
            </a:r>
          </a:p>
          <a:p>
            <a:pPr marL="0" indent="0">
              <a:buNone/>
            </a:pPr>
            <a:r>
              <a:rPr lang="en-US" dirty="0">
                <a:hlinkClick r:id="rId2"/>
              </a:rPr>
              <a:t>https://www.quantamagazine.org/ai-is-nothing-like-a-brain-and-thats-ok-20250430/</a:t>
            </a:r>
            <a:endParaRPr lang="en-US" dirty="0"/>
          </a:p>
          <a:p>
            <a:pPr marL="0" indent="0">
              <a:buNone/>
            </a:pPr>
            <a:r>
              <a:rPr lang="en-US" b="1" dirty="0"/>
              <a:t>Companies Market Cap.</a:t>
            </a:r>
            <a:r>
              <a:rPr lang="en-US" dirty="0"/>
              <a:t> "Alphabet (Google) Revenue."</a:t>
            </a:r>
          </a:p>
          <a:p>
            <a:pPr marL="0" indent="0">
              <a:buNone/>
            </a:pPr>
            <a:r>
              <a:rPr lang="en-US" dirty="0">
                <a:hlinkClick r:id="rId3"/>
              </a:rPr>
              <a:t>https://companiesmarketcap.com/alphabet-google/revenue/</a:t>
            </a:r>
            <a:endParaRPr lang="en-US" dirty="0"/>
          </a:p>
          <a:p>
            <a:pPr marL="0" indent="0">
              <a:buNone/>
            </a:pPr>
            <a:r>
              <a:rPr lang="en-US" b="1" dirty="0"/>
              <a:t>FIU Business.</a:t>
            </a:r>
            <a:r>
              <a:rPr lang="en-US" dirty="0"/>
              <a:t> "The Competitive Advantage of Using AI in Business."</a:t>
            </a:r>
          </a:p>
          <a:p>
            <a:pPr marL="0" indent="0">
              <a:buNone/>
            </a:pPr>
            <a:r>
              <a:rPr lang="en-US" dirty="0">
                <a:hlinkClick r:id="rId4"/>
              </a:rPr>
              <a:t>https://business.fiu.edu/academics/graduate/insights/posts/competitive-advantage-of-using-ai-in-business.html</a:t>
            </a:r>
            <a:endParaRPr lang="en-US" dirty="0"/>
          </a:p>
          <a:p>
            <a:pPr marL="0" indent="0">
              <a:buNone/>
            </a:pPr>
            <a:r>
              <a:rPr lang="en-US" b="1" dirty="0"/>
              <a:t>IBM Think.</a:t>
            </a:r>
            <a:r>
              <a:rPr lang="en-US" dirty="0"/>
              <a:t> "AI and Privacy: What You Need to Know."</a:t>
            </a:r>
          </a:p>
          <a:p>
            <a:pPr marL="0" indent="0">
              <a:buNone/>
            </a:pPr>
            <a:r>
              <a:rPr lang="en-US" dirty="0">
                <a:hlinkClick r:id="rId5"/>
              </a:rPr>
              <a:t>https://www.ibm.com/think/insights/ai-privacy</a:t>
            </a:r>
            <a:endParaRPr lang="en-US" b="1" dirty="0"/>
          </a:p>
          <a:p>
            <a:pPr marL="0" indent="0">
              <a:buNone/>
            </a:pPr>
            <a:r>
              <a:rPr lang="en-US" b="1" dirty="0"/>
              <a:t>Wired.</a:t>
            </a:r>
            <a:r>
              <a:rPr lang="en-US" dirty="0"/>
              <a:t> "The Best Algorithms Struggle to Recognize Black Faces Equally."</a:t>
            </a:r>
          </a:p>
          <a:p>
            <a:pPr marL="0" indent="0">
              <a:buNone/>
            </a:pPr>
            <a:r>
              <a:rPr lang="en-US" dirty="0">
                <a:hlinkClick r:id="rId6"/>
              </a:rPr>
              <a:t>https://www.wired.com/story/best-algorithms-struggle-recognize-black-faces-equally/</a:t>
            </a:r>
            <a:endParaRPr lang="en-US" dirty="0"/>
          </a:p>
          <a:p>
            <a:pPr marL="0" indent="0">
              <a:buNone/>
            </a:pPr>
            <a:r>
              <a:rPr lang="en-US" b="1" dirty="0"/>
              <a:t>Harvard Journal of Law &amp; Technology.</a:t>
            </a:r>
            <a:r>
              <a:rPr lang="en-US" dirty="0"/>
              <a:t> "Why Racial Bias is Prevalent in Facial Recognition Technology."</a:t>
            </a:r>
          </a:p>
          <a:p>
            <a:pPr marL="0" indent="0">
              <a:buNone/>
            </a:pPr>
            <a:r>
              <a:rPr lang="en-US" dirty="0">
                <a:hlinkClick r:id="rId7"/>
              </a:rPr>
              <a:t>https://jolt.law.harvard.edu/digest/why-racial-bias-is-prevalent-in-facial-recognition-technology</a:t>
            </a:r>
            <a:endParaRPr lang="en-US" dirty="0"/>
          </a:p>
          <a:p>
            <a:pPr marL="0" indent="0">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895877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97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57BC2476-AF79-0AE2-BD54-EFF1ED952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2D63D-FCB4-E9C6-804E-64C700B4337D}"/>
              </a:ext>
            </a:extLst>
          </p:cNvPr>
          <p:cNvSpPr>
            <a:spLocks noGrp="1"/>
          </p:cNvSpPr>
          <p:nvPr>
            <p:ph type="title"/>
          </p:nvPr>
        </p:nvSpPr>
        <p:spPr/>
        <p:txBody>
          <a:bodyPr/>
          <a:lstStyle/>
          <a:p>
            <a:pPr algn="ctr"/>
            <a:r>
              <a:rPr lang="en-US" dirty="0"/>
              <a:t>Works Cited</a:t>
            </a:r>
          </a:p>
        </p:txBody>
      </p:sp>
      <p:sp>
        <p:nvSpPr>
          <p:cNvPr id="3" name="Content Placeholder 2">
            <a:extLst>
              <a:ext uri="{FF2B5EF4-FFF2-40B4-BE49-F238E27FC236}">
                <a16:creationId xmlns:a16="http://schemas.microsoft.com/office/drawing/2014/main" id="{8977A852-2C1E-178E-B9DF-ECE18FCEB1D6}"/>
              </a:ext>
            </a:extLst>
          </p:cNvPr>
          <p:cNvSpPr>
            <a:spLocks noGrp="1"/>
          </p:cNvSpPr>
          <p:nvPr>
            <p:ph idx="1"/>
          </p:nvPr>
        </p:nvSpPr>
        <p:spPr/>
        <p:txBody>
          <a:bodyPr>
            <a:normAutofit fontScale="92500" lnSpcReduction="10000"/>
          </a:bodyPr>
          <a:lstStyle/>
          <a:p>
            <a:pPr marL="0" indent="0">
              <a:buNone/>
            </a:pPr>
            <a:r>
              <a:rPr lang="en-US" b="1" dirty="0"/>
              <a:t>Anthropic Research.</a:t>
            </a:r>
            <a:r>
              <a:rPr lang="en-US" dirty="0"/>
              <a:t> "Agentic Misalignment."</a:t>
            </a:r>
          </a:p>
          <a:p>
            <a:pPr marL="0" indent="0">
              <a:buNone/>
            </a:pPr>
            <a:r>
              <a:rPr lang="en-US" dirty="0">
                <a:hlinkClick r:id="rId2"/>
              </a:rPr>
              <a:t>https://www.anthropic.com/research/agentic-misalignment</a:t>
            </a:r>
            <a:endParaRPr lang="en-US" dirty="0"/>
          </a:p>
          <a:p>
            <a:pPr marL="0" indent="0">
              <a:buNone/>
            </a:pPr>
            <a:r>
              <a:rPr lang="en-US" b="1" dirty="0"/>
              <a:t>PubMed Central (PMC).</a:t>
            </a:r>
            <a:r>
              <a:rPr lang="en-US" dirty="0"/>
              <a:t> "Research on the Impact of AI Introduction on Employee Creativity."</a:t>
            </a:r>
          </a:p>
          <a:p>
            <a:pPr marL="0" indent="0">
              <a:buNone/>
            </a:pPr>
            <a:r>
              <a:rPr lang="en-US" dirty="0">
                <a:hlinkClick r:id="rId3"/>
              </a:rPr>
              <a:t>https://pmc.ncbi.nlm.nih.gov/articles/PMC12562033/</a:t>
            </a:r>
            <a:endParaRPr lang="en-US" dirty="0"/>
          </a:p>
          <a:p>
            <a:pPr marL="0" indent="0">
              <a:buNone/>
            </a:pPr>
            <a:r>
              <a:rPr lang="en-US" b="1" dirty="0" err="1"/>
              <a:t>GatesNotes</a:t>
            </a:r>
            <a:r>
              <a:rPr lang="en-US" b="1" dirty="0"/>
              <a:t>.</a:t>
            </a:r>
            <a:r>
              <a:rPr lang="en-US" dirty="0"/>
              <a:t> "The Risks of AI are Real but Manageable."</a:t>
            </a:r>
          </a:p>
          <a:p>
            <a:pPr marL="0" indent="0">
              <a:buNone/>
            </a:pPr>
            <a:r>
              <a:rPr lang="en-US" dirty="0">
                <a:hlinkClick r:id="rId4"/>
              </a:rPr>
              <a:t>https://www.gatesnotes.com/meet_bill/tech_thinking/reader/the_risks_of_ai_are_real_but_manageable</a:t>
            </a:r>
            <a:endParaRPr lang="en-US" dirty="0"/>
          </a:p>
          <a:p>
            <a:pPr marL="0" indent="0">
              <a:buNone/>
            </a:pPr>
            <a:r>
              <a:rPr lang="en-US" b="1" dirty="0"/>
              <a:t>Paragon Shift.</a:t>
            </a:r>
            <a:r>
              <a:rPr lang="en-US" dirty="0"/>
              <a:t> "Responsible AI in Business Environments."</a:t>
            </a:r>
          </a:p>
          <a:p>
            <a:pPr marL="0" indent="0">
              <a:buNone/>
            </a:pPr>
            <a:r>
              <a:rPr lang="en-US" dirty="0">
                <a:hlinkClick r:id="rId5"/>
              </a:rPr>
              <a:t>https://www.paragonshift.com/responsible-ai-in-business-environments/</a:t>
            </a:r>
            <a:endParaRPr lang="en-US" dirty="0"/>
          </a:p>
          <a:p>
            <a:pPr marL="0" indent="0">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759098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97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19F2C-8AB3-3FDC-D80A-1100196F394F}"/>
              </a:ext>
            </a:extLst>
          </p:cNvPr>
          <p:cNvSpPr>
            <a:spLocks noGrp="1"/>
          </p:cNvSpPr>
          <p:nvPr>
            <p:ph type="title"/>
          </p:nvPr>
        </p:nvSpPr>
        <p:spPr/>
        <p:txBody>
          <a:bodyPr/>
          <a:lstStyle/>
          <a:p>
            <a:pPr algn="ctr"/>
            <a:r>
              <a:rPr lang="en-US" dirty="0"/>
              <a:t>Works Cited</a:t>
            </a:r>
          </a:p>
        </p:txBody>
      </p:sp>
      <p:sp>
        <p:nvSpPr>
          <p:cNvPr id="3" name="Content Placeholder 2">
            <a:extLst>
              <a:ext uri="{FF2B5EF4-FFF2-40B4-BE49-F238E27FC236}">
                <a16:creationId xmlns:a16="http://schemas.microsoft.com/office/drawing/2014/main" id="{18F44576-6C7D-84FB-2102-C675AD33B9CE}"/>
              </a:ext>
            </a:extLst>
          </p:cNvPr>
          <p:cNvSpPr>
            <a:spLocks noGrp="1"/>
          </p:cNvSpPr>
          <p:nvPr>
            <p:ph idx="1"/>
          </p:nvPr>
        </p:nvSpPr>
        <p:spPr/>
        <p:txBody>
          <a:bodyPr>
            <a:normAutofit fontScale="47500" lnSpcReduction="20000"/>
          </a:bodyPr>
          <a:lstStyle/>
          <a:p>
            <a:r>
              <a:rPr lang="en-US" dirty="0">
                <a:hlinkClick r:id="rId2"/>
              </a:rPr>
              <a:t>https://postindustria.com/what-are-common-misconceptions-about-ai-machine-learning/</a:t>
            </a:r>
            <a:endParaRPr lang="en-US" dirty="0"/>
          </a:p>
          <a:p>
            <a:r>
              <a:rPr lang="en-US" dirty="0">
                <a:hlinkClick r:id="rId3"/>
              </a:rPr>
              <a:t>https://medium.com/@sandrew022000/not-everything-is-an-llm-8-ai-model-types-you-should-know-in-2025-6cc01cd6dbaf</a:t>
            </a:r>
            <a:endParaRPr lang="en-US" dirty="0"/>
          </a:p>
          <a:p>
            <a:r>
              <a:rPr lang="en-US" dirty="0">
                <a:hlinkClick r:id="rId4"/>
              </a:rPr>
              <a:t>https://www.microsoft.com/en-us/ai/ai-101/generative-ai-vs-other-types-of-ai#Other-AI-types</a:t>
            </a:r>
            <a:endParaRPr lang="en-US" dirty="0"/>
          </a:p>
          <a:p>
            <a:r>
              <a:rPr lang="en-US" dirty="0">
                <a:hlinkClick r:id="rId5"/>
              </a:rPr>
              <a:t>https://www.library.hbs.edu/working-knowledge/enhance-or-eliminate-how-ai-will-likely-change-these-jobs</a:t>
            </a:r>
            <a:endParaRPr lang="en-US" dirty="0"/>
          </a:p>
          <a:p>
            <a:r>
              <a:rPr lang="en-US" dirty="0">
                <a:hlinkClick r:id="rId6"/>
              </a:rPr>
              <a:t>https://cacm.acm.org/research/as-good-as-a-coin-toss-human-detection-of-ai-generated-content/</a:t>
            </a:r>
            <a:endParaRPr lang="en-US" dirty="0"/>
          </a:p>
          <a:p>
            <a:r>
              <a:rPr lang="en-US" dirty="0">
                <a:hlinkClick r:id="rId7"/>
              </a:rPr>
              <a:t>https://www.quantamagazine.org/ai-is-nothing-like-a-brain-and-thats-ok-20250430/</a:t>
            </a:r>
            <a:endParaRPr lang="en-US" dirty="0"/>
          </a:p>
          <a:p>
            <a:r>
              <a:rPr lang="en-US" dirty="0">
                <a:hlinkClick r:id="rId8"/>
              </a:rPr>
              <a:t>https://companiesmarketcap.com/alphabet-google/revenue/</a:t>
            </a:r>
            <a:endParaRPr lang="en-US" dirty="0"/>
          </a:p>
          <a:p>
            <a:r>
              <a:rPr lang="en-US" dirty="0">
                <a:hlinkClick r:id="rId9"/>
              </a:rPr>
              <a:t>https://business.fiu.edu/academics/graduate/insights/posts/competitive-advantage-of-using-ai-in-business.html</a:t>
            </a:r>
            <a:endParaRPr lang="en-US" dirty="0"/>
          </a:p>
          <a:p>
            <a:r>
              <a:rPr lang="en-US" dirty="0">
                <a:hlinkClick r:id="rId10"/>
              </a:rPr>
              <a:t>https://www.ibm.com/think/insights/ai-privacy</a:t>
            </a:r>
            <a:endParaRPr lang="en-US" dirty="0"/>
          </a:p>
          <a:p>
            <a:r>
              <a:rPr lang="en-US" dirty="0">
                <a:hlinkClick r:id="rId11"/>
              </a:rPr>
              <a:t>https://www.wired.com/story/best-algorithms-struggle-recognize-black-faces-equally/</a:t>
            </a:r>
            <a:endParaRPr lang="en-US" dirty="0"/>
          </a:p>
          <a:p>
            <a:r>
              <a:rPr lang="en-US" dirty="0">
                <a:hlinkClick r:id="rId12"/>
              </a:rPr>
              <a:t>https://jolt.law.harvard.edu/digest/why-racial-bias-is-prevalent-in-facial-recognition-technology#:~:text=Many%20of%20these%20algorithms%20were,were%20the%20most%20frequently%20misidentified</a:t>
            </a:r>
            <a:r>
              <a:rPr lang="en-US" dirty="0"/>
              <a:t>.</a:t>
            </a:r>
          </a:p>
          <a:p>
            <a:r>
              <a:rPr lang="en-US" dirty="0">
                <a:hlinkClick r:id="rId13"/>
              </a:rPr>
              <a:t>https://www.anthropic.com/research/agentic-misalignment</a:t>
            </a:r>
            <a:endParaRPr lang="en-US" dirty="0"/>
          </a:p>
          <a:p>
            <a:r>
              <a:rPr lang="en-US" dirty="0">
                <a:hlinkClick r:id="rId14"/>
              </a:rPr>
              <a:t>https://pmc.ncbi.nlm.nih.gov/articles/PMC12562033/</a:t>
            </a:r>
            <a:endParaRPr lang="en-US" dirty="0"/>
          </a:p>
          <a:p>
            <a:r>
              <a:rPr lang="en-US" dirty="0">
                <a:hlinkClick r:id="rId15"/>
              </a:rPr>
              <a:t>https://www.gatesnotes.com/meet_bill/tech_thinking/reader/the_risks_of_ai_are_real_but_manageable</a:t>
            </a:r>
            <a:endParaRPr lang="en-US" dirty="0"/>
          </a:p>
          <a:p>
            <a:r>
              <a:rPr lang="en-US" dirty="0">
                <a:hlinkClick r:id="rId16"/>
              </a:rPr>
              <a:t>https://www.paragonshift.com/responsible-ai-in-business-environments/#:~:text=and%20the%20OECD.-,Transparency,and%20how%20outputs%20are%20generated</a:t>
            </a:r>
            <a:r>
              <a:rPr lang="en-US"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4125065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5972</TotalTime>
  <Words>3497</Words>
  <Application>Microsoft Office PowerPoint</Application>
  <PresentationFormat>Widescreen</PresentationFormat>
  <Paragraphs>905</Paragraphs>
  <Slides>29</Slides>
  <Notes>15</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29</vt:i4>
      </vt:variant>
    </vt:vector>
  </HeadingPairs>
  <TitlesOfParts>
    <vt:vector size="48" baseType="lpstr">
      <vt:lpstr>Arial</vt:lpstr>
      <vt:lpstr>Arial Black</vt:lpstr>
      <vt:lpstr>Arial Narrow</vt:lpstr>
      <vt:lpstr>Arial Rounded MT Bold</vt:lpstr>
      <vt:lpstr>Blackadder ITC</vt:lpstr>
      <vt:lpstr>Calibri</vt:lpstr>
      <vt:lpstr>Calibri Light</vt:lpstr>
      <vt:lpstr>Courier New</vt:lpstr>
      <vt:lpstr>Elephant</vt:lpstr>
      <vt:lpstr>Franklin Gothic Demi</vt:lpstr>
      <vt:lpstr>Google Sans</vt:lpstr>
      <vt:lpstr>Ink Free</vt:lpstr>
      <vt:lpstr>Magneto</vt:lpstr>
      <vt:lpstr>Modern No. 20</vt:lpstr>
      <vt:lpstr>Rockwell</vt:lpstr>
      <vt:lpstr>Rockwell Extra Bold</vt:lpstr>
      <vt:lpstr>Segoe UI Variable Text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Ethics : Agentic Misalignment</vt:lpstr>
      <vt:lpstr>PowerPoint Presentation</vt:lpstr>
      <vt:lpstr>PowerPoint Presentation</vt:lpstr>
      <vt:lpstr>PowerPoint Presentation</vt:lpstr>
      <vt:lpstr>Works Cited</vt:lpstr>
      <vt:lpstr>Works Cited</vt:lpstr>
      <vt:lpstr>Works Cited</vt:lpstr>
      <vt:lpstr>Works Cited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Yashas Tayal</dc:creator>
  <cp:lastModifiedBy>Yashas Tayal</cp:lastModifiedBy>
  <cp:revision>40</cp:revision>
  <dcterms:created xsi:type="dcterms:W3CDTF">2026-05-23T01:52:05Z</dcterms:created>
  <dcterms:modified xsi:type="dcterms:W3CDTF">2026-06-26T20:09:22Z</dcterms:modified>
</cp:coreProperties>
</file>